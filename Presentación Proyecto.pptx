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3" r:id="rId30"/>
    <p:sldId id="284" r:id="rId31"/>
    <p:sldId id="285" r:id="rId32"/>
    <p:sldId id="286" r:id="rId33"/>
    <p:sldId id="287"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 tips" id="{7AAFFFA8-A28F-EB49-8C84-11AD1E4ABA5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3"/>
            <p14:sldId id="284"/>
            <p14:sldId id="285"/>
            <p14:sldId id="286"/>
            <p14:sldId id="287"/>
            <p14:sldId id="288"/>
          </p14:sldIdLst>
        </p14:section>
        <p14:section name="Slide Library" id="{9621CACC-909D-8B40-82E9-8C568A90D04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3D8925-7B34-DBD5-DAE8-D66B805E69CA}" name="Rebecca Benjamin" initials="" userId="S::rebecca@milestonecreative.co.uk::6f46fc7a-9ff6-407a-9932-fb90c9e88726" providerId="AD"/>
  <p188:author id="{25E9E734-B73B-FC63-60CE-D030AAF9AA6E}" name="Mark McCarthy   IPLC" initials="MM" userId="S::Mark.McCarthy@inchcape.com::32f8a7eb-60fc-45d6-b19e-3f9b1fc13bd0" providerId="AD"/>
  <p188:author id="{35EC5659-B221-D1B6-0ADA-4392F60615A2}" name="Mark McCarthy   IPLC" initials="MI" userId="S::mark.mccarthy@inchcape.com::32f8a7eb-60fc-45d6-b19e-3f9b1fc13b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phie Field" initials="SF" lastIdx="10" clrIdx="0">
    <p:extLst>
      <p:ext uri="{19B8F6BF-5375-455C-9EA6-DF929625EA0E}">
        <p15:presenceInfo xmlns:p15="http://schemas.microsoft.com/office/powerpoint/2012/main" userId="b2526e664e19bf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CF02"/>
    <a:srgbClr val="001A41"/>
    <a:srgbClr val="001A19"/>
    <a:srgbClr val="19BDE6"/>
    <a:srgbClr val="F1E51B"/>
    <a:srgbClr val="152C47"/>
    <a:srgbClr val="000000"/>
    <a:srgbClr val="152D47"/>
    <a:srgbClr val="15BDE6"/>
    <a:srgbClr val="0023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184564-AAE2-93C3-0D82-DEC78A3CA10B}" v="2" dt="2024-09-23T09:14:10.2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6"/>
    <p:restoredTop sz="86531"/>
  </p:normalViewPr>
  <p:slideViewPr>
    <p:cSldViewPr snapToGrid="0" snapToObjects="1" showGuides="1">
      <p:cViewPr varScale="1">
        <p:scale>
          <a:sx n="71" d="100"/>
          <a:sy n="71" d="100"/>
        </p:scale>
        <p:origin x="1114" y="58"/>
      </p:cViewPr>
      <p:guideLst/>
    </p:cSldViewPr>
  </p:slideViewPr>
  <p:outlineViewPr>
    <p:cViewPr>
      <p:scale>
        <a:sx n="33" d="100"/>
        <a:sy n="33" d="100"/>
      </p:scale>
      <p:origin x="0" y="-27640"/>
    </p:cViewPr>
  </p:outlineViewPr>
  <p:notesTextViewPr>
    <p:cViewPr>
      <p:scale>
        <a:sx n="70" d="100"/>
        <a:sy n="70" d="100"/>
      </p:scale>
      <p:origin x="0" y="0"/>
    </p:cViewPr>
  </p:notesTextViewPr>
  <p:sorterViewPr>
    <p:cViewPr>
      <p:scale>
        <a:sx n="88" d="100"/>
        <a:sy n="88" d="100"/>
      </p:scale>
      <p:origin x="0" y="0"/>
    </p:cViewPr>
  </p:sorterViewPr>
  <p:notesViewPr>
    <p:cSldViewPr snapToGrid="0" snapToObjects="1" showGuides="1">
      <p:cViewPr varScale="1">
        <p:scale>
          <a:sx n="165" d="100"/>
          <a:sy n="165" d="100"/>
        </p:scale>
        <p:origin x="1104" y="21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entury Gothic" panose="020B0502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entury Gothic" panose="020B0502020202020204" pitchFamily="34" charset="0"/>
              </a:defRPr>
            </a:lvl1pPr>
          </a:lstStyle>
          <a:p>
            <a:fld id="{40BC8C4E-63D3-224C-B4DD-3331B67ACA6D}" type="datetimeFigureOut">
              <a:rPr lang="en-GB" smtClean="0"/>
              <a:pPr/>
              <a:t>28/08/2026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entury Gothic" panose="020B0502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entury Gothic" panose="020B0502020202020204" pitchFamily="34" charset="0"/>
              </a:defRPr>
            </a:lvl1pPr>
          </a:lstStyle>
          <a:p>
            <a:fld id="{B31AD35F-9D36-6345-BFAA-A20869AA4F47}" type="slidenum">
              <a:rPr lang="en-GB" smtClean="0"/>
              <a:pPr/>
              <a:t>‹Nº›</a:t>
            </a:fld>
            <a:endParaRPr lang="en-GB" dirty="0"/>
          </a:p>
        </p:txBody>
      </p:sp>
    </p:spTree>
    <p:extLst>
      <p:ext uri="{BB962C8B-B14F-4D97-AF65-F5344CB8AC3E}">
        <p14:creationId xmlns:p14="http://schemas.microsoft.com/office/powerpoint/2010/main" val="376136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entury Gothic" panose="020B0502020202020204" pitchFamily="34" charset="0"/>
        <a:ea typeface="+mn-ea"/>
        <a:cs typeface="+mn-cs"/>
      </a:defRPr>
    </a:lvl1pPr>
    <a:lvl2pPr marL="457200" algn="l" defTabSz="914400" rtl="0" eaLnBrk="1" latinLnBrk="0" hangingPunct="1">
      <a:defRPr sz="1200" b="0" i="0" kern="1200">
        <a:solidFill>
          <a:schemeClr val="tx1"/>
        </a:solidFill>
        <a:latin typeface="Century Gothic" panose="020B0502020202020204" pitchFamily="34" charset="0"/>
        <a:ea typeface="+mn-ea"/>
        <a:cs typeface="+mn-cs"/>
      </a:defRPr>
    </a:lvl2pPr>
    <a:lvl3pPr marL="914400" algn="l" defTabSz="914400" rtl="0" eaLnBrk="1" latinLnBrk="0" hangingPunct="1">
      <a:defRPr sz="1200" b="0" i="0" kern="1200">
        <a:solidFill>
          <a:schemeClr val="tx1"/>
        </a:solidFill>
        <a:latin typeface="Century Gothic" panose="020B0502020202020204" pitchFamily="34" charset="0"/>
        <a:ea typeface="+mn-ea"/>
        <a:cs typeface="+mn-cs"/>
      </a:defRPr>
    </a:lvl3pPr>
    <a:lvl4pPr marL="1371600" algn="l" defTabSz="914400" rtl="0" eaLnBrk="1" latinLnBrk="0" hangingPunct="1">
      <a:defRPr sz="1200" b="0" i="0" kern="1200">
        <a:solidFill>
          <a:schemeClr val="tx1"/>
        </a:solidFill>
        <a:latin typeface="Century Gothic" panose="020B0502020202020204" pitchFamily="34" charset="0"/>
        <a:ea typeface="+mn-ea"/>
        <a:cs typeface="+mn-cs"/>
      </a:defRPr>
    </a:lvl4pPr>
    <a:lvl5pPr marL="1828800" algn="l" defTabSz="914400" rtl="0" eaLnBrk="1" latinLnBrk="0" hangingPunct="1">
      <a:defRPr sz="1200" b="0" i="0" kern="1200">
        <a:solidFill>
          <a:schemeClr val="tx1"/>
        </a:solidFill>
        <a:latin typeface="Century Gothic" panose="020B0502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Presentamos la definición de nuestro Proyecto APT. Es un caso real y en curso: la gerencia de Inchcape Chile comprometió elevar el fill rate de repuestos de 88% a 90% al cierre de diciembre. Lo que entregamos no es un análisis, es una aplicación que el área de Planificación y Compras va a operar todos los meses.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bloques. El primero cierra conectando el problema con la solución; el segundo responde quién es el cliente; el tercero es el grueso de la presentación.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operación real: 99.795 unidades en julio por 2.009 millones de pesos, en seis marcas. Mantención concentra casi la mitad del volumen. Detrás hay un catálogo de 225 mil códigos que alguien tiene que proyectar todos los meses.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Chile cerró el primer semestre en 88%. Colombia, con el mismo modelo de negocio, opera en 92%. La meta para Chile es 90% en diciembre y hoy no está cubierta.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rutina que hoy corre en producción. El fill rate es líneas OK sobre líneas totales, y la clase de documento de SAP define la condición. ZRDP y Z300 son línea OK; ZVDP y ZVOR son vehículo detenido.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error se mide en dos horizontes y sobre tres versiones del forecast. Lo más importante es la distinción entre ERP y ERN: sobrar inmoviliza capital, faltar produce el quiebre. Nuestro modelo se optimiza contra el ERN.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lámina conecta las dos mitades de la presentación. A la izquierda, la cadena que produce la brecha: la proyección se desvía, se compra de menos, el pedido no se atiende y el indicador cierra en 88%. A la derecha, qué ataca la solución en cada eslabón. El dato clave está en el primero: solo el 2,8% del catálogo recibe revisión humana. No es una falla de las personas, es un problema de escala.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objetivos de negocio, cada uno con su indicador. El tercero es el que marca la diferencia: extender la calidad de la proyección a todo el catálogo.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cliente es la Gerencia de Postventa y Repuestos: tiene comprometida la meta con la casa matriz y absorbe el costo de operar la herramienta. Los usuarios son tres perfiles distintos, y el planificador de repuestos es el usuario principal. El beneficiario final es el cliente con el auto detenido. Sobre quién paga: en el marco de la asignatura el desarrollo no tiene costo, las licencias son de código abierto y la infraestructura ya existe. Lo único que consume es horas del área, y el retorno son los dos puntos.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proyecto es un producto con tres componentes que se construyen en ese orden, porque cada uno depende del anterior.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objetivo general nombra el producto y la meta con fecha. Los seis específicos siguen el recorrido de CRISP-DM.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insumos, todos existentes en la operación. El proyecto no crea integraciones nuevas: integra fuentes que ya se producen todos los meses.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capas. Lo importante: el usuario de negocio solo ve la última.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etapas. La tercera resuelve la cadena de reemplazo con el maestro COD_ACTUAL que ya existe. La quinta genera los predictores del modelo.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CRISP-DM tiene seis fases y es iterativo. Cada una está mapeada a las semanas del plan de trabajo. Es la metodología del proyecto; el ciclo de vida del modelo, que es otra cosa, lo vemos en la lámina siguiente.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diferencia entre metodología y ciclo de vida. CRISP-DM es cómo trabajamos el proyecto. Esto es qué le pasa al modelo una vez que está en producción: se entrena, se valida, se publica y se monitorea; y si el error se degrada, vuelve al entrenamiento. Por eso la aplicación incluye un módulo de gestión de versiones.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variable objetivo es continua, por lo tanto regresión. De las predictoras destaco Apertura Parque y la cadena de reemplazo: ambas ya existen en los maestros y son la respuesta al problema de las piezas nuevas sin historial.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módulos. Los planteé desde la pregunta del usuario, no desde la función técnica: cada tarjeta responde algo que hoy el planificador no puede responder sin abrir tres planillas.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boceto de la pantalla principal. Quiero destacar cuatro decisiones de diseño: todo en un solo lugar, filtros en el lenguaje del negocio, el error del modelo visible junto a la proyección, y una pantalla que termina en un plan de compra descargable y no en un reporte para mirar. Los valores mostrados son ilustrativos.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lámina responde directamente a cómo lo va a usar el cliente. La herramienta no inventa un proceso nuevo: se inserta en el ciclo mensual que el área ya tiene. Y el cambio de fondo está abajo: el planificador deja de revisar código por código y pasa a revisar excepciones, con el error del modelo a la vista antes de comprar.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Condición de partida: NDA firmado antes de traer cualquier dato productivo. Todo lo académico va anonimizado y la demostración se hace con un set enmascarado.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Siete actividades con responsables diferenciados, lo que permite evidenciar el aporte individual. La primera incluye el NDA porque está en la ruta crítica.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Fase 1 hasta la semana 4, Fase 2 de la 5 a la 15 con informe de avance en la 10, y Fase 3 entre las semanas 16 y 18.</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evidencias: tres para el informe de avance de la semana 10 y tres para el final de la semana 15. La central es la aplicación funcionando.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Factible en tiempo, materiales y acceso. El riesgo con mayor impacto en la ruta crítica es la firma del NDA; por eso se gestiona en la primera semana.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abstract en ambos idiomas, como exige la pauta.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Cerramos: no entregamos un análisis, entregamos una herramienta que el área de Planificación y Compras va a usar todos los meses.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hotographic]">
    <p:bg>
      <p:bgPr>
        <a:solidFill>
          <a:srgbClr val="001A41"/>
        </a:solidFill>
        <a:effectLst/>
      </p:bgPr>
    </p:bg>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F0DFFB94-3728-5540-88D9-C5D1B890ABEE}"/>
              </a:ext>
            </a:extLst>
          </p:cNvPr>
          <p:cNvSpPr>
            <a:spLocks noGrp="1"/>
          </p:cNvSpPr>
          <p:nvPr>
            <p:ph type="pic" sz="quarter" idx="17" hasCustomPrompt="1"/>
          </p:nvPr>
        </p:nvSpPr>
        <p:spPr>
          <a:xfrm>
            <a:off x="0" y="0"/>
            <a:ext cx="12193200" cy="6858000"/>
          </a:xfrm>
        </p:spPr>
        <p:txBody>
          <a:bodyPr lIns="180000" tIns="180000" rIns="180000" bIns="180000" anchor="b" anchorCtr="0"/>
          <a:lstStyle>
            <a:lvl1pPr marL="0" indent="0" algn="ctr">
              <a:buNone/>
              <a:defRPr sz="1400" i="0">
                <a:solidFill>
                  <a:schemeClr val="bg1"/>
                </a:solidFill>
                <a:latin typeface="+mn-lt"/>
              </a:defRPr>
            </a:lvl1pPr>
          </a:lstStyle>
          <a:p>
            <a:r>
              <a:rPr lang="en-GB" dirty="0"/>
              <a:t>Click on icon in centre of placeholder &gt; navigate to image you want to use</a:t>
            </a:r>
            <a:br>
              <a:rPr lang="en-GB" dirty="0"/>
            </a:br>
            <a:br>
              <a:rPr lang="en-GB" dirty="0"/>
            </a:br>
            <a:r>
              <a:rPr lang="en-GB" dirty="0"/>
              <a:t>or copy an image to your clipboard &gt; click on placeholder box &gt; paste</a:t>
            </a:r>
          </a:p>
        </p:txBody>
      </p:sp>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2" name="Graphic 1">
            <a:extLst>
              <a:ext uri="{FF2B5EF4-FFF2-40B4-BE49-F238E27FC236}">
                <a16:creationId xmlns:a16="http://schemas.microsoft.com/office/drawing/2014/main" id="{04428E97-84E4-E11E-35D7-57CAED07F9A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4051771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Illustration 2]">
    <p:bg>
      <p:bgPr>
        <a:solidFill>
          <a:srgbClr val="001A41"/>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5" name="Text Placeholder 2">
            <a:extLst>
              <a:ext uri="{FF2B5EF4-FFF2-40B4-BE49-F238E27FC236}">
                <a16:creationId xmlns:a16="http://schemas.microsoft.com/office/drawing/2014/main" id="{784E259E-4EF9-0841-80A0-E3CEA5CDF674}"/>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2" name="Graphic 1">
            <a:extLst>
              <a:ext uri="{FF2B5EF4-FFF2-40B4-BE49-F238E27FC236}">
                <a16:creationId xmlns:a16="http://schemas.microsoft.com/office/drawing/2014/main" id="{C41607C9-7FF4-2702-BD61-B62CCFACB4E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16962" y="697083"/>
            <a:ext cx="1825714" cy="359999"/>
          </a:xfrm>
          <a:prstGeom prst="rect">
            <a:avLst/>
          </a:prstGeom>
        </p:spPr>
      </p:pic>
      <p:pic>
        <p:nvPicPr>
          <p:cNvPr id="3" name="Picture 2">
            <a:extLst>
              <a:ext uri="{FF2B5EF4-FFF2-40B4-BE49-F238E27FC236}">
                <a16:creationId xmlns:a16="http://schemas.microsoft.com/office/drawing/2014/main" id="{DC95E962-5D09-26B0-46E7-6DA33A91EA1F}"/>
              </a:ext>
            </a:extLst>
          </p:cNvPr>
          <p:cNvPicPr>
            <a:picLocks noChangeAspect="1"/>
          </p:cNvPicPr>
          <p:nvPr userDrawn="1"/>
        </p:nvPicPr>
        <p:blipFill rotWithShape="1">
          <a:blip r:embed="rId3"/>
          <a:srcRect l="-309" t="1679" r="51109"/>
          <a:stretch/>
        </p:blipFill>
        <p:spPr>
          <a:xfrm>
            <a:off x="7591746" y="2702561"/>
            <a:ext cx="4600254" cy="3570938"/>
          </a:xfrm>
          <a:prstGeom prst="rect">
            <a:avLst/>
          </a:prstGeom>
        </p:spPr>
      </p:pic>
      <p:cxnSp>
        <p:nvCxnSpPr>
          <p:cNvPr id="4" name="Straight Connector 3">
            <a:extLst>
              <a:ext uri="{FF2B5EF4-FFF2-40B4-BE49-F238E27FC236}">
                <a16:creationId xmlns:a16="http://schemas.microsoft.com/office/drawing/2014/main" id="{6724CD6B-FA58-688F-73DB-880D5AD9751C}"/>
              </a:ext>
            </a:extLst>
          </p:cNvPr>
          <p:cNvCxnSpPr>
            <a:cxnSpLocks/>
          </p:cNvCxnSpPr>
          <p:nvPr userDrawn="1"/>
        </p:nvCxnSpPr>
        <p:spPr>
          <a:xfrm>
            <a:off x="7993064" y="6260800"/>
            <a:ext cx="4198936" cy="0"/>
          </a:xfrm>
          <a:prstGeom prst="line">
            <a:avLst/>
          </a:prstGeom>
          <a:ln w="25400">
            <a:solidFill>
              <a:schemeClr val="accent2"/>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9340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Illustration 2]">
    <p:bg>
      <p:bgPr>
        <a:solidFill>
          <a:schemeClr val="accent2"/>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5" name="Text Placeholder 2">
            <a:extLst>
              <a:ext uri="{FF2B5EF4-FFF2-40B4-BE49-F238E27FC236}">
                <a16:creationId xmlns:a16="http://schemas.microsoft.com/office/drawing/2014/main" id="{784E259E-4EF9-0841-80A0-E3CEA5CDF674}"/>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cxnSp>
        <p:nvCxnSpPr>
          <p:cNvPr id="4" name="Straight Connector 3">
            <a:extLst>
              <a:ext uri="{FF2B5EF4-FFF2-40B4-BE49-F238E27FC236}">
                <a16:creationId xmlns:a16="http://schemas.microsoft.com/office/drawing/2014/main" id="{6724CD6B-FA58-688F-73DB-880D5AD9751C}"/>
              </a:ext>
            </a:extLst>
          </p:cNvPr>
          <p:cNvCxnSpPr>
            <a:cxnSpLocks/>
          </p:cNvCxnSpPr>
          <p:nvPr userDrawn="1"/>
        </p:nvCxnSpPr>
        <p:spPr>
          <a:xfrm>
            <a:off x="7993064" y="6260800"/>
            <a:ext cx="4198936" cy="0"/>
          </a:xfrm>
          <a:prstGeom prst="line">
            <a:avLst/>
          </a:prstGeom>
          <a:ln w="25400">
            <a:solidFill>
              <a:schemeClr val="bg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B561725-928A-B128-30AE-9D7126A39815}"/>
              </a:ext>
            </a:extLst>
          </p:cNvPr>
          <p:cNvPicPr>
            <a:picLocks noChangeAspect="1"/>
          </p:cNvPicPr>
          <p:nvPr userDrawn="1"/>
        </p:nvPicPr>
        <p:blipFill rotWithShape="1">
          <a:blip r:embed="rId2"/>
          <a:srcRect l="-332" t="-17291" r="54490"/>
          <a:stretch/>
        </p:blipFill>
        <p:spPr>
          <a:xfrm>
            <a:off x="7591746" y="2702561"/>
            <a:ext cx="4600254" cy="3570938"/>
          </a:xfrm>
          <a:prstGeom prst="rect">
            <a:avLst/>
          </a:prstGeom>
        </p:spPr>
      </p:pic>
      <p:grpSp>
        <p:nvGrpSpPr>
          <p:cNvPr id="2" name="Graphic 2">
            <a:extLst>
              <a:ext uri="{FF2B5EF4-FFF2-40B4-BE49-F238E27FC236}">
                <a16:creationId xmlns:a16="http://schemas.microsoft.com/office/drawing/2014/main" id="{2E01274E-258B-E48E-9FBF-97999C8DE755}"/>
              </a:ext>
            </a:extLst>
          </p:cNvPr>
          <p:cNvGrpSpPr/>
          <p:nvPr userDrawn="1"/>
        </p:nvGrpSpPr>
        <p:grpSpPr>
          <a:xfrm>
            <a:off x="728819" y="720451"/>
            <a:ext cx="1613571" cy="311367"/>
            <a:chOff x="728819" y="720451"/>
            <a:chExt cx="1613571" cy="311367"/>
          </a:xfrm>
        </p:grpSpPr>
        <p:sp>
          <p:nvSpPr>
            <p:cNvPr id="3" name="Freeform 2">
              <a:extLst>
                <a:ext uri="{FF2B5EF4-FFF2-40B4-BE49-F238E27FC236}">
                  <a16:creationId xmlns:a16="http://schemas.microsoft.com/office/drawing/2014/main" id="{0D62CA79-3AF0-92AE-9AAC-609EAE165B00}"/>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4 h 267157"/>
                <a:gd name="connsiteX5" fmla="*/ 96429 w 1240714"/>
                <a:gd name="connsiteY5" fmla="*/ 128210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2 h 267157"/>
                <a:gd name="connsiteX20" fmla="*/ 331071 w 1240714"/>
                <a:gd name="connsiteY20" fmla="*/ 163578 h 267157"/>
                <a:gd name="connsiteX21" fmla="*/ 374143 w 1240714"/>
                <a:gd name="connsiteY21" fmla="*/ 163578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7 h 267157"/>
                <a:gd name="connsiteX39" fmla="*/ 933428 w 1240714"/>
                <a:gd name="connsiteY39" fmla="*/ 267157 h 267157"/>
                <a:gd name="connsiteX40" fmla="*/ 933428 w 1240714"/>
                <a:gd name="connsiteY40" fmla="*/ 201473 h 267157"/>
                <a:gd name="connsiteX41" fmla="*/ 984857 w 1240714"/>
                <a:gd name="connsiteY41" fmla="*/ 219157 h 267157"/>
                <a:gd name="connsiteX42" fmla="*/ 1067786 w 1240714"/>
                <a:gd name="connsiteY42" fmla="*/ 135789 h 267157"/>
                <a:gd name="connsiteX43" fmla="*/ 984857 w 1240714"/>
                <a:gd name="connsiteY43" fmla="*/ 51789 h 267157"/>
                <a:gd name="connsiteX44" fmla="*/ 980357 w 1240714"/>
                <a:gd name="connsiteY44" fmla="*/ 185052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2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7 h 267157"/>
                <a:gd name="connsiteX53" fmla="*/ 841500 w 1240714"/>
                <a:gd name="connsiteY53" fmla="*/ 201473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2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2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3 h 267157"/>
                <a:gd name="connsiteX69" fmla="*/ 1194429 w 1240714"/>
                <a:gd name="connsiteY69" fmla="*/ 165473 h 267157"/>
                <a:gd name="connsiteX70" fmla="*/ 1157786 w 1240714"/>
                <a:gd name="connsiteY70" fmla="*/ 185684 h 267157"/>
                <a:gd name="connsiteX71" fmla="*/ 1113428 w 1240714"/>
                <a:gd name="connsiteY71" fmla="*/ 153473 h 267157"/>
                <a:gd name="connsiteX72" fmla="*/ 1238143 w 1240714"/>
                <a:gd name="connsiteY72" fmla="*/ 153473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2 h 267157"/>
                <a:gd name="connsiteX80" fmla="*/ 656357 w 1240714"/>
                <a:gd name="connsiteY80" fmla="*/ 163578 h 267157"/>
                <a:gd name="connsiteX81" fmla="*/ 699428 w 1240714"/>
                <a:gd name="connsiteY81" fmla="*/ 163578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1 h 267157"/>
                <a:gd name="connsiteX93" fmla="*/ 453857 w 1240714"/>
                <a:gd name="connsiteY93" fmla="*/ 86526 h 267157"/>
                <a:gd name="connsiteX94" fmla="*/ 421714 w 1240714"/>
                <a:gd name="connsiteY94" fmla="*/ 133263 h 267157"/>
                <a:gd name="connsiteX95" fmla="*/ 421714 w 1240714"/>
                <a:gd name="connsiteY95" fmla="*/ 214736 h 267157"/>
                <a:gd name="connsiteX96" fmla="*/ 383143 w 1240714"/>
                <a:gd name="connsiteY96" fmla="*/ 214736 h 267157"/>
                <a:gd name="connsiteX97" fmla="*/ 383143 w 1240714"/>
                <a:gd name="connsiteY97" fmla="*/ 5053 h 267157"/>
                <a:gd name="connsiteX98" fmla="*/ 421714 w 1240714"/>
                <a:gd name="connsiteY98" fmla="*/ 5053 h 267157"/>
                <a:gd name="connsiteX99" fmla="*/ 421714 w 1240714"/>
                <a:gd name="connsiteY99" fmla="*/ 68210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4"/>
                    <a:pt x="129857" y="85894"/>
                  </a:cubicBezTo>
                  <a:cubicBezTo>
                    <a:pt x="118286" y="85894"/>
                    <a:pt x="96429" y="93473"/>
                    <a:pt x="96429" y="128210"/>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8"/>
                    <a:pt x="268071" y="185052"/>
                    <a:pt x="295714" y="185052"/>
                  </a:cubicBezTo>
                  <a:cubicBezTo>
                    <a:pt x="311786" y="185052"/>
                    <a:pt x="323357" y="176210"/>
                    <a:pt x="331071" y="163578"/>
                  </a:cubicBezTo>
                  <a:lnTo>
                    <a:pt x="374143" y="163578"/>
                  </a:lnTo>
                  <a:cubicBezTo>
                    <a:pt x="360643" y="199578"/>
                    <a:pt x="330429" y="219789"/>
                    <a:pt x="293786" y="219789"/>
                  </a:cubicBezTo>
                  <a:cubicBezTo>
                    <a:pt x="246857" y="219789"/>
                    <a:pt x="208929" y="181894"/>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7"/>
                  </a:lnTo>
                  <a:lnTo>
                    <a:pt x="933428" y="267157"/>
                  </a:lnTo>
                  <a:lnTo>
                    <a:pt x="933428" y="201473"/>
                  </a:lnTo>
                  <a:cubicBezTo>
                    <a:pt x="947571" y="212842"/>
                    <a:pt x="964928" y="219157"/>
                    <a:pt x="984857" y="219157"/>
                  </a:cubicBezTo>
                  <a:cubicBezTo>
                    <a:pt x="1030500" y="219157"/>
                    <a:pt x="1067786" y="180631"/>
                    <a:pt x="1067786" y="135789"/>
                  </a:cubicBezTo>
                  <a:cubicBezTo>
                    <a:pt x="1067786" y="90316"/>
                    <a:pt x="1031786" y="51789"/>
                    <a:pt x="984857" y="51789"/>
                  </a:cubicBezTo>
                  <a:close/>
                  <a:moveTo>
                    <a:pt x="980357" y="185052"/>
                  </a:moveTo>
                  <a:cubicBezTo>
                    <a:pt x="952071" y="185052"/>
                    <a:pt x="931500" y="162315"/>
                    <a:pt x="931500" y="136421"/>
                  </a:cubicBezTo>
                  <a:cubicBezTo>
                    <a:pt x="931500" y="110526"/>
                    <a:pt x="952071" y="86526"/>
                    <a:pt x="981000" y="86526"/>
                  </a:cubicBezTo>
                  <a:cubicBezTo>
                    <a:pt x="1008000" y="86526"/>
                    <a:pt x="1030500" y="109894"/>
                    <a:pt x="1030500" y="135789"/>
                  </a:cubicBezTo>
                  <a:cubicBezTo>
                    <a:pt x="1029857" y="162315"/>
                    <a:pt x="1009286" y="185052"/>
                    <a:pt x="980357" y="185052"/>
                  </a:cubicBezTo>
                  <a:close/>
                  <a:moveTo>
                    <a:pt x="841500" y="70105"/>
                  </a:moveTo>
                  <a:cubicBezTo>
                    <a:pt x="827357" y="58737"/>
                    <a:pt x="810000" y="51789"/>
                    <a:pt x="790071" y="51789"/>
                  </a:cubicBezTo>
                  <a:cubicBezTo>
                    <a:pt x="743143" y="51789"/>
                    <a:pt x="707143" y="90316"/>
                    <a:pt x="707143" y="135789"/>
                  </a:cubicBezTo>
                  <a:cubicBezTo>
                    <a:pt x="707143" y="181263"/>
                    <a:pt x="744428" y="219157"/>
                    <a:pt x="790071" y="219157"/>
                  </a:cubicBezTo>
                  <a:cubicBezTo>
                    <a:pt x="810000" y="219157"/>
                    <a:pt x="828000" y="212842"/>
                    <a:pt x="841500" y="201473"/>
                  </a:cubicBezTo>
                  <a:lnTo>
                    <a:pt x="841500" y="214105"/>
                  </a:lnTo>
                  <a:lnTo>
                    <a:pt x="880714" y="214105"/>
                  </a:lnTo>
                  <a:lnTo>
                    <a:pt x="880714" y="56842"/>
                  </a:lnTo>
                  <a:lnTo>
                    <a:pt x="841500" y="56842"/>
                  </a:lnTo>
                  <a:lnTo>
                    <a:pt x="841500" y="70105"/>
                  </a:lnTo>
                  <a:close/>
                  <a:moveTo>
                    <a:pt x="793928" y="185052"/>
                  </a:moveTo>
                  <a:cubicBezTo>
                    <a:pt x="765000" y="185052"/>
                    <a:pt x="744428" y="162315"/>
                    <a:pt x="744428" y="135789"/>
                  </a:cubicBezTo>
                  <a:cubicBezTo>
                    <a:pt x="744428" y="109263"/>
                    <a:pt x="766286" y="86526"/>
                    <a:pt x="793928" y="86526"/>
                  </a:cubicBezTo>
                  <a:cubicBezTo>
                    <a:pt x="822214" y="86526"/>
                    <a:pt x="843429" y="110526"/>
                    <a:pt x="843429" y="136421"/>
                  </a:cubicBezTo>
                  <a:cubicBezTo>
                    <a:pt x="842786" y="162315"/>
                    <a:pt x="822857" y="185052"/>
                    <a:pt x="793928" y="185052"/>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2"/>
                    <a:pt x="1234928" y="165473"/>
                  </a:cubicBezTo>
                  <a:lnTo>
                    <a:pt x="1194429" y="165473"/>
                  </a:lnTo>
                  <a:cubicBezTo>
                    <a:pt x="1186714" y="179368"/>
                    <a:pt x="1173214" y="185684"/>
                    <a:pt x="1157786" y="185684"/>
                  </a:cubicBezTo>
                  <a:cubicBezTo>
                    <a:pt x="1134000" y="185684"/>
                    <a:pt x="1116643" y="167368"/>
                    <a:pt x="1113428" y="153473"/>
                  </a:cubicBezTo>
                  <a:lnTo>
                    <a:pt x="1238143" y="153473"/>
                  </a:lnTo>
                  <a:cubicBezTo>
                    <a:pt x="1240071" y="145894"/>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8"/>
                    <a:pt x="593357" y="185052"/>
                    <a:pt x="621000" y="185052"/>
                  </a:cubicBezTo>
                  <a:cubicBezTo>
                    <a:pt x="637071" y="185052"/>
                    <a:pt x="648643" y="176210"/>
                    <a:pt x="656357" y="163578"/>
                  </a:cubicBezTo>
                  <a:lnTo>
                    <a:pt x="699428" y="163578"/>
                  </a:lnTo>
                  <a:cubicBezTo>
                    <a:pt x="685929" y="199578"/>
                    <a:pt x="655714" y="219789"/>
                    <a:pt x="619071" y="219789"/>
                  </a:cubicBezTo>
                  <a:cubicBezTo>
                    <a:pt x="572143" y="219789"/>
                    <a:pt x="534214" y="181894"/>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1"/>
                  </a:lnTo>
                  <a:cubicBezTo>
                    <a:pt x="486643" y="99789"/>
                    <a:pt x="475714" y="86526"/>
                    <a:pt x="453857" y="86526"/>
                  </a:cubicBezTo>
                  <a:cubicBezTo>
                    <a:pt x="432000" y="86526"/>
                    <a:pt x="421714" y="101684"/>
                    <a:pt x="421714" y="133263"/>
                  </a:cubicBezTo>
                  <a:lnTo>
                    <a:pt x="421714" y="214736"/>
                  </a:lnTo>
                  <a:lnTo>
                    <a:pt x="383143" y="214736"/>
                  </a:lnTo>
                  <a:lnTo>
                    <a:pt x="383143" y="5053"/>
                  </a:lnTo>
                  <a:lnTo>
                    <a:pt x="421714" y="5053"/>
                  </a:lnTo>
                  <a:lnTo>
                    <a:pt x="421714" y="68210"/>
                  </a:lnTo>
                  <a:cubicBezTo>
                    <a:pt x="433286" y="57474"/>
                    <a:pt x="446786" y="51789"/>
                    <a:pt x="463500" y="51789"/>
                  </a:cubicBezTo>
                  <a:cubicBezTo>
                    <a:pt x="482786" y="51789"/>
                    <a:pt x="525214" y="65052"/>
                    <a:pt x="525214" y="118105"/>
                  </a:cubicBezTo>
                  <a:close/>
                </a:path>
              </a:pathLst>
            </a:custGeom>
            <a:solidFill>
              <a:srgbClr val="001A41"/>
            </a:solidFill>
            <a:ln w="6406" cap="flat">
              <a:noFill/>
              <a:prstDash val="solid"/>
              <a:miter/>
            </a:ln>
          </p:spPr>
          <p:txBody>
            <a:bodyPr rtlCol="0" anchor="ctr"/>
            <a:lstStyle/>
            <a:p>
              <a:endParaRPr lang="en-US" dirty="0"/>
            </a:p>
          </p:txBody>
        </p:sp>
        <p:sp>
          <p:nvSpPr>
            <p:cNvPr id="7" name="Freeform 6">
              <a:extLst>
                <a:ext uri="{FF2B5EF4-FFF2-40B4-BE49-F238E27FC236}">
                  <a16:creationId xmlns:a16="http://schemas.microsoft.com/office/drawing/2014/main" id="{714C76FF-5FDF-7F76-6198-834FF9675CF0}"/>
                </a:ext>
              </a:extLst>
            </p:cNvPr>
            <p:cNvSpPr/>
            <p:nvPr/>
          </p:nvSpPr>
          <p:spPr>
            <a:xfrm>
              <a:off x="728819" y="720451"/>
              <a:ext cx="314999" cy="308841"/>
            </a:xfrm>
            <a:custGeom>
              <a:avLst/>
              <a:gdLst>
                <a:gd name="connsiteX0" fmla="*/ 315000 w 314999"/>
                <a:gd name="connsiteY0" fmla="*/ 154736 h 308841"/>
                <a:gd name="connsiteX1" fmla="*/ 157500 w 314999"/>
                <a:gd name="connsiteY1" fmla="*/ 0 h 308841"/>
                <a:gd name="connsiteX2" fmla="*/ 0 w 314999"/>
                <a:gd name="connsiteY2" fmla="*/ 154736 h 308841"/>
                <a:gd name="connsiteX3" fmla="*/ 147857 w 314999"/>
                <a:gd name="connsiteY3" fmla="*/ 308841 h 308841"/>
                <a:gd name="connsiteX4" fmla="*/ 211500 w 314999"/>
                <a:gd name="connsiteY4" fmla="*/ 176842 h 308841"/>
                <a:gd name="connsiteX5" fmla="*/ 190929 w 314999"/>
                <a:gd name="connsiteY5" fmla="*/ 98526 h 308841"/>
                <a:gd name="connsiteX6" fmla="*/ 246857 w 314999"/>
                <a:gd name="connsiteY6" fmla="*/ 79579 h 308841"/>
                <a:gd name="connsiteX7" fmla="*/ 291214 w 314999"/>
                <a:gd name="connsiteY7" fmla="*/ 171789 h 308841"/>
                <a:gd name="connsiteX8" fmla="*/ 288643 w 314999"/>
                <a:gd name="connsiteY8" fmla="*/ 240631 h 308841"/>
                <a:gd name="connsiteX9" fmla="*/ 315000 w 314999"/>
                <a:gd name="connsiteY9" fmla="*/ 154736 h 308841"/>
                <a:gd name="connsiteX10" fmla="*/ 175500 w 314999"/>
                <a:gd name="connsiteY10" fmla="*/ 73895 h 308841"/>
                <a:gd name="connsiteX11" fmla="*/ 122786 w 314999"/>
                <a:gd name="connsiteY11" fmla="*/ 27158 h 308841"/>
                <a:gd name="connsiteX12" fmla="*/ 222429 w 314999"/>
                <a:gd name="connsiteY12" fmla="*/ 58105 h 308841"/>
                <a:gd name="connsiteX13" fmla="*/ 175500 w 314999"/>
                <a:gd name="connsiteY13" fmla="*/ 73895 h 3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1">
                  <a:moveTo>
                    <a:pt x="315000" y="154736"/>
                  </a:moveTo>
                  <a:cubicBezTo>
                    <a:pt x="315000" y="69473"/>
                    <a:pt x="244286" y="0"/>
                    <a:pt x="157500" y="0"/>
                  </a:cubicBezTo>
                  <a:cubicBezTo>
                    <a:pt x="70714" y="0"/>
                    <a:pt x="0" y="69473"/>
                    <a:pt x="0" y="154736"/>
                  </a:cubicBezTo>
                  <a:cubicBezTo>
                    <a:pt x="0" y="236841"/>
                    <a:pt x="65571" y="304420"/>
                    <a:pt x="147857" y="308841"/>
                  </a:cubicBezTo>
                  <a:cubicBezTo>
                    <a:pt x="163286" y="296210"/>
                    <a:pt x="211500" y="250736"/>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0"/>
                    <a:pt x="288643" y="240631"/>
                  </a:cubicBezTo>
                  <a:cubicBezTo>
                    <a:pt x="305357" y="215999"/>
                    <a:pt x="315000" y="186315"/>
                    <a:pt x="315000" y="154736"/>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FFFFFF"/>
            </a:solidFill>
            <a:ln w="6406" cap="flat">
              <a:noFill/>
              <a:prstDash val="solid"/>
              <a:miter/>
            </a:ln>
          </p:spPr>
          <p:txBody>
            <a:bodyPr rtlCol="0" anchor="ctr"/>
            <a:lstStyle/>
            <a:p>
              <a:endParaRPr lang="en-US"/>
            </a:p>
          </p:txBody>
        </p:sp>
      </p:grpSp>
    </p:spTree>
    <p:extLst>
      <p:ext uri="{BB962C8B-B14F-4D97-AF65-F5344CB8AC3E}">
        <p14:creationId xmlns:p14="http://schemas.microsoft.com/office/powerpoint/2010/main" val="35865581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rinter-Friend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chemeClr val="accent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5" name="Text Placeholder 2">
            <a:extLst>
              <a:ext uri="{FF2B5EF4-FFF2-40B4-BE49-F238E27FC236}">
                <a16:creationId xmlns:a16="http://schemas.microsoft.com/office/drawing/2014/main" id="{784E259E-4EF9-0841-80A0-E3CEA5CDF674}"/>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accent2"/>
                </a:solidFill>
                <a:latin typeface="Century Gothic" panose="020B0502020202020204" pitchFamily="34" charset="0"/>
              </a:defRPr>
            </a:lvl1pPr>
          </a:lstStyle>
          <a:p>
            <a:pPr lvl="0"/>
            <a:r>
              <a:rPr lang="en-US" dirty="0"/>
              <a:t>CLICK TO EDIT MASTER TEXT STYLES</a:t>
            </a:r>
          </a:p>
        </p:txBody>
      </p:sp>
      <p:grpSp>
        <p:nvGrpSpPr>
          <p:cNvPr id="2" name="Graphic 6">
            <a:extLst>
              <a:ext uri="{FF2B5EF4-FFF2-40B4-BE49-F238E27FC236}">
                <a16:creationId xmlns:a16="http://schemas.microsoft.com/office/drawing/2014/main" id="{FA4C1CFC-2FD7-68FE-BCE0-295BCAA07AB3}"/>
              </a:ext>
            </a:extLst>
          </p:cNvPr>
          <p:cNvGrpSpPr/>
          <p:nvPr/>
        </p:nvGrpSpPr>
        <p:grpSpPr>
          <a:xfrm>
            <a:off x="728819" y="720451"/>
            <a:ext cx="1613571" cy="311368"/>
            <a:chOff x="728819" y="720451"/>
            <a:chExt cx="1613571" cy="311368"/>
          </a:xfrm>
        </p:grpSpPr>
        <p:sp>
          <p:nvSpPr>
            <p:cNvPr id="4" name="Freeform 3">
              <a:extLst>
                <a:ext uri="{FF2B5EF4-FFF2-40B4-BE49-F238E27FC236}">
                  <a16:creationId xmlns:a16="http://schemas.microsoft.com/office/drawing/2014/main" id="{9999787C-8EA9-AAD9-D15F-B21EAED2B6D0}"/>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5 h 267157"/>
                <a:gd name="connsiteX5" fmla="*/ 96429 w 1240714"/>
                <a:gd name="connsiteY5" fmla="*/ 128211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3 h 267157"/>
                <a:gd name="connsiteX20" fmla="*/ 331071 w 1240714"/>
                <a:gd name="connsiteY20" fmla="*/ 163579 h 267157"/>
                <a:gd name="connsiteX21" fmla="*/ 374143 w 1240714"/>
                <a:gd name="connsiteY21" fmla="*/ 163579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8 h 267157"/>
                <a:gd name="connsiteX39" fmla="*/ 933428 w 1240714"/>
                <a:gd name="connsiteY39" fmla="*/ 267158 h 267157"/>
                <a:gd name="connsiteX40" fmla="*/ 933428 w 1240714"/>
                <a:gd name="connsiteY40" fmla="*/ 201474 h 267157"/>
                <a:gd name="connsiteX41" fmla="*/ 984857 w 1240714"/>
                <a:gd name="connsiteY41" fmla="*/ 219158 h 267157"/>
                <a:gd name="connsiteX42" fmla="*/ 1067786 w 1240714"/>
                <a:gd name="connsiteY42" fmla="*/ 135789 h 267157"/>
                <a:gd name="connsiteX43" fmla="*/ 984857 w 1240714"/>
                <a:gd name="connsiteY43" fmla="*/ 51789 h 267157"/>
                <a:gd name="connsiteX44" fmla="*/ 980357 w 1240714"/>
                <a:gd name="connsiteY44" fmla="*/ 185053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3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8 h 267157"/>
                <a:gd name="connsiteX53" fmla="*/ 841500 w 1240714"/>
                <a:gd name="connsiteY53" fmla="*/ 201474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3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3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4 h 267157"/>
                <a:gd name="connsiteX69" fmla="*/ 1194429 w 1240714"/>
                <a:gd name="connsiteY69" fmla="*/ 165474 h 267157"/>
                <a:gd name="connsiteX70" fmla="*/ 1157786 w 1240714"/>
                <a:gd name="connsiteY70" fmla="*/ 185684 h 267157"/>
                <a:gd name="connsiteX71" fmla="*/ 1113428 w 1240714"/>
                <a:gd name="connsiteY71" fmla="*/ 153474 h 267157"/>
                <a:gd name="connsiteX72" fmla="*/ 1238143 w 1240714"/>
                <a:gd name="connsiteY72" fmla="*/ 153474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3 h 267157"/>
                <a:gd name="connsiteX80" fmla="*/ 656357 w 1240714"/>
                <a:gd name="connsiteY80" fmla="*/ 163579 h 267157"/>
                <a:gd name="connsiteX81" fmla="*/ 699428 w 1240714"/>
                <a:gd name="connsiteY81" fmla="*/ 163579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2 h 267157"/>
                <a:gd name="connsiteX93" fmla="*/ 453857 w 1240714"/>
                <a:gd name="connsiteY93" fmla="*/ 86526 h 267157"/>
                <a:gd name="connsiteX94" fmla="*/ 421714 w 1240714"/>
                <a:gd name="connsiteY94" fmla="*/ 133263 h 267157"/>
                <a:gd name="connsiteX95" fmla="*/ 421714 w 1240714"/>
                <a:gd name="connsiteY95" fmla="*/ 214737 h 267157"/>
                <a:gd name="connsiteX96" fmla="*/ 383143 w 1240714"/>
                <a:gd name="connsiteY96" fmla="*/ 214737 h 267157"/>
                <a:gd name="connsiteX97" fmla="*/ 383143 w 1240714"/>
                <a:gd name="connsiteY97" fmla="*/ 5053 h 267157"/>
                <a:gd name="connsiteX98" fmla="*/ 421714 w 1240714"/>
                <a:gd name="connsiteY98" fmla="*/ 5053 h 267157"/>
                <a:gd name="connsiteX99" fmla="*/ 421714 w 1240714"/>
                <a:gd name="connsiteY99" fmla="*/ 68211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5"/>
                    <a:pt x="129857" y="85895"/>
                  </a:cubicBezTo>
                  <a:cubicBezTo>
                    <a:pt x="118286" y="85895"/>
                    <a:pt x="96429" y="93474"/>
                    <a:pt x="96429" y="128211"/>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9"/>
                    <a:pt x="268071" y="185053"/>
                    <a:pt x="295714" y="185053"/>
                  </a:cubicBezTo>
                  <a:cubicBezTo>
                    <a:pt x="311786" y="185053"/>
                    <a:pt x="323357" y="176211"/>
                    <a:pt x="331071" y="163579"/>
                  </a:cubicBezTo>
                  <a:lnTo>
                    <a:pt x="374143" y="163579"/>
                  </a:lnTo>
                  <a:cubicBezTo>
                    <a:pt x="360643" y="199579"/>
                    <a:pt x="330429" y="219789"/>
                    <a:pt x="293786" y="219789"/>
                  </a:cubicBezTo>
                  <a:cubicBezTo>
                    <a:pt x="246857" y="219789"/>
                    <a:pt x="208929" y="181895"/>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8"/>
                  </a:lnTo>
                  <a:lnTo>
                    <a:pt x="933428" y="267158"/>
                  </a:lnTo>
                  <a:lnTo>
                    <a:pt x="933428" y="201474"/>
                  </a:lnTo>
                  <a:cubicBezTo>
                    <a:pt x="947571" y="212842"/>
                    <a:pt x="964928" y="219158"/>
                    <a:pt x="984857" y="219158"/>
                  </a:cubicBezTo>
                  <a:cubicBezTo>
                    <a:pt x="1030500" y="219158"/>
                    <a:pt x="1067786" y="180632"/>
                    <a:pt x="1067786" y="135789"/>
                  </a:cubicBezTo>
                  <a:cubicBezTo>
                    <a:pt x="1067786" y="90316"/>
                    <a:pt x="1031786" y="51789"/>
                    <a:pt x="984857" y="51789"/>
                  </a:cubicBezTo>
                  <a:close/>
                  <a:moveTo>
                    <a:pt x="980357" y="185053"/>
                  </a:moveTo>
                  <a:cubicBezTo>
                    <a:pt x="952071" y="185053"/>
                    <a:pt x="931500" y="162316"/>
                    <a:pt x="931500" y="136421"/>
                  </a:cubicBezTo>
                  <a:cubicBezTo>
                    <a:pt x="931500" y="110526"/>
                    <a:pt x="952071" y="86526"/>
                    <a:pt x="981000" y="86526"/>
                  </a:cubicBezTo>
                  <a:cubicBezTo>
                    <a:pt x="1008000" y="86526"/>
                    <a:pt x="1030500" y="109895"/>
                    <a:pt x="1030500" y="135789"/>
                  </a:cubicBezTo>
                  <a:cubicBezTo>
                    <a:pt x="1029857" y="162316"/>
                    <a:pt x="1009286" y="185053"/>
                    <a:pt x="980357" y="185053"/>
                  </a:cubicBezTo>
                  <a:close/>
                  <a:moveTo>
                    <a:pt x="841500" y="70105"/>
                  </a:moveTo>
                  <a:cubicBezTo>
                    <a:pt x="827357" y="58737"/>
                    <a:pt x="810000" y="51789"/>
                    <a:pt x="790071" y="51789"/>
                  </a:cubicBezTo>
                  <a:cubicBezTo>
                    <a:pt x="743143" y="51789"/>
                    <a:pt x="707143" y="90316"/>
                    <a:pt x="707143" y="135789"/>
                  </a:cubicBezTo>
                  <a:cubicBezTo>
                    <a:pt x="707143" y="181263"/>
                    <a:pt x="744428" y="219158"/>
                    <a:pt x="790071" y="219158"/>
                  </a:cubicBezTo>
                  <a:cubicBezTo>
                    <a:pt x="810000" y="219158"/>
                    <a:pt x="828000" y="212842"/>
                    <a:pt x="841500" y="201474"/>
                  </a:cubicBezTo>
                  <a:lnTo>
                    <a:pt x="841500" y="214105"/>
                  </a:lnTo>
                  <a:lnTo>
                    <a:pt x="880714" y="214105"/>
                  </a:lnTo>
                  <a:lnTo>
                    <a:pt x="880714" y="56842"/>
                  </a:lnTo>
                  <a:lnTo>
                    <a:pt x="841500" y="56842"/>
                  </a:lnTo>
                  <a:lnTo>
                    <a:pt x="841500" y="70105"/>
                  </a:lnTo>
                  <a:close/>
                  <a:moveTo>
                    <a:pt x="793928" y="185053"/>
                  </a:moveTo>
                  <a:cubicBezTo>
                    <a:pt x="765000" y="185053"/>
                    <a:pt x="744428" y="162316"/>
                    <a:pt x="744428" y="135789"/>
                  </a:cubicBezTo>
                  <a:cubicBezTo>
                    <a:pt x="744428" y="109263"/>
                    <a:pt x="766286" y="86526"/>
                    <a:pt x="793928" y="86526"/>
                  </a:cubicBezTo>
                  <a:cubicBezTo>
                    <a:pt x="822214" y="86526"/>
                    <a:pt x="843429" y="110526"/>
                    <a:pt x="843429" y="136421"/>
                  </a:cubicBezTo>
                  <a:cubicBezTo>
                    <a:pt x="842786" y="162316"/>
                    <a:pt x="822857" y="185053"/>
                    <a:pt x="793928" y="185053"/>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3"/>
                    <a:pt x="1234928" y="165474"/>
                  </a:cubicBezTo>
                  <a:lnTo>
                    <a:pt x="1194429" y="165474"/>
                  </a:lnTo>
                  <a:cubicBezTo>
                    <a:pt x="1186714" y="179368"/>
                    <a:pt x="1173214" y="185684"/>
                    <a:pt x="1157786" y="185684"/>
                  </a:cubicBezTo>
                  <a:cubicBezTo>
                    <a:pt x="1134000" y="185684"/>
                    <a:pt x="1116643" y="167368"/>
                    <a:pt x="1113428" y="153474"/>
                  </a:cubicBezTo>
                  <a:lnTo>
                    <a:pt x="1238143" y="153474"/>
                  </a:lnTo>
                  <a:cubicBezTo>
                    <a:pt x="1240071" y="145895"/>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9"/>
                    <a:pt x="593357" y="185053"/>
                    <a:pt x="621000" y="185053"/>
                  </a:cubicBezTo>
                  <a:cubicBezTo>
                    <a:pt x="637071" y="185053"/>
                    <a:pt x="648643" y="176211"/>
                    <a:pt x="656357" y="163579"/>
                  </a:cubicBezTo>
                  <a:lnTo>
                    <a:pt x="699428" y="163579"/>
                  </a:lnTo>
                  <a:cubicBezTo>
                    <a:pt x="685929" y="199579"/>
                    <a:pt x="655714" y="219789"/>
                    <a:pt x="619071" y="219789"/>
                  </a:cubicBezTo>
                  <a:cubicBezTo>
                    <a:pt x="572143" y="219789"/>
                    <a:pt x="534214" y="181895"/>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2"/>
                  </a:lnTo>
                  <a:cubicBezTo>
                    <a:pt x="486643" y="99789"/>
                    <a:pt x="475714" y="86526"/>
                    <a:pt x="453857" y="86526"/>
                  </a:cubicBezTo>
                  <a:cubicBezTo>
                    <a:pt x="432000" y="86526"/>
                    <a:pt x="421714" y="101684"/>
                    <a:pt x="421714" y="133263"/>
                  </a:cubicBezTo>
                  <a:lnTo>
                    <a:pt x="421714" y="214737"/>
                  </a:lnTo>
                  <a:lnTo>
                    <a:pt x="383143" y="214737"/>
                  </a:lnTo>
                  <a:lnTo>
                    <a:pt x="383143" y="5053"/>
                  </a:lnTo>
                  <a:lnTo>
                    <a:pt x="421714" y="5053"/>
                  </a:lnTo>
                  <a:lnTo>
                    <a:pt x="421714" y="68211"/>
                  </a:lnTo>
                  <a:cubicBezTo>
                    <a:pt x="433286" y="57474"/>
                    <a:pt x="446786" y="51789"/>
                    <a:pt x="463500" y="51789"/>
                  </a:cubicBezTo>
                  <a:cubicBezTo>
                    <a:pt x="482786" y="51789"/>
                    <a:pt x="525214" y="65053"/>
                    <a:pt x="525214" y="118105"/>
                  </a:cubicBezTo>
                  <a:close/>
                </a:path>
              </a:pathLst>
            </a:custGeom>
            <a:solidFill>
              <a:srgbClr val="001A41"/>
            </a:solidFill>
            <a:ln w="6406" cap="flat">
              <a:noFill/>
              <a:prstDash val="solid"/>
              <a:miter/>
            </a:ln>
          </p:spPr>
          <p:txBody>
            <a:bodyPr rtlCol="0" anchor="ctr"/>
            <a:lstStyle/>
            <a:p>
              <a:endParaRPr lang="en-US" dirty="0"/>
            </a:p>
          </p:txBody>
        </p:sp>
        <p:sp>
          <p:nvSpPr>
            <p:cNvPr id="6" name="Freeform 5">
              <a:extLst>
                <a:ext uri="{FF2B5EF4-FFF2-40B4-BE49-F238E27FC236}">
                  <a16:creationId xmlns:a16="http://schemas.microsoft.com/office/drawing/2014/main" id="{94C1CACF-0366-5647-DB53-0203CFD8876C}"/>
                </a:ext>
              </a:extLst>
            </p:cNvPr>
            <p:cNvSpPr/>
            <p:nvPr/>
          </p:nvSpPr>
          <p:spPr>
            <a:xfrm>
              <a:off x="728819" y="720451"/>
              <a:ext cx="314999" cy="308842"/>
            </a:xfrm>
            <a:custGeom>
              <a:avLst/>
              <a:gdLst>
                <a:gd name="connsiteX0" fmla="*/ 315000 w 314999"/>
                <a:gd name="connsiteY0" fmla="*/ 154737 h 308842"/>
                <a:gd name="connsiteX1" fmla="*/ 157500 w 314999"/>
                <a:gd name="connsiteY1" fmla="*/ 0 h 308842"/>
                <a:gd name="connsiteX2" fmla="*/ 0 w 314999"/>
                <a:gd name="connsiteY2" fmla="*/ 154737 h 308842"/>
                <a:gd name="connsiteX3" fmla="*/ 147857 w 314999"/>
                <a:gd name="connsiteY3" fmla="*/ 308842 h 308842"/>
                <a:gd name="connsiteX4" fmla="*/ 211500 w 314999"/>
                <a:gd name="connsiteY4" fmla="*/ 176842 h 308842"/>
                <a:gd name="connsiteX5" fmla="*/ 190929 w 314999"/>
                <a:gd name="connsiteY5" fmla="*/ 98526 h 308842"/>
                <a:gd name="connsiteX6" fmla="*/ 246857 w 314999"/>
                <a:gd name="connsiteY6" fmla="*/ 79579 h 308842"/>
                <a:gd name="connsiteX7" fmla="*/ 291214 w 314999"/>
                <a:gd name="connsiteY7" fmla="*/ 171789 h 308842"/>
                <a:gd name="connsiteX8" fmla="*/ 288643 w 314999"/>
                <a:gd name="connsiteY8" fmla="*/ 240632 h 308842"/>
                <a:gd name="connsiteX9" fmla="*/ 315000 w 314999"/>
                <a:gd name="connsiteY9" fmla="*/ 154737 h 308842"/>
                <a:gd name="connsiteX10" fmla="*/ 175500 w 314999"/>
                <a:gd name="connsiteY10" fmla="*/ 73895 h 308842"/>
                <a:gd name="connsiteX11" fmla="*/ 122786 w 314999"/>
                <a:gd name="connsiteY11" fmla="*/ 27158 h 308842"/>
                <a:gd name="connsiteX12" fmla="*/ 222429 w 314999"/>
                <a:gd name="connsiteY12" fmla="*/ 58105 h 308842"/>
                <a:gd name="connsiteX13" fmla="*/ 175500 w 314999"/>
                <a:gd name="connsiteY13" fmla="*/ 73895 h 30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2">
                  <a:moveTo>
                    <a:pt x="315000" y="154737"/>
                  </a:moveTo>
                  <a:cubicBezTo>
                    <a:pt x="315000" y="69474"/>
                    <a:pt x="244286" y="0"/>
                    <a:pt x="157500" y="0"/>
                  </a:cubicBezTo>
                  <a:cubicBezTo>
                    <a:pt x="70714" y="0"/>
                    <a:pt x="0" y="69474"/>
                    <a:pt x="0" y="154737"/>
                  </a:cubicBezTo>
                  <a:cubicBezTo>
                    <a:pt x="0" y="236842"/>
                    <a:pt x="65571" y="304421"/>
                    <a:pt x="147857" y="308842"/>
                  </a:cubicBezTo>
                  <a:cubicBezTo>
                    <a:pt x="163286" y="296211"/>
                    <a:pt x="211500" y="250737"/>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1"/>
                    <a:pt x="288643" y="240632"/>
                  </a:cubicBezTo>
                  <a:cubicBezTo>
                    <a:pt x="305357" y="216000"/>
                    <a:pt x="315000" y="186316"/>
                    <a:pt x="315000" y="154737"/>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19BEE7"/>
            </a:solidFill>
            <a:ln w="6406" cap="flat">
              <a:noFill/>
              <a:prstDash val="solid"/>
              <a:miter/>
            </a:ln>
          </p:spPr>
          <p:txBody>
            <a:bodyPr rtlCol="0" anchor="ctr"/>
            <a:lstStyle/>
            <a:p>
              <a:endParaRPr lang="en-US"/>
            </a:p>
          </p:txBody>
        </p:sp>
      </p:grpSp>
    </p:spTree>
    <p:extLst>
      <p:ext uri="{BB962C8B-B14F-4D97-AF65-F5344CB8AC3E}">
        <p14:creationId xmlns:p14="http://schemas.microsoft.com/office/powerpoint/2010/main" val="291432224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5" name="Text Placeholder 2">
            <a:extLst>
              <a:ext uri="{FF2B5EF4-FFF2-40B4-BE49-F238E27FC236}">
                <a16:creationId xmlns:a16="http://schemas.microsoft.com/office/drawing/2014/main" id="{784E259E-4EF9-0841-80A0-E3CEA5CDF674}"/>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8" name="Graphic 7">
            <a:extLst>
              <a:ext uri="{FF2B5EF4-FFF2-40B4-BE49-F238E27FC236}">
                <a16:creationId xmlns:a16="http://schemas.microsoft.com/office/drawing/2014/main" id="{89E6A046-3A51-997E-73CC-2303989D23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16252277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5" name="Text Placeholder 2">
            <a:extLst>
              <a:ext uri="{FF2B5EF4-FFF2-40B4-BE49-F238E27FC236}">
                <a16:creationId xmlns:a16="http://schemas.microsoft.com/office/drawing/2014/main" id="{784E259E-4EF9-0841-80A0-E3CEA5CDF674}"/>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grpSp>
        <p:nvGrpSpPr>
          <p:cNvPr id="2" name="Graphic 2">
            <a:extLst>
              <a:ext uri="{FF2B5EF4-FFF2-40B4-BE49-F238E27FC236}">
                <a16:creationId xmlns:a16="http://schemas.microsoft.com/office/drawing/2014/main" id="{E06749D7-7BEF-8F88-A1FA-A3D4E4DE62C4}"/>
              </a:ext>
            </a:extLst>
          </p:cNvPr>
          <p:cNvGrpSpPr/>
          <p:nvPr userDrawn="1"/>
        </p:nvGrpSpPr>
        <p:grpSpPr>
          <a:xfrm>
            <a:off x="728819" y="720451"/>
            <a:ext cx="1613571" cy="311367"/>
            <a:chOff x="728819" y="720451"/>
            <a:chExt cx="1613571" cy="311367"/>
          </a:xfrm>
        </p:grpSpPr>
        <p:sp>
          <p:nvSpPr>
            <p:cNvPr id="3" name="Freeform 2">
              <a:extLst>
                <a:ext uri="{FF2B5EF4-FFF2-40B4-BE49-F238E27FC236}">
                  <a16:creationId xmlns:a16="http://schemas.microsoft.com/office/drawing/2014/main" id="{512B8B79-87C4-E89D-A2A7-21D5A213E17A}"/>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4 h 267157"/>
                <a:gd name="connsiteX5" fmla="*/ 96429 w 1240714"/>
                <a:gd name="connsiteY5" fmla="*/ 128210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2 h 267157"/>
                <a:gd name="connsiteX20" fmla="*/ 331071 w 1240714"/>
                <a:gd name="connsiteY20" fmla="*/ 163578 h 267157"/>
                <a:gd name="connsiteX21" fmla="*/ 374143 w 1240714"/>
                <a:gd name="connsiteY21" fmla="*/ 163578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7 h 267157"/>
                <a:gd name="connsiteX39" fmla="*/ 933428 w 1240714"/>
                <a:gd name="connsiteY39" fmla="*/ 267157 h 267157"/>
                <a:gd name="connsiteX40" fmla="*/ 933428 w 1240714"/>
                <a:gd name="connsiteY40" fmla="*/ 201473 h 267157"/>
                <a:gd name="connsiteX41" fmla="*/ 984857 w 1240714"/>
                <a:gd name="connsiteY41" fmla="*/ 219157 h 267157"/>
                <a:gd name="connsiteX42" fmla="*/ 1067786 w 1240714"/>
                <a:gd name="connsiteY42" fmla="*/ 135789 h 267157"/>
                <a:gd name="connsiteX43" fmla="*/ 984857 w 1240714"/>
                <a:gd name="connsiteY43" fmla="*/ 51789 h 267157"/>
                <a:gd name="connsiteX44" fmla="*/ 980357 w 1240714"/>
                <a:gd name="connsiteY44" fmla="*/ 185052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2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7 h 267157"/>
                <a:gd name="connsiteX53" fmla="*/ 841500 w 1240714"/>
                <a:gd name="connsiteY53" fmla="*/ 201473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2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2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3 h 267157"/>
                <a:gd name="connsiteX69" fmla="*/ 1194429 w 1240714"/>
                <a:gd name="connsiteY69" fmla="*/ 165473 h 267157"/>
                <a:gd name="connsiteX70" fmla="*/ 1157786 w 1240714"/>
                <a:gd name="connsiteY70" fmla="*/ 185684 h 267157"/>
                <a:gd name="connsiteX71" fmla="*/ 1113428 w 1240714"/>
                <a:gd name="connsiteY71" fmla="*/ 153473 h 267157"/>
                <a:gd name="connsiteX72" fmla="*/ 1238143 w 1240714"/>
                <a:gd name="connsiteY72" fmla="*/ 153473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2 h 267157"/>
                <a:gd name="connsiteX80" fmla="*/ 656357 w 1240714"/>
                <a:gd name="connsiteY80" fmla="*/ 163578 h 267157"/>
                <a:gd name="connsiteX81" fmla="*/ 699428 w 1240714"/>
                <a:gd name="connsiteY81" fmla="*/ 163578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1 h 267157"/>
                <a:gd name="connsiteX93" fmla="*/ 453857 w 1240714"/>
                <a:gd name="connsiteY93" fmla="*/ 86526 h 267157"/>
                <a:gd name="connsiteX94" fmla="*/ 421714 w 1240714"/>
                <a:gd name="connsiteY94" fmla="*/ 133263 h 267157"/>
                <a:gd name="connsiteX95" fmla="*/ 421714 w 1240714"/>
                <a:gd name="connsiteY95" fmla="*/ 214736 h 267157"/>
                <a:gd name="connsiteX96" fmla="*/ 383143 w 1240714"/>
                <a:gd name="connsiteY96" fmla="*/ 214736 h 267157"/>
                <a:gd name="connsiteX97" fmla="*/ 383143 w 1240714"/>
                <a:gd name="connsiteY97" fmla="*/ 5053 h 267157"/>
                <a:gd name="connsiteX98" fmla="*/ 421714 w 1240714"/>
                <a:gd name="connsiteY98" fmla="*/ 5053 h 267157"/>
                <a:gd name="connsiteX99" fmla="*/ 421714 w 1240714"/>
                <a:gd name="connsiteY99" fmla="*/ 68210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4"/>
                    <a:pt x="129857" y="85894"/>
                  </a:cubicBezTo>
                  <a:cubicBezTo>
                    <a:pt x="118286" y="85894"/>
                    <a:pt x="96429" y="93473"/>
                    <a:pt x="96429" y="128210"/>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8"/>
                    <a:pt x="268071" y="185052"/>
                    <a:pt x="295714" y="185052"/>
                  </a:cubicBezTo>
                  <a:cubicBezTo>
                    <a:pt x="311786" y="185052"/>
                    <a:pt x="323357" y="176210"/>
                    <a:pt x="331071" y="163578"/>
                  </a:cubicBezTo>
                  <a:lnTo>
                    <a:pt x="374143" y="163578"/>
                  </a:lnTo>
                  <a:cubicBezTo>
                    <a:pt x="360643" y="199578"/>
                    <a:pt x="330429" y="219789"/>
                    <a:pt x="293786" y="219789"/>
                  </a:cubicBezTo>
                  <a:cubicBezTo>
                    <a:pt x="246857" y="219789"/>
                    <a:pt x="208929" y="181894"/>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7"/>
                  </a:lnTo>
                  <a:lnTo>
                    <a:pt x="933428" y="267157"/>
                  </a:lnTo>
                  <a:lnTo>
                    <a:pt x="933428" y="201473"/>
                  </a:lnTo>
                  <a:cubicBezTo>
                    <a:pt x="947571" y="212842"/>
                    <a:pt x="964928" y="219157"/>
                    <a:pt x="984857" y="219157"/>
                  </a:cubicBezTo>
                  <a:cubicBezTo>
                    <a:pt x="1030500" y="219157"/>
                    <a:pt x="1067786" y="180631"/>
                    <a:pt x="1067786" y="135789"/>
                  </a:cubicBezTo>
                  <a:cubicBezTo>
                    <a:pt x="1067786" y="90316"/>
                    <a:pt x="1031786" y="51789"/>
                    <a:pt x="984857" y="51789"/>
                  </a:cubicBezTo>
                  <a:close/>
                  <a:moveTo>
                    <a:pt x="980357" y="185052"/>
                  </a:moveTo>
                  <a:cubicBezTo>
                    <a:pt x="952071" y="185052"/>
                    <a:pt x="931500" y="162315"/>
                    <a:pt x="931500" y="136421"/>
                  </a:cubicBezTo>
                  <a:cubicBezTo>
                    <a:pt x="931500" y="110526"/>
                    <a:pt x="952071" y="86526"/>
                    <a:pt x="981000" y="86526"/>
                  </a:cubicBezTo>
                  <a:cubicBezTo>
                    <a:pt x="1008000" y="86526"/>
                    <a:pt x="1030500" y="109894"/>
                    <a:pt x="1030500" y="135789"/>
                  </a:cubicBezTo>
                  <a:cubicBezTo>
                    <a:pt x="1029857" y="162315"/>
                    <a:pt x="1009286" y="185052"/>
                    <a:pt x="980357" y="185052"/>
                  </a:cubicBezTo>
                  <a:close/>
                  <a:moveTo>
                    <a:pt x="841500" y="70105"/>
                  </a:moveTo>
                  <a:cubicBezTo>
                    <a:pt x="827357" y="58737"/>
                    <a:pt x="810000" y="51789"/>
                    <a:pt x="790071" y="51789"/>
                  </a:cubicBezTo>
                  <a:cubicBezTo>
                    <a:pt x="743143" y="51789"/>
                    <a:pt x="707143" y="90316"/>
                    <a:pt x="707143" y="135789"/>
                  </a:cubicBezTo>
                  <a:cubicBezTo>
                    <a:pt x="707143" y="181263"/>
                    <a:pt x="744428" y="219157"/>
                    <a:pt x="790071" y="219157"/>
                  </a:cubicBezTo>
                  <a:cubicBezTo>
                    <a:pt x="810000" y="219157"/>
                    <a:pt x="828000" y="212842"/>
                    <a:pt x="841500" y="201473"/>
                  </a:cubicBezTo>
                  <a:lnTo>
                    <a:pt x="841500" y="214105"/>
                  </a:lnTo>
                  <a:lnTo>
                    <a:pt x="880714" y="214105"/>
                  </a:lnTo>
                  <a:lnTo>
                    <a:pt x="880714" y="56842"/>
                  </a:lnTo>
                  <a:lnTo>
                    <a:pt x="841500" y="56842"/>
                  </a:lnTo>
                  <a:lnTo>
                    <a:pt x="841500" y="70105"/>
                  </a:lnTo>
                  <a:close/>
                  <a:moveTo>
                    <a:pt x="793928" y="185052"/>
                  </a:moveTo>
                  <a:cubicBezTo>
                    <a:pt x="765000" y="185052"/>
                    <a:pt x="744428" y="162315"/>
                    <a:pt x="744428" y="135789"/>
                  </a:cubicBezTo>
                  <a:cubicBezTo>
                    <a:pt x="744428" y="109263"/>
                    <a:pt x="766286" y="86526"/>
                    <a:pt x="793928" y="86526"/>
                  </a:cubicBezTo>
                  <a:cubicBezTo>
                    <a:pt x="822214" y="86526"/>
                    <a:pt x="843429" y="110526"/>
                    <a:pt x="843429" y="136421"/>
                  </a:cubicBezTo>
                  <a:cubicBezTo>
                    <a:pt x="842786" y="162315"/>
                    <a:pt x="822857" y="185052"/>
                    <a:pt x="793928" y="185052"/>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2"/>
                    <a:pt x="1234928" y="165473"/>
                  </a:cubicBezTo>
                  <a:lnTo>
                    <a:pt x="1194429" y="165473"/>
                  </a:lnTo>
                  <a:cubicBezTo>
                    <a:pt x="1186714" y="179368"/>
                    <a:pt x="1173214" y="185684"/>
                    <a:pt x="1157786" y="185684"/>
                  </a:cubicBezTo>
                  <a:cubicBezTo>
                    <a:pt x="1134000" y="185684"/>
                    <a:pt x="1116643" y="167368"/>
                    <a:pt x="1113428" y="153473"/>
                  </a:cubicBezTo>
                  <a:lnTo>
                    <a:pt x="1238143" y="153473"/>
                  </a:lnTo>
                  <a:cubicBezTo>
                    <a:pt x="1240071" y="145894"/>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8"/>
                    <a:pt x="593357" y="185052"/>
                    <a:pt x="621000" y="185052"/>
                  </a:cubicBezTo>
                  <a:cubicBezTo>
                    <a:pt x="637071" y="185052"/>
                    <a:pt x="648643" y="176210"/>
                    <a:pt x="656357" y="163578"/>
                  </a:cubicBezTo>
                  <a:lnTo>
                    <a:pt x="699428" y="163578"/>
                  </a:lnTo>
                  <a:cubicBezTo>
                    <a:pt x="685929" y="199578"/>
                    <a:pt x="655714" y="219789"/>
                    <a:pt x="619071" y="219789"/>
                  </a:cubicBezTo>
                  <a:cubicBezTo>
                    <a:pt x="572143" y="219789"/>
                    <a:pt x="534214" y="181894"/>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1"/>
                  </a:lnTo>
                  <a:cubicBezTo>
                    <a:pt x="486643" y="99789"/>
                    <a:pt x="475714" y="86526"/>
                    <a:pt x="453857" y="86526"/>
                  </a:cubicBezTo>
                  <a:cubicBezTo>
                    <a:pt x="432000" y="86526"/>
                    <a:pt x="421714" y="101684"/>
                    <a:pt x="421714" y="133263"/>
                  </a:cubicBezTo>
                  <a:lnTo>
                    <a:pt x="421714" y="214736"/>
                  </a:lnTo>
                  <a:lnTo>
                    <a:pt x="383143" y="214736"/>
                  </a:lnTo>
                  <a:lnTo>
                    <a:pt x="383143" y="5053"/>
                  </a:lnTo>
                  <a:lnTo>
                    <a:pt x="421714" y="5053"/>
                  </a:lnTo>
                  <a:lnTo>
                    <a:pt x="421714" y="68210"/>
                  </a:lnTo>
                  <a:cubicBezTo>
                    <a:pt x="433286" y="57474"/>
                    <a:pt x="446786" y="51789"/>
                    <a:pt x="463500" y="51789"/>
                  </a:cubicBezTo>
                  <a:cubicBezTo>
                    <a:pt x="482786" y="51789"/>
                    <a:pt x="525214" y="65052"/>
                    <a:pt x="525214" y="118105"/>
                  </a:cubicBezTo>
                  <a:close/>
                </a:path>
              </a:pathLst>
            </a:custGeom>
            <a:solidFill>
              <a:srgbClr val="001A41"/>
            </a:solidFill>
            <a:ln w="6406" cap="flat">
              <a:noFill/>
              <a:prstDash val="solid"/>
              <a:miter/>
            </a:ln>
          </p:spPr>
          <p:txBody>
            <a:bodyPr rtlCol="0" anchor="ctr"/>
            <a:lstStyle/>
            <a:p>
              <a:endParaRPr lang="en-US" dirty="0"/>
            </a:p>
          </p:txBody>
        </p:sp>
        <p:sp>
          <p:nvSpPr>
            <p:cNvPr id="7" name="Freeform 6">
              <a:extLst>
                <a:ext uri="{FF2B5EF4-FFF2-40B4-BE49-F238E27FC236}">
                  <a16:creationId xmlns:a16="http://schemas.microsoft.com/office/drawing/2014/main" id="{043BEAD8-A33C-FD74-2BAA-96E12614AB2E}"/>
                </a:ext>
              </a:extLst>
            </p:cNvPr>
            <p:cNvSpPr/>
            <p:nvPr/>
          </p:nvSpPr>
          <p:spPr>
            <a:xfrm>
              <a:off x="728819" y="720451"/>
              <a:ext cx="314999" cy="308841"/>
            </a:xfrm>
            <a:custGeom>
              <a:avLst/>
              <a:gdLst>
                <a:gd name="connsiteX0" fmla="*/ 315000 w 314999"/>
                <a:gd name="connsiteY0" fmla="*/ 154736 h 308841"/>
                <a:gd name="connsiteX1" fmla="*/ 157500 w 314999"/>
                <a:gd name="connsiteY1" fmla="*/ 0 h 308841"/>
                <a:gd name="connsiteX2" fmla="*/ 0 w 314999"/>
                <a:gd name="connsiteY2" fmla="*/ 154736 h 308841"/>
                <a:gd name="connsiteX3" fmla="*/ 147857 w 314999"/>
                <a:gd name="connsiteY3" fmla="*/ 308841 h 308841"/>
                <a:gd name="connsiteX4" fmla="*/ 211500 w 314999"/>
                <a:gd name="connsiteY4" fmla="*/ 176842 h 308841"/>
                <a:gd name="connsiteX5" fmla="*/ 190929 w 314999"/>
                <a:gd name="connsiteY5" fmla="*/ 98526 h 308841"/>
                <a:gd name="connsiteX6" fmla="*/ 246857 w 314999"/>
                <a:gd name="connsiteY6" fmla="*/ 79579 h 308841"/>
                <a:gd name="connsiteX7" fmla="*/ 291214 w 314999"/>
                <a:gd name="connsiteY7" fmla="*/ 171789 h 308841"/>
                <a:gd name="connsiteX8" fmla="*/ 288643 w 314999"/>
                <a:gd name="connsiteY8" fmla="*/ 240631 h 308841"/>
                <a:gd name="connsiteX9" fmla="*/ 315000 w 314999"/>
                <a:gd name="connsiteY9" fmla="*/ 154736 h 308841"/>
                <a:gd name="connsiteX10" fmla="*/ 175500 w 314999"/>
                <a:gd name="connsiteY10" fmla="*/ 73895 h 308841"/>
                <a:gd name="connsiteX11" fmla="*/ 122786 w 314999"/>
                <a:gd name="connsiteY11" fmla="*/ 27158 h 308841"/>
                <a:gd name="connsiteX12" fmla="*/ 222429 w 314999"/>
                <a:gd name="connsiteY12" fmla="*/ 58105 h 308841"/>
                <a:gd name="connsiteX13" fmla="*/ 175500 w 314999"/>
                <a:gd name="connsiteY13" fmla="*/ 73895 h 3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1">
                  <a:moveTo>
                    <a:pt x="315000" y="154736"/>
                  </a:moveTo>
                  <a:cubicBezTo>
                    <a:pt x="315000" y="69473"/>
                    <a:pt x="244286" y="0"/>
                    <a:pt x="157500" y="0"/>
                  </a:cubicBezTo>
                  <a:cubicBezTo>
                    <a:pt x="70714" y="0"/>
                    <a:pt x="0" y="69473"/>
                    <a:pt x="0" y="154736"/>
                  </a:cubicBezTo>
                  <a:cubicBezTo>
                    <a:pt x="0" y="236841"/>
                    <a:pt x="65571" y="304420"/>
                    <a:pt x="147857" y="308841"/>
                  </a:cubicBezTo>
                  <a:cubicBezTo>
                    <a:pt x="163286" y="296210"/>
                    <a:pt x="211500" y="250736"/>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0"/>
                    <a:pt x="288643" y="240631"/>
                  </a:cubicBezTo>
                  <a:cubicBezTo>
                    <a:pt x="305357" y="215999"/>
                    <a:pt x="315000" y="186315"/>
                    <a:pt x="315000" y="154736"/>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FFFFFF"/>
            </a:solidFill>
            <a:ln w="6406" cap="flat">
              <a:noFill/>
              <a:prstDash val="solid"/>
              <a:miter/>
            </a:ln>
          </p:spPr>
          <p:txBody>
            <a:bodyPr rtlCol="0" anchor="ctr"/>
            <a:lstStyle/>
            <a:p>
              <a:endParaRPr lang="en-US"/>
            </a:p>
          </p:txBody>
        </p:sp>
      </p:grpSp>
    </p:spTree>
    <p:extLst>
      <p:ext uri="{BB962C8B-B14F-4D97-AF65-F5344CB8AC3E}">
        <p14:creationId xmlns:p14="http://schemas.microsoft.com/office/powerpoint/2010/main" val="59470400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lain/Dark Blue]">
    <p:bg>
      <p:bgPr>
        <a:solidFill>
          <a:srgbClr val="001A41"/>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27A4D11A-9074-A6F8-6BBB-FEC97759B49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430779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lain/Eco Blue]">
    <p:bg>
      <p:bgPr>
        <a:solidFill>
          <a:schemeClr val="accent2"/>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grpSp>
        <p:nvGrpSpPr>
          <p:cNvPr id="2" name="Graphic 2">
            <a:extLst>
              <a:ext uri="{FF2B5EF4-FFF2-40B4-BE49-F238E27FC236}">
                <a16:creationId xmlns:a16="http://schemas.microsoft.com/office/drawing/2014/main" id="{091AA4C5-4353-C704-D45C-1BE18AF3AADF}"/>
              </a:ext>
            </a:extLst>
          </p:cNvPr>
          <p:cNvGrpSpPr/>
          <p:nvPr userDrawn="1"/>
        </p:nvGrpSpPr>
        <p:grpSpPr>
          <a:xfrm>
            <a:off x="728819" y="720451"/>
            <a:ext cx="1613571" cy="311367"/>
            <a:chOff x="728819" y="720451"/>
            <a:chExt cx="1613571" cy="311367"/>
          </a:xfrm>
        </p:grpSpPr>
        <p:sp>
          <p:nvSpPr>
            <p:cNvPr id="5" name="Freeform 4">
              <a:extLst>
                <a:ext uri="{FF2B5EF4-FFF2-40B4-BE49-F238E27FC236}">
                  <a16:creationId xmlns:a16="http://schemas.microsoft.com/office/drawing/2014/main" id="{BAB26DF9-85A0-2615-4E74-D05682D680D8}"/>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4 h 267157"/>
                <a:gd name="connsiteX5" fmla="*/ 96429 w 1240714"/>
                <a:gd name="connsiteY5" fmla="*/ 128210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2 h 267157"/>
                <a:gd name="connsiteX20" fmla="*/ 331071 w 1240714"/>
                <a:gd name="connsiteY20" fmla="*/ 163578 h 267157"/>
                <a:gd name="connsiteX21" fmla="*/ 374143 w 1240714"/>
                <a:gd name="connsiteY21" fmla="*/ 163578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7 h 267157"/>
                <a:gd name="connsiteX39" fmla="*/ 933428 w 1240714"/>
                <a:gd name="connsiteY39" fmla="*/ 267157 h 267157"/>
                <a:gd name="connsiteX40" fmla="*/ 933428 w 1240714"/>
                <a:gd name="connsiteY40" fmla="*/ 201473 h 267157"/>
                <a:gd name="connsiteX41" fmla="*/ 984857 w 1240714"/>
                <a:gd name="connsiteY41" fmla="*/ 219157 h 267157"/>
                <a:gd name="connsiteX42" fmla="*/ 1067786 w 1240714"/>
                <a:gd name="connsiteY42" fmla="*/ 135789 h 267157"/>
                <a:gd name="connsiteX43" fmla="*/ 984857 w 1240714"/>
                <a:gd name="connsiteY43" fmla="*/ 51789 h 267157"/>
                <a:gd name="connsiteX44" fmla="*/ 980357 w 1240714"/>
                <a:gd name="connsiteY44" fmla="*/ 185052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2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7 h 267157"/>
                <a:gd name="connsiteX53" fmla="*/ 841500 w 1240714"/>
                <a:gd name="connsiteY53" fmla="*/ 201473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2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2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3 h 267157"/>
                <a:gd name="connsiteX69" fmla="*/ 1194429 w 1240714"/>
                <a:gd name="connsiteY69" fmla="*/ 165473 h 267157"/>
                <a:gd name="connsiteX70" fmla="*/ 1157786 w 1240714"/>
                <a:gd name="connsiteY70" fmla="*/ 185684 h 267157"/>
                <a:gd name="connsiteX71" fmla="*/ 1113428 w 1240714"/>
                <a:gd name="connsiteY71" fmla="*/ 153473 h 267157"/>
                <a:gd name="connsiteX72" fmla="*/ 1238143 w 1240714"/>
                <a:gd name="connsiteY72" fmla="*/ 153473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2 h 267157"/>
                <a:gd name="connsiteX80" fmla="*/ 656357 w 1240714"/>
                <a:gd name="connsiteY80" fmla="*/ 163578 h 267157"/>
                <a:gd name="connsiteX81" fmla="*/ 699428 w 1240714"/>
                <a:gd name="connsiteY81" fmla="*/ 163578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1 h 267157"/>
                <a:gd name="connsiteX93" fmla="*/ 453857 w 1240714"/>
                <a:gd name="connsiteY93" fmla="*/ 86526 h 267157"/>
                <a:gd name="connsiteX94" fmla="*/ 421714 w 1240714"/>
                <a:gd name="connsiteY94" fmla="*/ 133263 h 267157"/>
                <a:gd name="connsiteX95" fmla="*/ 421714 w 1240714"/>
                <a:gd name="connsiteY95" fmla="*/ 214736 h 267157"/>
                <a:gd name="connsiteX96" fmla="*/ 383143 w 1240714"/>
                <a:gd name="connsiteY96" fmla="*/ 214736 h 267157"/>
                <a:gd name="connsiteX97" fmla="*/ 383143 w 1240714"/>
                <a:gd name="connsiteY97" fmla="*/ 5053 h 267157"/>
                <a:gd name="connsiteX98" fmla="*/ 421714 w 1240714"/>
                <a:gd name="connsiteY98" fmla="*/ 5053 h 267157"/>
                <a:gd name="connsiteX99" fmla="*/ 421714 w 1240714"/>
                <a:gd name="connsiteY99" fmla="*/ 68210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4"/>
                    <a:pt x="129857" y="85894"/>
                  </a:cubicBezTo>
                  <a:cubicBezTo>
                    <a:pt x="118286" y="85894"/>
                    <a:pt x="96429" y="93473"/>
                    <a:pt x="96429" y="128210"/>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8"/>
                    <a:pt x="268071" y="185052"/>
                    <a:pt x="295714" y="185052"/>
                  </a:cubicBezTo>
                  <a:cubicBezTo>
                    <a:pt x="311786" y="185052"/>
                    <a:pt x="323357" y="176210"/>
                    <a:pt x="331071" y="163578"/>
                  </a:cubicBezTo>
                  <a:lnTo>
                    <a:pt x="374143" y="163578"/>
                  </a:lnTo>
                  <a:cubicBezTo>
                    <a:pt x="360643" y="199578"/>
                    <a:pt x="330429" y="219789"/>
                    <a:pt x="293786" y="219789"/>
                  </a:cubicBezTo>
                  <a:cubicBezTo>
                    <a:pt x="246857" y="219789"/>
                    <a:pt x="208929" y="181894"/>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7"/>
                  </a:lnTo>
                  <a:lnTo>
                    <a:pt x="933428" y="267157"/>
                  </a:lnTo>
                  <a:lnTo>
                    <a:pt x="933428" y="201473"/>
                  </a:lnTo>
                  <a:cubicBezTo>
                    <a:pt x="947571" y="212842"/>
                    <a:pt x="964928" y="219157"/>
                    <a:pt x="984857" y="219157"/>
                  </a:cubicBezTo>
                  <a:cubicBezTo>
                    <a:pt x="1030500" y="219157"/>
                    <a:pt x="1067786" y="180631"/>
                    <a:pt x="1067786" y="135789"/>
                  </a:cubicBezTo>
                  <a:cubicBezTo>
                    <a:pt x="1067786" y="90316"/>
                    <a:pt x="1031786" y="51789"/>
                    <a:pt x="984857" y="51789"/>
                  </a:cubicBezTo>
                  <a:close/>
                  <a:moveTo>
                    <a:pt x="980357" y="185052"/>
                  </a:moveTo>
                  <a:cubicBezTo>
                    <a:pt x="952071" y="185052"/>
                    <a:pt x="931500" y="162315"/>
                    <a:pt x="931500" y="136421"/>
                  </a:cubicBezTo>
                  <a:cubicBezTo>
                    <a:pt x="931500" y="110526"/>
                    <a:pt x="952071" y="86526"/>
                    <a:pt x="981000" y="86526"/>
                  </a:cubicBezTo>
                  <a:cubicBezTo>
                    <a:pt x="1008000" y="86526"/>
                    <a:pt x="1030500" y="109894"/>
                    <a:pt x="1030500" y="135789"/>
                  </a:cubicBezTo>
                  <a:cubicBezTo>
                    <a:pt x="1029857" y="162315"/>
                    <a:pt x="1009286" y="185052"/>
                    <a:pt x="980357" y="185052"/>
                  </a:cubicBezTo>
                  <a:close/>
                  <a:moveTo>
                    <a:pt x="841500" y="70105"/>
                  </a:moveTo>
                  <a:cubicBezTo>
                    <a:pt x="827357" y="58737"/>
                    <a:pt x="810000" y="51789"/>
                    <a:pt x="790071" y="51789"/>
                  </a:cubicBezTo>
                  <a:cubicBezTo>
                    <a:pt x="743143" y="51789"/>
                    <a:pt x="707143" y="90316"/>
                    <a:pt x="707143" y="135789"/>
                  </a:cubicBezTo>
                  <a:cubicBezTo>
                    <a:pt x="707143" y="181263"/>
                    <a:pt x="744428" y="219157"/>
                    <a:pt x="790071" y="219157"/>
                  </a:cubicBezTo>
                  <a:cubicBezTo>
                    <a:pt x="810000" y="219157"/>
                    <a:pt x="828000" y="212842"/>
                    <a:pt x="841500" y="201473"/>
                  </a:cubicBezTo>
                  <a:lnTo>
                    <a:pt x="841500" y="214105"/>
                  </a:lnTo>
                  <a:lnTo>
                    <a:pt x="880714" y="214105"/>
                  </a:lnTo>
                  <a:lnTo>
                    <a:pt x="880714" y="56842"/>
                  </a:lnTo>
                  <a:lnTo>
                    <a:pt x="841500" y="56842"/>
                  </a:lnTo>
                  <a:lnTo>
                    <a:pt x="841500" y="70105"/>
                  </a:lnTo>
                  <a:close/>
                  <a:moveTo>
                    <a:pt x="793928" y="185052"/>
                  </a:moveTo>
                  <a:cubicBezTo>
                    <a:pt x="765000" y="185052"/>
                    <a:pt x="744428" y="162315"/>
                    <a:pt x="744428" y="135789"/>
                  </a:cubicBezTo>
                  <a:cubicBezTo>
                    <a:pt x="744428" y="109263"/>
                    <a:pt x="766286" y="86526"/>
                    <a:pt x="793928" y="86526"/>
                  </a:cubicBezTo>
                  <a:cubicBezTo>
                    <a:pt x="822214" y="86526"/>
                    <a:pt x="843429" y="110526"/>
                    <a:pt x="843429" y="136421"/>
                  </a:cubicBezTo>
                  <a:cubicBezTo>
                    <a:pt x="842786" y="162315"/>
                    <a:pt x="822857" y="185052"/>
                    <a:pt x="793928" y="185052"/>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2"/>
                    <a:pt x="1234928" y="165473"/>
                  </a:cubicBezTo>
                  <a:lnTo>
                    <a:pt x="1194429" y="165473"/>
                  </a:lnTo>
                  <a:cubicBezTo>
                    <a:pt x="1186714" y="179368"/>
                    <a:pt x="1173214" y="185684"/>
                    <a:pt x="1157786" y="185684"/>
                  </a:cubicBezTo>
                  <a:cubicBezTo>
                    <a:pt x="1134000" y="185684"/>
                    <a:pt x="1116643" y="167368"/>
                    <a:pt x="1113428" y="153473"/>
                  </a:cubicBezTo>
                  <a:lnTo>
                    <a:pt x="1238143" y="153473"/>
                  </a:lnTo>
                  <a:cubicBezTo>
                    <a:pt x="1240071" y="145894"/>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8"/>
                    <a:pt x="593357" y="185052"/>
                    <a:pt x="621000" y="185052"/>
                  </a:cubicBezTo>
                  <a:cubicBezTo>
                    <a:pt x="637071" y="185052"/>
                    <a:pt x="648643" y="176210"/>
                    <a:pt x="656357" y="163578"/>
                  </a:cubicBezTo>
                  <a:lnTo>
                    <a:pt x="699428" y="163578"/>
                  </a:lnTo>
                  <a:cubicBezTo>
                    <a:pt x="685929" y="199578"/>
                    <a:pt x="655714" y="219789"/>
                    <a:pt x="619071" y="219789"/>
                  </a:cubicBezTo>
                  <a:cubicBezTo>
                    <a:pt x="572143" y="219789"/>
                    <a:pt x="534214" y="181894"/>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1"/>
                  </a:lnTo>
                  <a:cubicBezTo>
                    <a:pt x="486643" y="99789"/>
                    <a:pt x="475714" y="86526"/>
                    <a:pt x="453857" y="86526"/>
                  </a:cubicBezTo>
                  <a:cubicBezTo>
                    <a:pt x="432000" y="86526"/>
                    <a:pt x="421714" y="101684"/>
                    <a:pt x="421714" y="133263"/>
                  </a:cubicBezTo>
                  <a:lnTo>
                    <a:pt x="421714" y="214736"/>
                  </a:lnTo>
                  <a:lnTo>
                    <a:pt x="383143" y="214736"/>
                  </a:lnTo>
                  <a:lnTo>
                    <a:pt x="383143" y="5053"/>
                  </a:lnTo>
                  <a:lnTo>
                    <a:pt x="421714" y="5053"/>
                  </a:lnTo>
                  <a:lnTo>
                    <a:pt x="421714" y="68210"/>
                  </a:lnTo>
                  <a:cubicBezTo>
                    <a:pt x="433286" y="57474"/>
                    <a:pt x="446786" y="51789"/>
                    <a:pt x="463500" y="51789"/>
                  </a:cubicBezTo>
                  <a:cubicBezTo>
                    <a:pt x="482786" y="51789"/>
                    <a:pt x="525214" y="65052"/>
                    <a:pt x="525214" y="118105"/>
                  </a:cubicBezTo>
                  <a:close/>
                </a:path>
              </a:pathLst>
            </a:custGeom>
            <a:solidFill>
              <a:srgbClr val="001A41"/>
            </a:solidFill>
            <a:ln w="6406" cap="flat">
              <a:noFill/>
              <a:prstDash val="solid"/>
              <a:miter/>
            </a:ln>
          </p:spPr>
          <p:txBody>
            <a:bodyPr rtlCol="0" anchor="ctr"/>
            <a:lstStyle/>
            <a:p>
              <a:endParaRPr lang="en-US" dirty="0"/>
            </a:p>
          </p:txBody>
        </p:sp>
        <p:sp>
          <p:nvSpPr>
            <p:cNvPr id="6" name="Freeform 5">
              <a:extLst>
                <a:ext uri="{FF2B5EF4-FFF2-40B4-BE49-F238E27FC236}">
                  <a16:creationId xmlns:a16="http://schemas.microsoft.com/office/drawing/2014/main" id="{DA87AAB2-6160-F045-C0F8-88842EE0A095}"/>
                </a:ext>
              </a:extLst>
            </p:cNvPr>
            <p:cNvSpPr/>
            <p:nvPr/>
          </p:nvSpPr>
          <p:spPr>
            <a:xfrm>
              <a:off x="728819" y="720451"/>
              <a:ext cx="314999" cy="308841"/>
            </a:xfrm>
            <a:custGeom>
              <a:avLst/>
              <a:gdLst>
                <a:gd name="connsiteX0" fmla="*/ 315000 w 314999"/>
                <a:gd name="connsiteY0" fmla="*/ 154736 h 308841"/>
                <a:gd name="connsiteX1" fmla="*/ 157500 w 314999"/>
                <a:gd name="connsiteY1" fmla="*/ 0 h 308841"/>
                <a:gd name="connsiteX2" fmla="*/ 0 w 314999"/>
                <a:gd name="connsiteY2" fmla="*/ 154736 h 308841"/>
                <a:gd name="connsiteX3" fmla="*/ 147857 w 314999"/>
                <a:gd name="connsiteY3" fmla="*/ 308841 h 308841"/>
                <a:gd name="connsiteX4" fmla="*/ 211500 w 314999"/>
                <a:gd name="connsiteY4" fmla="*/ 176842 h 308841"/>
                <a:gd name="connsiteX5" fmla="*/ 190929 w 314999"/>
                <a:gd name="connsiteY5" fmla="*/ 98526 h 308841"/>
                <a:gd name="connsiteX6" fmla="*/ 246857 w 314999"/>
                <a:gd name="connsiteY6" fmla="*/ 79579 h 308841"/>
                <a:gd name="connsiteX7" fmla="*/ 291214 w 314999"/>
                <a:gd name="connsiteY7" fmla="*/ 171789 h 308841"/>
                <a:gd name="connsiteX8" fmla="*/ 288643 w 314999"/>
                <a:gd name="connsiteY8" fmla="*/ 240631 h 308841"/>
                <a:gd name="connsiteX9" fmla="*/ 315000 w 314999"/>
                <a:gd name="connsiteY9" fmla="*/ 154736 h 308841"/>
                <a:gd name="connsiteX10" fmla="*/ 175500 w 314999"/>
                <a:gd name="connsiteY10" fmla="*/ 73895 h 308841"/>
                <a:gd name="connsiteX11" fmla="*/ 122786 w 314999"/>
                <a:gd name="connsiteY11" fmla="*/ 27158 h 308841"/>
                <a:gd name="connsiteX12" fmla="*/ 222429 w 314999"/>
                <a:gd name="connsiteY12" fmla="*/ 58105 h 308841"/>
                <a:gd name="connsiteX13" fmla="*/ 175500 w 314999"/>
                <a:gd name="connsiteY13" fmla="*/ 73895 h 3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1">
                  <a:moveTo>
                    <a:pt x="315000" y="154736"/>
                  </a:moveTo>
                  <a:cubicBezTo>
                    <a:pt x="315000" y="69473"/>
                    <a:pt x="244286" y="0"/>
                    <a:pt x="157500" y="0"/>
                  </a:cubicBezTo>
                  <a:cubicBezTo>
                    <a:pt x="70714" y="0"/>
                    <a:pt x="0" y="69473"/>
                    <a:pt x="0" y="154736"/>
                  </a:cubicBezTo>
                  <a:cubicBezTo>
                    <a:pt x="0" y="236841"/>
                    <a:pt x="65571" y="304420"/>
                    <a:pt x="147857" y="308841"/>
                  </a:cubicBezTo>
                  <a:cubicBezTo>
                    <a:pt x="163286" y="296210"/>
                    <a:pt x="211500" y="250736"/>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0"/>
                    <a:pt x="288643" y="240631"/>
                  </a:cubicBezTo>
                  <a:cubicBezTo>
                    <a:pt x="305357" y="215999"/>
                    <a:pt x="315000" y="186315"/>
                    <a:pt x="315000" y="154736"/>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FFFFFF"/>
            </a:solidFill>
            <a:ln w="6406" cap="flat">
              <a:noFill/>
              <a:prstDash val="solid"/>
              <a:miter/>
            </a:ln>
          </p:spPr>
          <p:txBody>
            <a:bodyPr rtlCol="0" anchor="ctr"/>
            <a:lstStyle/>
            <a:p>
              <a:endParaRPr lang="en-US"/>
            </a:p>
          </p:txBody>
        </p:sp>
      </p:grpSp>
    </p:spTree>
    <p:extLst>
      <p:ext uri="{BB962C8B-B14F-4D97-AF65-F5344CB8AC3E}">
        <p14:creationId xmlns:p14="http://schemas.microsoft.com/office/powerpoint/2010/main" val="3370303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lain/Yellow]">
    <p:bg>
      <p:bgPr>
        <a:solidFill>
          <a:schemeClr val="bg2"/>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8C42BA9B-DD36-F523-20AB-77A46E2D6AD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265849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lain/Dark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27A4D11A-9074-A6F8-6BBB-FEC97759B49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255486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lain/Eco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grpSp>
        <p:nvGrpSpPr>
          <p:cNvPr id="10" name="Graphic 2">
            <a:extLst>
              <a:ext uri="{FF2B5EF4-FFF2-40B4-BE49-F238E27FC236}">
                <a16:creationId xmlns:a16="http://schemas.microsoft.com/office/drawing/2014/main" id="{447D2E7B-D9CE-9BE6-6B8C-42B08D589289}"/>
              </a:ext>
            </a:extLst>
          </p:cNvPr>
          <p:cNvGrpSpPr/>
          <p:nvPr userDrawn="1"/>
        </p:nvGrpSpPr>
        <p:grpSpPr>
          <a:xfrm>
            <a:off x="728819" y="720451"/>
            <a:ext cx="1613571" cy="311367"/>
            <a:chOff x="728819" y="720451"/>
            <a:chExt cx="1613571" cy="311367"/>
          </a:xfrm>
        </p:grpSpPr>
        <p:sp>
          <p:nvSpPr>
            <p:cNvPr id="12" name="Freeform 11">
              <a:extLst>
                <a:ext uri="{FF2B5EF4-FFF2-40B4-BE49-F238E27FC236}">
                  <a16:creationId xmlns:a16="http://schemas.microsoft.com/office/drawing/2014/main" id="{F39F666A-A4B0-5A9A-35CB-06986A1C0A65}"/>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4 h 267157"/>
                <a:gd name="connsiteX5" fmla="*/ 96429 w 1240714"/>
                <a:gd name="connsiteY5" fmla="*/ 128210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2 h 267157"/>
                <a:gd name="connsiteX20" fmla="*/ 331071 w 1240714"/>
                <a:gd name="connsiteY20" fmla="*/ 163578 h 267157"/>
                <a:gd name="connsiteX21" fmla="*/ 374143 w 1240714"/>
                <a:gd name="connsiteY21" fmla="*/ 163578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7 h 267157"/>
                <a:gd name="connsiteX39" fmla="*/ 933428 w 1240714"/>
                <a:gd name="connsiteY39" fmla="*/ 267157 h 267157"/>
                <a:gd name="connsiteX40" fmla="*/ 933428 w 1240714"/>
                <a:gd name="connsiteY40" fmla="*/ 201473 h 267157"/>
                <a:gd name="connsiteX41" fmla="*/ 984857 w 1240714"/>
                <a:gd name="connsiteY41" fmla="*/ 219157 h 267157"/>
                <a:gd name="connsiteX42" fmla="*/ 1067786 w 1240714"/>
                <a:gd name="connsiteY42" fmla="*/ 135789 h 267157"/>
                <a:gd name="connsiteX43" fmla="*/ 984857 w 1240714"/>
                <a:gd name="connsiteY43" fmla="*/ 51789 h 267157"/>
                <a:gd name="connsiteX44" fmla="*/ 980357 w 1240714"/>
                <a:gd name="connsiteY44" fmla="*/ 185052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2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7 h 267157"/>
                <a:gd name="connsiteX53" fmla="*/ 841500 w 1240714"/>
                <a:gd name="connsiteY53" fmla="*/ 201473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2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2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3 h 267157"/>
                <a:gd name="connsiteX69" fmla="*/ 1194429 w 1240714"/>
                <a:gd name="connsiteY69" fmla="*/ 165473 h 267157"/>
                <a:gd name="connsiteX70" fmla="*/ 1157786 w 1240714"/>
                <a:gd name="connsiteY70" fmla="*/ 185684 h 267157"/>
                <a:gd name="connsiteX71" fmla="*/ 1113428 w 1240714"/>
                <a:gd name="connsiteY71" fmla="*/ 153473 h 267157"/>
                <a:gd name="connsiteX72" fmla="*/ 1238143 w 1240714"/>
                <a:gd name="connsiteY72" fmla="*/ 153473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2 h 267157"/>
                <a:gd name="connsiteX80" fmla="*/ 656357 w 1240714"/>
                <a:gd name="connsiteY80" fmla="*/ 163578 h 267157"/>
                <a:gd name="connsiteX81" fmla="*/ 699428 w 1240714"/>
                <a:gd name="connsiteY81" fmla="*/ 163578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1 h 267157"/>
                <a:gd name="connsiteX93" fmla="*/ 453857 w 1240714"/>
                <a:gd name="connsiteY93" fmla="*/ 86526 h 267157"/>
                <a:gd name="connsiteX94" fmla="*/ 421714 w 1240714"/>
                <a:gd name="connsiteY94" fmla="*/ 133263 h 267157"/>
                <a:gd name="connsiteX95" fmla="*/ 421714 w 1240714"/>
                <a:gd name="connsiteY95" fmla="*/ 214736 h 267157"/>
                <a:gd name="connsiteX96" fmla="*/ 383143 w 1240714"/>
                <a:gd name="connsiteY96" fmla="*/ 214736 h 267157"/>
                <a:gd name="connsiteX97" fmla="*/ 383143 w 1240714"/>
                <a:gd name="connsiteY97" fmla="*/ 5053 h 267157"/>
                <a:gd name="connsiteX98" fmla="*/ 421714 w 1240714"/>
                <a:gd name="connsiteY98" fmla="*/ 5053 h 267157"/>
                <a:gd name="connsiteX99" fmla="*/ 421714 w 1240714"/>
                <a:gd name="connsiteY99" fmla="*/ 68210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4"/>
                    <a:pt x="129857" y="85894"/>
                  </a:cubicBezTo>
                  <a:cubicBezTo>
                    <a:pt x="118286" y="85894"/>
                    <a:pt x="96429" y="93473"/>
                    <a:pt x="96429" y="128210"/>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8"/>
                    <a:pt x="268071" y="185052"/>
                    <a:pt x="295714" y="185052"/>
                  </a:cubicBezTo>
                  <a:cubicBezTo>
                    <a:pt x="311786" y="185052"/>
                    <a:pt x="323357" y="176210"/>
                    <a:pt x="331071" y="163578"/>
                  </a:cubicBezTo>
                  <a:lnTo>
                    <a:pt x="374143" y="163578"/>
                  </a:lnTo>
                  <a:cubicBezTo>
                    <a:pt x="360643" y="199578"/>
                    <a:pt x="330429" y="219789"/>
                    <a:pt x="293786" y="219789"/>
                  </a:cubicBezTo>
                  <a:cubicBezTo>
                    <a:pt x="246857" y="219789"/>
                    <a:pt x="208929" y="181894"/>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7"/>
                  </a:lnTo>
                  <a:lnTo>
                    <a:pt x="933428" y="267157"/>
                  </a:lnTo>
                  <a:lnTo>
                    <a:pt x="933428" y="201473"/>
                  </a:lnTo>
                  <a:cubicBezTo>
                    <a:pt x="947571" y="212842"/>
                    <a:pt x="964928" y="219157"/>
                    <a:pt x="984857" y="219157"/>
                  </a:cubicBezTo>
                  <a:cubicBezTo>
                    <a:pt x="1030500" y="219157"/>
                    <a:pt x="1067786" y="180631"/>
                    <a:pt x="1067786" y="135789"/>
                  </a:cubicBezTo>
                  <a:cubicBezTo>
                    <a:pt x="1067786" y="90316"/>
                    <a:pt x="1031786" y="51789"/>
                    <a:pt x="984857" y="51789"/>
                  </a:cubicBezTo>
                  <a:close/>
                  <a:moveTo>
                    <a:pt x="980357" y="185052"/>
                  </a:moveTo>
                  <a:cubicBezTo>
                    <a:pt x="952071" y="185052"/>
                    <a:pt x="931500" y="162315"/>
                    <a:pt x="931500" y="136421"/>
                  </a:cubicBezTo>
                  <a:cubicBezTo>
                    <a:pt x="931500" y="110526"/>
                    <a:pt x="952071" y="86526"/>
                    <a:pt x="981000" y="86526"/>
                  </a:cubicBezTo>
                  <a:cubicBezTo>
                    <a:pt x="1008000" y="86526"/>
                    <a:pt x="1030500" y="109894"/>
                    <a:pt x="1030500" y="135789"/>
                  </a:cubicBezTo>
                  <a:cubicBezTo>
                    <a:pt x="1029857" y="162315"/>
                    <a:pt x="1009286" y="185052"/>
                    <a:pt x="980357" y="185052"/>
                  </a:cubicBezTo>
                  <a:close/>
                  <a:moveTo>
                    <a:pt x="841500" y="70105"/>
                  </a:moveTo>
                  <a:cubicBezTo>
                    <a:pt x="827357" y="58737"/>
                    <a:pt x="810000" y="51789"/>
                    <a:pt x="790071" y="51789"/>
                  </a:cubicBezTo>
                  <a:cubicBezTo>
                    <a:pt x="743143" y="51789"/>
                    <a:pt x="707143" y="90316"/>
                    <a:pt x="707143" y="135789"/>
                  </a:cubicBezTo>
                  <a:cubicBezTo>
                    <a:pt x="707143" y="181263"/>
                    <a:pt x="744428" y="219157"/>
                    <a:pt x="790071" y="219157"/>
                  </a:cubicBezTo>
                  <a:cubicBezTo>
                    <a:pt x="810000" y="219157"/>
                    <a:pt x="828000" y="212842"/>
                    <a:pt x="841500" y="201473"/>
                  </a:cubicBezTo>
                  <a:lnTo>
                    <a:pt x="841500" y="214105"/>
                  </a:lnTo>
                  <a:lnTo>
                    <a:pt x="880714" y="214105"/>
                  </a:lnTo>
                  <a:lnTo>
                    <a:pt x="880714" y="56842"/>
                  </a:lnTo>
                  <a:lnTo>
                    <a:pt x="841500" y="56842"/>
                  </a:lnTo>
                  <a:lnTo>
                    <a:pt x="841500" y="70105"/>
                  </a:lnTo>
                  <a:close/>
                  <a:moveTo>
                    <a:pt x="793928" y="185052"/>
                  </a:moveTo>
                  <a:cubicBezTo>
                    <a:pt x="765000" y="185052"/>
                    <a:pt x="744428" y="162315"/>
                    <a:pt x="744428" y="135789"/>
                  </a:cubicBezTo>
                  <a:cubicBezTo>
                    <a:pt x="744428" y="109263"/>
                    <a:pt x="766286" y="86526"/>
                    <a:pt x="793928" y="86526"/>
                  </a:cubicBezTo>
                  <a:cubicBezTo>
                    <a:pt x="822214" y="86526"/>
                    <a:pt x="843429" y="110526"/>
                    <a:pt x="843429" y="136421"/>
                  </a:cubicBezTo>
                  <a:cubicBezTo>
                    <a:pt x="842786" y="162315"/>
                    <a:pt x="822857" y="185052"/>
                    <a:pt x="793928" y="185052"/>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2"/>
                    <a:pt x="1234928" y="165473"/>
                  </a:cubicBezTo>
                  <a:lnTo>
                    <a:pt x="1194429" y="165473"/>
                  </a:lnTo>
                  <a:cubicBezTo>
                    <a:pt x="1186714" y="179368"/>
                    <a:pt x="1173214" y="185684"/>
                    <a:pt x="1157786" y="185684"/>
                  </a:cubicBezTo>
                  <a:cubicBezTo>
                    <a:pt x="1134000" y="185684"/>
                    <a:pt x="1116643" y="167368"/>
                    <a:pt x="1113428" y="153473"/>
                  </a:cubicBezTo>
                  <a:lnTo>
                    <a:pt x="1238143" y="153473"/>
                  </a:lnTo>
                  <a:cubicBezTo>
                    <a:pt x="1240071" y="145894"/>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8"/>
                    <a:pt x="593357" y="185052"/>
                    <a:pt x="621000" y="185052"/>
                  </a:cubicBezTo>
                  <a:cubicBezTo>
                    <a:pt x="637071" y="185052"/>
                    <a:pt x="648643" y="176210"/>
                    <a:pt x="656357" y="163578"/>
                  </a:cubicBezTo>
                  <a:lnTo>
                    <a:pt x="699428" y="163578"/>
                  </a:lnTo>
                  <a:cubicBezTo>
                    <a:pt x="685929" y="199578"/>
                    <a:pt x="655714" y="219789"/>
                    <a:pt x="619071" y="219789"/>
                  </a:cubicBezTo>
                  <a:cubicBezTo>
                    <a:pt x="572143" y="219789"/>
                    <a:pt x="534214" y="181894"/>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1"/>
                  </a:lnTo>
                  <a:cubicBezTo>
                    <a:pt x="486643" y="99789"/>
                    <a:pt x="475714" y="86526"/>
                    <a:pt x="453857" y="86526"/>
                  </a:cubicBezTo>
                  <a:cubicBezTo>
                    <a:pt x="432000" y="86526"/>
                    <a:pt x="421714" y="101684"/>
                    <a:pt x="421714" y="133263"/>
                  </a:cubicBezTo>
                  <a:lnTo>
                    <a:pt x="421714" y="214736"/>
                  </a:lnTo>
                  <a:lnTo>
                    <a:pt x="383143" y="214736"/>
                  </a:lnTo>
                  <a:lnTo>
                    <a:pt x="383143" y="5053"/>
                  </a:lnTo>
                  <a:lnTo>
                    <a:pt x="421714" y="5053"/>
                  </a:lnTo>
                  <a:lnTo>
                    <a:pt x="421714" y="68210"/>
                  </a:lnTo>
                  <a:cubicBezTo>
                    <a:pt x="433286" y="57474"/>
                    <a:pt x="446786" y="51789"/>
                    <a:pt x="463500" y="51789"/>
                  </a:cubicBezTo>
                  <a:cubicBezTo>
                    <a:pt x="482786" y="51789"/>
                    <a:pt x="525214" y="65052"/>
                    <a:pt x="525214" y="118105"/>
                  </a:cubicBezTo>
                  <a:close/>
                </a:path>
              </a:pathLst>
            </a:custGeom>
            <a:solidFill>
              <a:srgbClr val="001A41"/>
            </a:solidFill>
            <a:ln w="6406"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AE0B0C56-3949-641A-493E-BC1A232F7592}"/>
                </a:ext>
              </a:extLst>
            </p:cNvPr>
            <p:cNvSpPr/>
            <p:nvPr/>
          </p:nvSpPr>
          <p:spPr>
            <a:xfrm>
              <a:off x="728819" y="720451"/>
              <a:ext cx="314999" cy="308841"/>
            </a:xfrm>
            <a:custGeom>
              <a:avLst/>
              <a:gdLst>
                <a:gd name="connsiteX0" fmla="*/ 315000 w 314999"/>
                <a:gd name="connsiteY0" fmla="*/ 154736 h 308841"/>
                <a:gd name="connsiteX1" fmla="*/ 157500 w 314999"/>
                <a:gd name="connsiteY1" fmla="*/ 0 h 308841"/>
                <a:gd name="connsiteX2" fmla="*/ 0 w 314999"/>
                <a:gd name="connsiteY2" fmla="*/ 154736 h 308841"/>
                <a:gd name="connsiteX3" fmla="*/ 147857 w 314999"/>
                <a:gd name="connsiteY3" fmla="*/ 308841 h 308841"/>
                <a:gd name="connsiteX4" fmla="*/ 211500 w 314999"/>
                <a:gd name="connsiteY4" fmla="*/ 176842 h 308841"/>
                <a:gd name="connsiteX5" fmla="*/ 190929 w 314999"/>
                <a:gd name="connsiteY5" fmla="*/ 98526 h 308841"/>
                <a:gd name="connsiteX6" fmla="*/ 246857 w 314999"/>
                <a:gd name="connsiteY6" fmla="*/ 79579 h 308841"/>
                <a:gd name="connsiteX7" fmla="*/ 291214 w 314999"/>
                <a:gd name="connsiteY7" fmla="*/ 171789 h 308841"/>
                <a:gd name="connsiteX8" fmla="*/ 288643 w 314999"/>
                <a:gd name="connsiteY8" fmla="*/ 240631 h 308841"/>
                <a:gd name="connsiteX9" fmla="*/ 315000 w 314999"/>
                <a:gd name="connsiteY9" fmla="*/ 154736 h 308841"/>
                <a:gd name="connsiteX10" fmla="*/ 175500 w 314999"/>
                <a:gd name="connsiteY10" fmla="*/ 73895 h 308841"/>
                <a:gd name="connsiteX11" fmla="*/ 122786 w 314999"/>
                <a:gd name="connsiteY11" fmla="*/ 27158 h 308841"/>
                <a:gd name="connsiteX12" fmla="*/ 222429 w 314999"/>
                <a:gd name="connsiteY12" fmla="*/ 58105 h 308841"/>
                <a:gd name="connsiteX13" fmla="*/ 175500 w 314999"/>
                <a:gd name="connsiteY13" fmla="*/ 73895 h 3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1">
                  <a:moveTo>
                    <a:pt x="315000" y="154736"/>
                  </a:moveTo>
                  <a:cubicBezTo>
                    <a:pt x="315000" y="69473"/>
                    <a:pt x="244286" y="0"/>
                    <a:pt x="157500" y="0"/>
                  </a:cubicBezTo>
                  <a:cubicBezTo>
                    <a:pt x="70714" y="0"/>
                    <a:pt x="0" y="69473"/>
                    <a:pt x="0" y="154736"/>
                  </a:cubicBezTo>
                  <a:cubicBezTo>
                    <a:pt x="0" y="236841"/>
                    <a:pt x="65571" y="304420"/>
                    <a:pt x="147857" y="308841"/>
                  </a:cubicBezTo>
                  <a:cubicBezTo>
                    <a:pt x="163286" y="296210"/>
                    <a:pt x="211500" y="250736"/>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0"/>
                    <a:pt x="288643" y="240631"/>
                  </a:cubicBezTo>
                  <a:cubicBezTo>
                    <a:pt x="305357" y="215999"/>
                    <a:pt x="315000" y="186315"/>
                    <a:pt x="315000" y="154736"/>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FFFFFF"/>
            </a:solidFill>
            <a:ln w="6406" cap="flat">
              <a:noFill/>
              <a:prstDash val="solid"/>
              <a:miter/>
            </a:ln>
          </p:spPr>
          <p:txBody>
            <a:bodyPr rtlCol="0" anchor="ctr"/>
            <a:lstStyle/>
            <a:p>
              <a:endParaRPr lang="en-US"/>
            </a:p>
          </p:txBody>
        </p:sp>
      </p:grpSp>
    </p:spTree>
    <p:extLst>
      <p:ext uri="{BB962C8B-B14F-4D97-AF65-F5344CB8AC3E}">
        <p14:creationId xmlns:p14="http://schemas.microsoft.com/office/powerpoint/2010/main" val="23583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lain/Yel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1AE51FD-9722-0E42-9065-BCA1E907795A}"/>
              </a:ext>
            </a:extLst>
          </p:cNvPr>
          <p:cNvSpPr>
            <a:spLocks noGrp="1"/>
          </p:cNvSpPr>
          <p:nvPr>
            <p:ph type="body" idx="1"/>
          </p:nvPr>
        </p:nvSpPr>
        <p:spPr>
          <a:xfrm>
            <a:off x="719999" y="4680000"/>
            <a:ext cx="6228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8C42BA9B-DD36-F523-20AB-77A46E2D6AD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16962" y="697083"/>
            <a:ext cx="1825714" cy="359999"/>
          </a:xfrm>
          <a:prstGeom prst="rect">
            <a:avLst/>
          </a:prstGeom>
        </p:spPr>
      </p:pic>
    </p:spTree>
    <p:extLst>
      <p:ext uri="{BB962C8B-B14F-4D97-AF65-F5344CB8AC3E}">
        <p14:creationId xmlns:p14="http://schemas.microsoft.com/office/powerpoint/2010/main" val="276266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ulti-Purpos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CF136-49AE-0C45-ABE5-610F2497F66A}"/>
              </a:ext>
            </a:extLst>
          </p:cNvPr>
          <p:cNvSpPr>
            <a:spLocks noGrp="1"/>
          </p:cNvSpPr>
          <p:nvPr>
            <p:ph type="title"/>
          </p:nvPr>
        </p:nvSpPr>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3" name="Content Placeholder 2">
            <a:extLst>
              <a:ext uri="{FF2B5EF4-FFF2-40B4-BE49-F238E27FC236}">
                <a16:creationId xmlns:a16="http://schemas.microsoft.com/office/drawing/2014/main" id="{CA89DE50-8F88-A444-A742-E8FB1A45102B}"/>
              </a:ext>
            </a:extLst>
          </p:cNvPr>
          <p:cNvSpPr>
            <a:spLocks noGrp="1"/>
          </p:cNvSpPr>
          <p:nvPr>
            <p:ph idx="1" hasCustomPrompt="1"/>
          </p:nvPr>
        </p:nvSpPr>
        <p:spPr/>
        <p:txBody>
          <a:bodyPr/>
          <a:lstStyle>
            <a:lvl1pPr marL="179388" indent="-179388">
              <a:tabLst/>
              <a:defRPr b="0" i="0">
                <a:solidFill>
                  <a:srgbClr val="001A41"/>
                </a:solidFill>
                <a:latin typeface="+mn-lt"/>
              </a:defRPr>
            </a:lvl1pPr>
            <a:lvl2pPr marL="504825" indent="-152400">
              <a:tabLst/>
              <a:defRPr b="0" i="0">
                <a:solidFill>
                  <a:srgbClr val="001A41"/>
                </a:solidFill>
                <a:latin typeface="+mn-lt"/>
              </a:defRPr>
            </a:lvl2pPr>
            <a:lvl3pPr marL="827088" indent="-142875">
              <a:tabLst/>
              <a:defRPr b="0" i="0">
                <a:solidFill>
                  <a:srgbClr val="001A41"/>
                </a:solidFill>
                <a:latin typeface="+mn-lt"/>
              </a:defRPr>
            </a:lvl3pPr>
            <a:lvl4pPr marL="1150938" indent="-122238">
              <a:tabLst/>
              <a:defRPr b="0" i="0">
                <a:solidFill>
                  <a:srgbClr val="001A41"/>
                </a:solidFill>
                <a:latin typeface="+mn-lt"/>
              </a:defRPr>
            </a:lvl4pPr>
            <a:lvl5pPr marL="1474788" indent="-114300">
              <a:tabLst/>
              <a:defRPr b="0" i="0">
                <a:solidFill>
                  <a:srgbClr val="001A41"/>
                </a:solidFill>
                <a:latin typeface="+mn-lt"/>
              </a:defRPr>
            </a:lvl5pPr>
          </a:lstStyle>
          <a:p>
            <a:pPr lvl="0"/>
            <a:r>
              <a:rPr lang="en-GB" dirty="0"/>
              <a:t>Click to edit text or click on an icon below to add table / chart / media</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3090730F-D896-DB4E-A061-3270DD54C84F}"/>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E9112E25-1A50-7747-BBAF-12C1FA97556E}"/>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
        <p:nvSpPr>
          <p:cNvPr id="8" name="Text Placeholder 7">
            <a:extLst>
              <a:ext uri="{FF2B5EF4-FFF2-40B4-BE49-F238E27FC236}">
                <a16:creationId xmlns:a16="http://schemas.microsoft.com/office/drawing/2014/main" id="{5EA363FA-79FE-C74A-B93A-F38EE273D6CC}"/>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lvl1pPr>
          </a:lstStyle>
          <a:p>
            <a:pPr lvl="0"/>
            <a:r>
              <a:rPr lang="en-GB" dirty="0"/>
              <a:t>Source &amp; footnotes field</a:t>
            </a:r>
          </a:p>
        </p:txBody>
      </p:sp>
    </p:spTree>
    <p:extLst>
      <p:ext uri="{BB962C8B-B14F-4D97-AF65-F5344CB8AC3E}">
        <p14:creationId xmlns:p14="http://schemas.microsoft.com/office/powerpoint/2010/main" val="2770893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ulti-Purpose Content x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CF136-49AE-0C45-ABE5-610F2497F66A}"/>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3" name="Content Placeholder 2">
            <a:extLst>
              <a:ext uri="{FF2B5EF4-FFF2-40B4-BE49-F238E27FC236}">
                <a16:creationId xmlns:a16="http://schemas.microsoft.com/office/drawing/2014/main" id="{CA89DE50-8F88-A444-A742-E8FB1A45102B}"/>
              </a:ext>
            </a:extLst>
          </p:cNvPr>
          <p:cNvSpPr>
            <a:spLocks noGrp="1"/>
          </p:cNvSpPr>
          <p:nvPr>
            <p:ph idx="1" hasCustomPrompt="1"/>
          </p:nvPr>
        </p:nvSpPr>
        <p:spPr>
          <a:xfrm>
            <a:off x="720000" y="1422400"/>
            <a:ext cx="4968000" cy="4851400"/>
          </a:xfrm>
        </p:spPr>
        <p:txBody>
          <a:bodyPr/>
          <a:lstStyle>
            <a:lvl1pPr marL="179388" indent="-179388">
              <a:tabLst/>
              <a:defRPr b="0" i="0">
                <a:solidFill>
                  <a:srgbClr val="001A41"/>
                </a:solidFill>
                <a:latin typeface="+mn-lt"/>
              </a:defRPr>
            </a:lvl1pPr>
            <a:lvl2pPr marL="504825" indent="-152400">
              <a:tabLst/>
              <a:defRPr b="0" i="0">
                <a:solidFill>
                  <a:srgbClr val="001A41"/>
                </a:solidFill>
                <a:latin typeface="+mn-lt"/>
              </a:defRPr>
            </a:lvl2pPr>
            <a:lvl3pPr marL="827088" indent="-142875">
              <a:tabLst/>
              <a:defRPr b="0" i="0">
                <a:solidFill>
                  <a:srgbClr val="001A41"/>
                </a:solidFill>
                <a:latin typeface="+mn-lt"/>
              </a:defRPr>
            </a:lvl3pPr>
            <a:lvl4pPr marL="1150938" indent="-122238">
              <a:tabLst/>
              <a:defRPr b="0" i="0">
                <a:solidFill>
                  <a:srgbClr val="001A41"/>
                </a:solidFill>
                <a:latin typeface="+mn-lt"/>
              </a:defRPr>
            </a:lvl4pPr>
            <a:lvl5pPr marL="1474788" indent="-114300">
              <a:tabLst/>
              <a:defRPr b="0" i="0">
                <a:solidFill>
                  <a:srgbClr val="001A41"/>
                </a:solidFill>
                <a:latin typeface="+mn-lt"/>
              </a:defRPr>
            </a:lvl5pPr>
          </a:lstStyle>
          <a:p>
            <a:pPr lvl="0"/>
            <a:r>
              <a:rPr lang="en-GB" dirty="0"/>
              <a:t>Click to edit text or click on an icon below to add table / chart / media</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3090730F-D896-DB4E-A061-3270DD54C84F}"/>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E9112E25-1A50-7747-BBAF-12C1FA97556E}"/>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
        <p:nvSpPr>
          <p:cNvPr id="7" name="Content Placeholder 2">
            <a:extLst>
              <a:ext uri="{FF2B5EF4-FFF2-40B4-BE49-F238E27FC236}">
                <a16:creationId xmlns:a16="http://schemas.microsoft.com/office/drawing/2014/main" id="{5C86233B-80EF-1249-850B-B4972D0A4C67}"/>
              </a:ext>
            </a:extLst>
          </p:cNvPr>
          <p:cNvSpPr>
            <a:spLocks noGrp="1"/>
          </p:cNvSpPr>
          <p:nvPr>
            <p:ph idx="13" hasCustomPrompt="1"/>
          </p:nvPr>
        </p:nvSpPr>
        <p:spPr>
          <a:xfrm>
            <a:off x="6505198" y="1422400"/>
            <a:ext cx="4968000" cy="4851400"/>
          </a:xfrm>
        </p:spPr>
        <p:txBody>
          <a:bodyPr/>
          <a:lstStyle>
            <a:lvl1pPr>
              <a:defRPr b="0" i="0">
                <a:solidFill>
                  <a:srgbClr val="001A41"/>
                </a:solidFill>
                <a:latin typeface="+mn-lt"/>
              </a:defRPr>
            </a:lvl1pPr>
            <a:lvl2pPr>
              <a:defRPr b="0" i="0">
                <a:solidFill>
                  <a:srgbClr val="001A41"/>
                </a:solidFill>
                <a:latin typeface="+mn-lt"/>
              </a:defRPr>
            </a:lvl2pPr>
            <a:lvl3pPr>
              <a:defRPr b="0" i="0">
                <a:solidFill>
                  <a:srgbClr val="001A41"/>
                </a:solidFill>
                <a:latin typeface="+mn-lt"/>
              </a:defRPr>
            </a:lvl3pPr>
            <a:lvl4pPr>
              <a:defRPr b="0" i="0">
                <a:solidFill>
                  <a:srgbClr val="001A41"/>
                </a:solidFill>
                <a:latin typeface="+mn-lt"/>
              </a:defRPr>
            </a:lvl4pPr>
            <a:lvl5pPr>
              <a:defRPr b="0" i="0">
                <a:solidFill>
                  <a:srgbClr val="001A41"/>
                </a:solidFill>
                <a:latin typeface="+mn-lt"/>
              </a:defRPr>
            </a:lvl5pPr>
          </a:lstStyle>
          <a:p>
            <a:pPr lvl="0"/>
            <a:r>
              <a:rPr lang="en-GB" dirty="0"/>
              <a:t>Click to edit text or click on an icon below to add table / chart / media</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7">
            <a:extLst>
              <a:ext uri="{FF2B5EF4-FFF2-40B4-BE49-F238E27FC236}">
                <a16:creationId xmlns:a16="http://schemas.microsoft.com/office/drawing/2014/main" id="{DE4D195F-10B0-5044-8A2B-F0A55A5751EA}"/>
              </a:ext>
            </a:extLst>
          </p:cNvPr>
          <p:cNvSpPr>
            <a:spLocks noGrp="1"/>
          </p:cNvSpPr>
          <p:nvPr>
            <p:ph type="body" sz="quarter" idx="14"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2526107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ulti-Purpose Content /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CF136-49AE-0C45-ABE5-610F2497F66A}"/>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3" name="Content Placeholder 2">
            <a:extLst>
              <a:ext uri="{FF2B5EF4-FFF2-40B4-BE49-F238E27FC236}">
                <a16:creationId xmlns:a16="http://schemas.microsoft.com/office/drawing/2014/main" id="{CA89DE50-8F88-A444-A742-E8FB1A45102B}"/>
              </a:ext>
            </a:extLst>
          </p:cNvPr>
          <p:cNvSpPr>
            <a:spLocks noGrp="1"/>
          </p:cNvSpPr>
          <p:nvPr>
            <p:ph idx="1" hasCustomPrompt="1"/>
          </p:nvPr>
        </p:nvSpPr>
        <p:spPr>
          <a:xfrm>
            <a:off x="720000" y="1422400"/>
            <a:ext cx="6410578" cy="4851400"/>
          </a:xfrm>
        </p:spPr>
        <p:txBody>
          <a:bodyPr/>
          <a:lstStyle>
            <a:lvl1pPr marL="179388" indent="-179388">
              <a:lnSpc>
                <a:spcPct val="100000"/>
              </a:lnSpc>
              <a:spcAft>
                <a:spcPts val="1000"/>
              </a:spcAft>
              <a:tabLst/>
              <a:defRPr b="0" i="0">
                <a:solidFill>
                  <a:srgbClr val="001A41"/>
                </a:solidFill>
                <a:latin typeface="+mn-lt"/>
              </a:defRPr>
            </a:lvl1pPr>
            <a:lvl2pPr marL="504825" indent="-152400">
              <a:lnSpc>
                <a:spcPct val="100000"/>
              </a:lnSpc>
              <a:spcAft>
                <a:spcPts val="1000"/>
              </a:spcAft>
              <a:tabLst/>
              <a:defRPr b="0" i="0">
                <a:solidFill>
                  <a:srgbClr val="001A41"/>
                </a:solidFill>
                <a:latin typeface="+mn-lt"/>
              </a:defRPr>
            </a:lvl2pPr>
            <a:lvl3pPr marL="827088" indent="-142875">
              <a:lnSpc>
                <a:spcPct val="100000"/>
              </a:lnSpc>
              <a:spcAft>
                <a:spcPts val="1000"/>
              </a:spcAft>
              <a:tabLst/>
              <a:defRPr b="0" i="0">
                <a:solidFill>
                  <a:srgbClr val="001A41"/>
                </a:solidFill>
                <a:latin typeface="+mn-lt"/>
              </a:defRPr>
            </a:lvl3pPr>
            <a:lvl4pPr marL="1150938" indent="-122238">
              <a:lnSpc>
                <a:spcPct val="100000"/>
              </a:lnSpc>
              <a:spcAft>
                <a:spcPts val="1000"/>
              </a:spcAft>
              <a:tabLst/>
              <a:defRPr b="0" i="0">
                <a:solidFill>
                  <a:srgbClr val="001A41"/>
                </a:solidFill>
                <a:latin typeface="+mn-lt"/>
              </a:defRPr>
            </a:lvl4pPr>
            <a:lvl5pPr marL="1474788" indent="-114300">
              <a:lnSpc>
                <a:spcPct val="100000"/>
              </a:lnSpc>
              <a:spcAft>
                <a:spcPts val="1000"/>
              </a:spcAft>
              <a:tabLst/>
              <a:defRPr b="0" i="0">
                <a:solidFill>
                  <a:srgbClr val="001A41"/>
                </a:solidFill>
                <a:latin typeface="+mn-lt"/>
              </a:defRPr>
            </a:lvl5pPr>
          </a:lstStyle>
          <a:p>
            <a:pPr lvl="0"/>
            <a:r>
              <a:rPr lang="en-GB" dirty="0"/>
              <a:t>Click to edit text or click on an icon below to add table / chart / media</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3090730F-D896-DB4E-A061-3270DD54C84F}"/>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E9112E25-1A50-7747-BBAF-12C1FA97556E}"/>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
        <p:nvSpPr>
          <p:cNvPr id="8" name="Content Placeholder 19">
            <a:extLst>
              <a:ext uri="{FF2B5EF4-FFF2-40B4-BE49-F238E27FC236}">
                <a16:creationId xmlns:a16="http://schemas.microsoft.com/office/drawing/2014/main" id="{9B0B6B36-26FB-1F40-B194-6C75300E0886}"/>
              </a:ext>
            </a:extLst>
          </p:cNvPr>
          <p:cNvSpPr>
            <a:spLocks noGrp="1"/>
          </p:cNvSpPr>
          <p:nvPr>
            <p:ph idx="36" hasCustomPrompt="1"/>
          </p:nvPr>
        </p:nvSpPr>
        <p:spPr>
          <a:xfrm>
            <a:off x="7963199" y="1422000"/>
            <a:ext cx="3509999" cy="4852800"/>
          </a:xfrm>
          <a:custGeom>
            <a:avLst/>
            <a:gdLst>
              <a:gd name="connsiteX0" fmla="*/ 0 w 3509999"/>
              <a:gd name="connsiteY0" fmla="*/ 0 h 4852800"/>
              <a:gd name="connsiteX1" fmla="*/ 899999 w 3509999"/>
              <a:gd name="connsiteY1" fmla="*/ 0 h 4852800"/>
              <a:gd name="connsiteX2" fmla="*/ 2367688 w 3509999"/>
              <a:gd name="connsiteY2" fmla="*/ 0 h 4852800"/>
              <a:gd name="connsiteX3" fmla="*/ 3267687 w 3509999"/>
              <a:gd name="connsiteY3" fmla="*/ 0 h 4852800"/>
              <a:gd name="connsiteX4" fmla="*/ 3509999 w 3509999"/>
              <a:gd name="connsiteY4" fmla="*/ 242312 h 4852800"/>
              <a:gd name="connsiteX5" fmla="*/ 3509999 w 3509999"/>
              <a:gd name="connsiteY5" fmla="*/ 4852800 h 4852800"/>
              <a:gd name="connsiteX6" fmla="*/ 2610000 w 3509999"/>
              <a:gd name="connsiteY6" fmla="*/ 4852800 h 4852800"/>
              <a:gd name="connsiteX7" fmla="*/ 899999 w 3509999"/>
              <a:gd name="connsiteY7" fmla="*/ 4852800 h 4852800"/>
              <a:gd name="connsiteX8" fmla="*/ 0 w 3509999"/>
              <a:gd name="connsiteY8"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9999" h="4852800">
                <a:moveTo>
                  <a:pt x="0" y="0"/>
                </a:moveTo>
                <a:lnTo>
                  <a:pt x="899999" y="0"/>
                </a:lnTo>
                <a:lnTo>
                  <a:pt x="2367688" y="0"/>
                </a:lnTo>
                <a:lnTo>
                  <a:pt x="3267687" y="0"/>
                </a:lnTo>
                <a:lnTo>
                  <a:pt x="3509999" y="242312"/>
                </a:lnTo>
                <a:lnTo>
                  <a:pt x="3509999" y="4852800"/>
                </a:lnTo>
                <a:lnTo>
                  <a:pt x="2610000" y="4852800"/>
                </a:lnTo>
                <a:lnTo>
                  <a:pt x="899999" y="4852800"/>
                </a:lnTo>
                <a:lnTo>
                  <a:pt x="0" y="4852800"/>
                </a:lnTo>
                <a:close/>
              </a:path>
            </a:pathLst>
          </a:custGeom>
          <a:ln>
            <a:solidFill>
              <a:srgbClr val="001A41"/>
            </a:solidFill>
          </a:ln>
        </p:spPr>
        <p:txBody>
          <a:bodyPr vert="horz" lIns="180000" tIns="144000" rIns="180000" bIns="144000" rtlCol="0">
            <a:noAutofit/>
          </a:bodyPr>
          <a:lstStyle>
            <a:lvl1pPr>
              <a:defRPr lang="en-GB" dirty="0">
                <a:solidFill>
                  <a:srgbClr val="001A41"/>
                </a:solidFill>
                <a:latin typeface="+mn-lt"/>
              </a:defRPr>
            </a:lvl1pPr>
            <a:lvl2pPr>
              <a:defRPr lang="en-GB" dirty="0">
                <a:solidFill>
                  <a:srgbClr val="001A41"/>
                </a:solidFill>
                <a:latin typeface="+mn-lt"/>
              </a:defRPr>
            </a:lvl2pPr>
            <a:lvl3pPr>
              <a:defRPr lang="en-GB" dirty="0">
                <a:solidFill>
                  <a:srgbClr val="001A41"/>
                </a:solidFill>
                <a:latin typeface="+mn-lt"/>
              </a:defRPr>
            </a:lvl3pPr>
            <a:lvl4pPr>
              <a:defRPr lang="en-GB" dirty="0">
                <a:solidFill>
                  <a:srgbClr val="001A41"/>
                </a:solidFill>
                <a:latin typeface="+mn-lt"/>
              </a:defRPr>
            </a:lvl4pPr>
            <a:lvl5pPr>
              <a:defRPr lang="en-GB" dirty="0">
                <a:solidFill>
                  <a:srgbClr val="001A41"/>
                </a:solidFill>
                <a:latin typeface="+mn-lt"/>
              </a:defRPr>
            </a:lvl5pPr>
          </a:lstStyle>
          <a:p>
            <a:pPr marL="179388" lvl="0" indent="-179388"/>
            <a:r>
              <a:rPr lang="en-GB" dirty="0"/>
              <a:t>Key information box</a:t>
            </a:r>
          </a:p>
          <a:p>
            <a:pPr lvl="1"/>
            <a:r>
              <a:rPr lang="en-GB" dirty="0"/>
              <a:t>Second level</a:t>
            </a:r>
          </a:p>
          <a:p>
            <a:pPr lvl="2"/>
            <a:r>
              <a:rPr lang="en-GB" dirty="0"/>
              <a:t>Third level</a:t>
            </a:r>
          </a:p>
          <a:p>
            <a:pPr lvl="3"/>
            <a:r>
              <a:rPr lang="en-GB" dirty="0"/>
              <a:t>Fourth level</a:t>
            </a:r>
          </a:p>
          <a:p>
            <a:pPr marL="1474788" lvl="4"/>
            <a:r>
              <a:rPr lang="en-GB" dirty="0"/>
              <a:t>Fifth level</a:t>
            </a:r>
          </a:p>
        </p:txBody>
      </p:sp>
      <p:sp>
        <p:nvSpPr>
          <p:cNvPr id="10" name="Text Placeholder 7">
            <a:extLst>
              <a:ext uri="{FF2B5EF4-FFF2-40B4-BE49-F238E27FC236}">
                <a16:creationId xmlns:a16="http://schemas.microsoft.com/office/drawing/2014/main" id="{457258AF-0E98-5543-BB6F-696EA2079DB7}"/>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306171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9B39A8B-FFC3-764B-9D5E-2C0E2889305F}"/>
              </a:ext>
            </a:extLst>
          </p:cNvPr>
          <p:cNvSpPr>
            <a:spLocks noGrp="1"/>
          </p:cNvSpPr>
          <p:nvPr>
            <p:ph type="pic" sz="quarter" idx="13"/>
          </p:nvPr>
        </p:nvSpPr>
        <p:spPr>
          <a:xfrm>
            <a:off x="721062" y="1422400"/>
            <a:ext cx="10752138" cy="4852988"/>
          </a:xfrm>
        </p:spPr>
        <p:txBody>
          <a:bodyPr lIns="180000" tIns="144000" rIns="180000" bIns="144000"/>
          <a:lstStyle>
            <a:lvl1pPr marL="0" indent="0">
              <a:buNone/>
              <a:defRPr>
                <a:solidFill>
                  <a:srgbClr val="001A41"/>
                </a:solidFill>
              </a:defRPr>
            </a:lvl1pPr>
          </a:lstStyle>
          <a:p>
            <a:endParaRPr lang="en-GB" dirty="0"/>
          </a:p>
        </p:txBody>
      </p:sp>
      <p:sp>
        <p:nvSpPr>
          <p:cNvPr id="2" name="Title 1">
            <a:extLst>
              <a:ext uri="{FF2B5EF4-FFF2-40B4-BE49-F238E27FC236}">
                <a16:creationId xmlns:a16="http://schemas.microsoft.com/office/drawing/2014/main" id="{1B1CF136-49AE-0C45-ABE5-610F2497F66A}"/>
              </a:ext>
            </a:extLst>
          </p:cNvPr>
          <p:cNvSpPr>
            <a:spLocks noGrp="1"/>
          </p:cNvSpPr>
          <p:nvPr>
            <p:ph type="title"/>
          </p:nvPr>
        </p:nvSpPr>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5" name="Footer Placeholder 4">
            <a:extLst>
              <a:ext uri="{FF2B5EF4-FFF2-40B4-BE49-F238E27FC236}">
                <a16:creationId xmlns:a16="http://schemas.microsoft.com/office/drawing/2014/main" id="{3090730F-D896-DB4E-A061-3270DD54C84F}"/>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E9112E25-1A50-7747-BBAF-12C1FA97556E}"/>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
        <p:nvSpPr>
          <p:cNvPr id="3" name="Text Placeholder 7">
            <a:extLst>
              <a:ext uri="{FF2B5EF4-FFF2-40B4-BE49-F238E27FC236}">
                <a16:creationId xmlns:a16="http://schemas.microsoft.com/office/drawing/2014/main" id="{48BDF538-5DDD-87D3-ED76-F92F2DF9F16C}"/>
              </a:ext>
            </a:extLst>
          </p:cNvPr>
          <p:cNvSpPr>
            <a:spLocks noGrp="1"/>
          </p:cNvSpPr>
          <p:nvPr>
            <p:ph type="body" sz="quarter" idx="14"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3500356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
        <p:nvSpPr>
          <p:cNvPr id="3" name="Text Placeholder 7">
            <a:extLst>
              <a:ext uri="{FF2B5EF4-FFF2-40B4-BE49-F238E27FC236}">
                <a16:creationId xmlns:a16="http://schemas.microsoft.com/office/drawing/2014/main" id="{85FDC00C-6BDB-05D0-3AF8-FF177045207A}"/>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2063755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1 (Printer friend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aphic 6">
            <a:extLst>
              <a:ext uri="{FF2B5EF4-FFF2-40B4-BE49-F238E27FC236}">
                <a16:creationId xmlns:a16="http://schemas.microsoft.com/office/drawing/2014/main" id="{C2806D6B-799A-553E-A4E4-1BADE49B6420}"/>
              </a:ext>
            </a:extLst>
          </p:cNvPr>
          <p:cNvGrpSpPr/>
          <p:nvPr userDrawn="1"/>
        </p:nvGrpSpPr>
        <p:grpSpPr>
          <a:xfrm>
            <a:off x="728819" y="720451"/>
            <a:ext cx="1613571" cy="311368"/>
            <a:chOff x="728819" y="720451"/>
            <a:chExt cx="1613571" cy="311368"/>
          </a:xfrm>
        </p:grpSpPr>
        <p:sp>
          <p:nvSpPr>
            <p:cNvPr id="7" name="Freeform 6">
              <a:extLst>
                <a:ext uri="{FF2B5EF4-FFF2-40B4-BE49-F238E27FC236}">
                  <a16:creationId xmlns:a16="http://schemas.microsoft.com/office/drawing/2014/main" id="{27121C3E-858E-D2CD-222D-7B40ECC3EBED}"/>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5 h 267157"/>
                <a:gd name="connsiteX5" fmla="*/ 96429 w 1240714"/>
                <a:gd name="connsiteY5" fmla="*/ 128211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3 h 267157"/>
                <a:gd name="connsiteX20" fmla="*/ 331071 w 1240714"/>
                <a:gd name="connsiteY20" fmla="*/ 163579 h 267157"/>
                <a:gd name="connsiteX21" fmla="*/ 374143 w 1240714"/>
                <a:gd name="connsiteY21" fmla="*/ 163579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8 h 267157"/>
                <a:gd name="connsiteX39" fmla="*/ 933428 w 1240714"/>
                <a:gd name="connsiteY39" fmla="*/ 267158 h 267157"/>
                <a:gd name="connsiteX40" fmla="*/ 933428 w 1240714"/>
                <a:gd name="connsiteY40" fmla="*/ 201474 h 267157"/>
                <a:gd name="connsiteX41" fmla="*/ 984857 w 1240714"/>
                <a:gd name="connsiteY41" fmla="*/ 219158 h 267157"/>
                <a:gd name="connsiteX42" fmla="*/ 1067786 w 1240714"/>
                <a:gd name="connsiteY42" fmla="*/ 135789 h 267157"/>
                <a:gd name="connsiteX43" fmla="*/ 984857 w 1240714"/>
                <a:gd name="connsiteY43" fmla="*/ 51789 h 267157"/>
                <a:gd name="connsiteX44" fmla="*/ 980357 w 1240714"/>
                <a:gd name="connsiteY44" fmla="*/ 185053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3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8 h 267157"/>
                <a:gd name="connsiteX53" fmla="*/ 841500 w 1240714"/>
                <a:gd name="connsiteY53" fmla="*/ 201474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3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3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4 h 267157"/>
                <a:gd name="connsiteX69" fmla="*/ 1194429 w 1240714"/>
                <a:gd name="connsiteY69" fmla="*/ 165474 h 267157"/>
                <a:gd name="connsiteX70" fmla="*/ 1157786 w 1240714"/>
                <a:gd name="connsiteY70" fmla="*/ 185684 h 267157"/>
                <a:gd name="connsiteX71" fmla="*/ 1113428 w 1240714"/>
                <a:gd name="connsiteY71" fmla="*/ 153474 h 267157"/>
                <a:gd name="connsiteX72" fmla="*/ 1238143 w 1240714"/>
                <a:gd name="connsiteY72" fmla="*/ 153474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3 h 267157"/>
                <a:gd name="connsiteX80" fmla="*/ 656357 w 1240714"/>
                <a:gd name="connsiteY80" fmla="*/ 163579 h 267157"/>
                <a:gd name="connsiteX81" fmla="*/ 699428 w 1240714"/>
                <a:gd name="connsiteY81" fmla="*/ 163579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2 h 267157"/>
                <a:gd name="connsiteX93" fmla="*/ 453857 w 1240714"/>
                <a:gd name="connsiteY93" fmla="*/ 86526 h 267157"/>
                <a:gd name="connsiteX94" fmla="*/ 421714 w 1240714"/>
                <a:gd name="connsiteY94" fmla="*/ 133263 h 267157"/>
                <a:gd name="connsiteX95" fmla="*/ 421714 w 1240714"/>
                <a:gd name="connsiteY95" fmla="*/ 214737 h 267157"/>
                <a:gd name="connsiteX96" fmla="*/ 383143 w 1240714"/>
                <a:gd name="connsiteY96" fmla="*/ 214737 h 267157"/>
                <a:gd name="connsiteX97" fmla="*/ 383143 w 1240714"/>
                <a:gd name="connsiteY97" fmla="*/ 5053 h 267157"/>
                <a:gd name="connsiteX98" fmla="*/ 421714 w 1240714"/>
                <a:gd name="connsiteY98" fmla="*/ 5053 h 267157"/>
                <a:gd name="connsiteX99" fmla="*/ 421714 w 1240714"/>
                <a:gd name="connsiteY99" fmla="*/ 68211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5"/>
                    <a:pt x="129857" y="85895"/>
                  </a:cubicBezTo>
                  <a:cubicBezTo>
                    <a:pt x="118286" y="85895"/>
                    <a:pt x="96429" y="93474"/>
                    <a:pt x="96429" y="128211"/>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9"/>
                    <a:pt x="268071" y="185053"/>
                    <a:pt x="295714" y="185053"/>
                  </a:cubicBezTo>
                  <a:cubicBezTo>
                    <a:pt x="311786" y="185053"/>
                    <a:pt x="323357" y="176211"/>
                    <a:pt x="331071" y="163579"/>
                  </a:cubicBezTo>
                  <a:lnTo>
                    <a:pt x="374143" y="163579"/>
                  </a:lnTo>
                  <a:cubicBezTo>
                    <a:pt x="360643" y="199579"/>
                    <a:pt x="330429" y="219789"/>
                    <a:pt x="293786" y="219789"/>
                  </a:cubicBezTo>
                  <a:cubicBezTo>
                    <a:pt x="246857" y="219789"/>
                    <a:pt x="208929" y="181895"/>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8"/>
                  </a:lnTo>
                  <a:lnTo>
                    <a:pt x="933428" y="267158"/>
                  </a:lnTo>
                  <a:lnTo>
                    <a:pt x="933428" y="201474"/>
                  </a:lnTo>
                  <a:cubicBezTo>
                    <a:pt x="947571" y="212842"/>
                    <a:pt x="964928" y="219158"/>
                    <a:pt x="984857" y="219158"/>
                  </a:cubicBezTo>
                  <a:cubicBezTo>
                    <a:pt x="1030500" y="219158"/>
                    <a:pt x="1067786" y="180632"/>
                    <a:pt x="1067786" y="135789"/>
                  </a:cubicBezTo>
                  <a:cubicBezTo>
                    <a:pt x="1067786" y="90316"/>
                    <a:pt x="1031786" y="51789"/>
                    <a:pt x="984857" y="51789"/>
                  </a:cubicBezTo>
                  <a:close/>
                  <a:moveTo>
                    <a:pt x="980357" y="185053"/>
                  </a:moveTo>
                  <a:cubicBezTo>
                    <a:pt x="952071" y="185053"/>
                    <a:pt x="931500" y="162316"/>
                    <a:pt x="931500" y="136421"/>
                  </a:cubicBezTo>
                  <a:cubicBezTo>
                    <a:pt x="931500" y="110526"/>
                    <a:pt x="952071" y="86526"/>
                    <a:pt x="981000" y="86526"/>
                  </a:cubicBezTo>
                  <a:cubicBezTo>
                    <a:pt x="1008000" y="86526"/>
                    <a:pt x="1030500" y="109895"/>
                    <a:pt x="1030500" y="135789"/>
                  </a:cubicBezTo>
                  <a:cubicBezTo>
                    <a:pt x="1029857" y="162316"/>
                    <a:pt x="1009286" y="185053"/>
                    <a:pt x="980357" y="185053"/>
                  </a:cubicBezTo>
                  <a:close/>
                  <a:moveTo>
                    <a:pt x="841500" y="70105"/>
                  </a:moveTo>
                  <a:cubicBezTo>
                    <a:pt x="827357" y="58737"/>
                    <a:pt x="810000" y="51789"/>
                    <a:pt x="790071" y="51789"/>
                  </a:cubicBezTo>
                  <a:cubicBezTo>
                    <a:pt x="743143" y="51789"/>
                    <a:pt x="707143" y="90316"/>
                    <a:pt x="707143" y="135789"/>
                  </a:cubicBezTo>
                  <a:cubicBezTo>
                    <a:pt x="707143" y="181263"/>
                    <a:pt x="744428" y="219158"/>
                    <a:pt x="790071" y="219158"/>
                  </a:cubicBezTo>
                  <a:cubicBezTo>
                    <a:pt x="810000" y="219158"/>
                    <a:pt x="828000" y="212842"/>
                    <a:pt x="841500" y="201474"/>
                  </a:cubicBezTo>
                  <a:lnTo>
                    <a:pt x="841500" y="214105"/>
                  </a:lnTo>
                  <a:lnTo>
                    <a:pt x="880714" y="214105"/>
                  </a:lnTo>
                  <a:lnTo>
                    <a:pt x="880714" y="56842"/>
                  </a:lnTo>
                  <a:lnTo>
                    <a:pt x="841500" y="56842"/>
                  </a:lnTo>
                  <a:lnTo>
                    <a:pt x="841500" y="70105"/>
                  </a:lnTo>
                  <a:close/>
                  <a:moveTo>
                    <a:pt x="793928" y="185053"/>
                  </a:moveTo>
                  <a:cubicBezTo>
                    <a:pt x="765000" y="185053"/>
                    <a:pt x="744428" y="162316"/>
                    <a:pt x="744428" y="135789"/>
                  </a:cubicBezTo>
                  <a:cubicBezTo>
                    <a:pt x="744428" y="109263"/>
                    <a:pt x="766286" y="86526"/>
                    <a:pt x="793928" y="86526"/>
                  </a:cubicBezTo>
                  <a:cubicBezTo>
                    <a:pt x="822214" y="86526"/>
                    <a:pt x="843429" y="110526"/>
                    <a:pt x="843429" y="136421"/>
                  </a:cubicBezTo>
                  <a:cubicBezTo>
                    <a:pt x="842786" y="162316"/>
                    <a:pt x="822857" y="185053"/>
                    <a:pt x="793928" y="185053"/>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3"/>
                    <a:pt x="1234928" y="165474"/>
                  </a:cubicBezTo>
                  <a:lnTo>
                    <a:pt x="1194429" y="165474"/>
                  </a:lnTo>
                  <a:cubicBezTo>
                    <a:pt x="1186714" y="179368"/>
                    <a:pt x="1173214" y="185684"/>
                    <a:pt x="1157786" y="185684"/>
                  </a:cubicBezTo>
                  <a:cubicBezTo>
                    <a:pt x="1134000" y="185684"/>
                    <a:pt x="1116643" y="167368"/>
                    <a:pt x="1113428" y="153474"/>
                  </a:cubicBezTo>
                  <a:lnTo>
                    <a:pt x="1238143" y="153474"/>
                  </a:lnTo>
                  <a:cubicBezTo>
                    <a:pt x="1240071" y="145895"/>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9"/>
                    <a:pt x="593357" y="185053"/>
                    <a:pt x="621000" y="185053"/>
                  </a:cubicBezTo>
                  <a:cubicBezTo>
                    <a:pt x="637071" y="185053"/>
                    <a:pt x="648643" y="176211"/>
                    <a:pt x="656357" y="163579"/>
                  </a:cubicBezTo>
                  <a:lnTo>
                    <a:pt x="699428" y="163579"/>
                  </a:lnTo>
                  <a:cubicBezTo>
                    <a:pt x="685929" y="199579"/>
                    <a:pt x="655714" y="219789"/>
                    <a:pt x="619071" y="219789"/>
                  </a:cubicBezTo>
                  <a:cubicBezTo>
                    <a:pt x="572143" y="219789"/>
                    <a:pt x="534214" y="181895"/>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2"/>
                  </a:lnTo>
                  <a:cubicBezTo>
                    <a:pt x="486643" y="99789"/>
                    <a:pt x="475714" y="86526"/>
                    <a:pt x="453857" y="86526"/>
                  </a:cubicBezTo>
                  <a:cubicBezTo>
                    <a:pt x="432000" y="86526"/>
                    <a:pt x="421714" y="101684"/>
                    <a:pt x="421714" y="133263"/>
                  </a:cubicBezTo>
                  <a:lnTo>
                    <a:pt x="421714" y="214737"/>
                  </a:lnTo>
                  <a:lnTo>
                    <a:pt x="383143" y="214737"/>
                  </a:lnTo>
                  <a:lnTo>
                    <a:pt x="383143" y="5053"/>
                  </a:lnTo>
                  <a:lnTo>
                    <a:pt x="421714" y="5053"/>
                  </a:lnTo>
                  <a:lnTo>
                    <a:pt x="421714" y="68211"/>
                  </a:lnTo>
                  <a:cubicBezTo>
                    <a:pt x="433286" y="57474"/>
                    <a:pt x="446786" y="51789"/>
                    <a:pt x="463500" y="51789"/>
                  </a:cubicBezTo>
                  <a:cubicBezTo>
                    <a:pt x="482786" y="51789"/>
                    <a:pt x="525214" y="65053"/>
                    <a:pt x="525214" y="118105"/>
                  </a:cubicBezTo>
                  <a:close/>
                </a:path>
              </a:pathLst>
            </a:custGeom>
            <a:solidFill>
              <a:srgbClr val="001A41"/>
            </a:solidFill>
            <a:ln w="6406"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F99F65AB-B83D-855E-4D2C-0050C59462AF}"/>
                </a:ext>
              </a:extLst>
            </p:cNvPr>
            <p:cNvSpPr/>
            <p:nvPr/>
          </p:nvSpPr>
          <p:spPr>
            <a:xfrm>
              <a:off x="728819" y="720451"/>
              <a:ext cx="314999" cy="308842"/>
            </a:xfrm>
            <a:custGeom>
              <a:avLst/>
              <a:gdLst>
                <a:gd name="connsiteX0" fmla="*/ 315000 w 314999"/>
                <a:gd name="connsiteY0" fmla="*/ 154737 h 308842"/>
                <a:gd name="connsiteX1" fmla="*/ 157500 w 314999"/>
                <a:gd name="connsiteY1" fmla="*/ 0 h 308842"/>
                <a:gd name="connsiteX2" fmla="*/ 0 w 314999"/>
                <a:gd name="connsiteY2" fmla="*/ 154737 h 308842"/>
                <a:gd name="connsiteX3" fmla="*/ 147857 w 314999"/>
                <a:gd name="connsiteY3" fmla="*/ 308842 h 308842"/>
                <a:gd name="connsiteX4" fmla="*/ 211500 w 314999"/>
                <a:gd name="connsiteY4" fmla="*/ 176842 h 308842"/>
                <a:gd name="connsiteX5" fmla="*/ 190929 w 314999"/>
                <a:gd name="connsiteY5" fmla="*/ 98526 h 308842"/>
                <a:gd name="connsiteX6" fmla="*/ 246857 w 314999"/>
                <a:gd name="connsiteY6" fmla="*/ 79579 h 308842"/>
                <a:gd name="connsiteX7" fmla="*/ 291214 w 314999"/>
                <a:gd name="connsiteY7" fmla="*/ 171789 h 308842"/>
                <a:gd name="connsiteX8" fmla="*/ 288643 w 314999"/>
                <a:gd name="connsiteY8" fmla="*/ 240632 h 308842"/>
                <a:gd name="connsiteX9" fmla="*/ 315000 w 314999"/>
                <a:gd name="connsiteY9" fmla="*/ 154737 h 308842"/>
                <a:gd name="connsiteX10" fmla="*/ 175500 w 314999"/>
                <a:gd name="connsiteY10" fmla="*/ 73895 h 308842"/>
                <a:gd name="connsiteX11" fmla="*/ 122786 w 314999"/>
                <a:gd name="connsiteY11" fmla="*/ 27158 h 308842"/>
                <a:gd name="connsiteX12" fmla="*/ 222429 w 314999"/>
                <a:gd name="connsiteY12" fmla="*/ 58105 h 308842"/>
                <a:gd name="connsiteX13" fmla="*/ 175500 w 314999"/>
                <a:gd name="connsiteY13" fmla="*/ 73895 h 30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2">
                  <a:moveTo>
                    <a:pt x="315000" y="154737"/>
                  </a:moveTo>
                  <a:cubicBezTo>
                    <a:pt x="315000" y="69474"/>
                    <a:pt x="244286" y="0"/>
                    <a:pt x="157500" y="0"/>
                  </a:cubicBezTo>
                  <a:cubicBezTo>
                    <a:pt x="70714" y="0"/>
                    <a:pt x="0" y="69474"/>
                    <a:pt x="0" y="154737"/>
                  </a:cubicBezTo>
                  <a:cubicBezTo>
                    <a:pt x="0" y="236842"/>
                    <a:pt x="65571" y="304421"/>
                    <a:pt x="147857" y="308842"/>
                  </a:cubicBezTo>
                  <a:cubicBezTo>
                    <a:pt x="163286" y="296211"/>
                    <a:pt x="211500" y="250737"/>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1"/>
                    <a:pt x="288643" y="240632"/>
                  </a:cubicBezTo>
                  <a:cubicBezTo>
                    <a:pt x="305357" y="216000"/>
                    <a:pt x="315000" y="186316"/>
                    <a:pt x="315000" y="154737"/>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19BEE7"/>
            </a:solidFill>
            <a:ln w="6406" cap="flat">
              <a:noFill/>
              <a:prstDash val="solid"/>
              <a:miter/>
            </a:ln>
          </p:spPr>
          <p:txBody>
            <a:bodyPr rtlCol="0" anchor="ctr"/>
            <a:lstStyle/>
            <a:p>
              <a:endParaRPr lang="en-US"/>
            </a:p>
          </p:txBody>
        </p:sp>
      </p:grpSp>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sp>
        <p:nvSpPr>
          <p:cNvPr id="2" name="Text Placeholder 2">
            <a:extLst>
              <a:ext uri="{FF2B5EF4-FFF2-40B4-BE49-F238E27FC236}">
                <a16:creationId xmlns:a16="http://schemas.microsoft.com/office/drawing/2014/main" id="{502F0B2A-D9CF-8BD0-8B21-B563B38F9F60}"/>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Tree>
    <p:extLst>
      <p:ext uri="{BB962C8B-B14F-4D97-AF65-F5344CB8AC3E}">
        <p14:creationId xmlns:p14="http://schemas.microsoft.com/office/powerpoint/2010/main" val="1773501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27A4D11A-9074-A6F8-6BBB-FEC97759B49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16962" y="697083"/>
            <a:ext cx="1825714" cy="359999"/>
          </a:xfrm>
          <a:prstGeom prst="rect">
            <a:avLst/>
          </a:prstGeom>
        </p:spPr>
      </p:pic>
      <p:sp>
        <p:nvSpPr>
          <p:cNvPr id="9" name="Text Placeholder 2">
            <a:extLst>
              <a:ext uri="{FF2B5EF4-FFF2-40B4-BE49-F238E27FC236}">
                <a16:creationId xmlns:a16="http://schemas.microsoft.com/office/drawing/2014/main" id="{9F5CDF7D-8C85-A682-1A40-F961F3F9C33B}"/>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Tree>
    <p:extLst>
      <p:ext uri="{BB962C8B-B14F-4D97-AF65-F5344CB8AC3E}">
        <p14:creationId xmlns:p14="http://schemas.microsoft.com/office/powerpoint/2010/main" val="4096205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8C42BA9B-DD36-F523-20AB-77A46E2D6AD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16962" y="697083"/>
            <a:ext cx="1825714" cy="359999"/>
          </a:xfrm>
          <a:prstGeom prst="rect">
            <a:avLst/>
          </a:prstGeom>
        </p:spPr>
      </p:pic>
      <p:sp>
        <p:nvSpPr>
          <p:cNvPr id="2" name="Text Placeholder 2">
            <a:extLst>
              <a:ext uri="{FF2B5EF4-FFF2-40B4-BE49-F238E27FC236}">
                <a16:creationId xmlns:a16="http://schemas.microsoft.com/office/drawing/2014/main" id="{502F0B2A-D9CF-8BD0-8B21-B563B38F9F60}"/>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Tree>
    <p:extLst>
      <p:ext uri="{BB962C8B-B14F-4D97-AF65-F5344CB8AC3E}">
        <p14:creationId xmlns:p14="http://schemas.microsoft.com/office/powerpoint/2010/main" val="41978107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grpSp>
        <p:nvGrpSpPr>
          <p:cNvPr id="10" name="Graphic 2">
            <a:extLst>
              <a:ext uri="{FF2B5EF4-FFF2-40B4-BE49-F238E27FC236}">
                <a16:creationId xmlns:a16="http://schemas.microsoft.com/office/drawing/2014/main" id="{447D2E7B-D9CE-9BE6-6B8C-42B08D589289}"/>
              </a:ext>
            </a:extLst>
          </p:cNvPr>
          <p:cNvGrpSpPr/>
          <p:nvPr userDrawn="1"/>
        </p:nvGrpSpPr>
        <p:grpSpPr>
          <a:xfrm>
            <a:off x="728819" y="720451"/>
            <a:ext cx="1613571" cy="311367"/>
            <a:chOff x="728819" y="720451"/>
            <a:chExt cx="1613571" cy="311367"/>
          </a:xfrm>
        </p:grpSpPr>
        <p:sp>
          <p:nvSpPr>
            <p:cNvPr id="12" name="Freeform 11">
              <a:extLst>
                <a:ext uri="{FF2B5EF4-FFF2-40B4-BE49-F238E27FC236}">
                  <a16:creationId xmlns:a16="http://schemas.microsoft.com/office/drawing/2014/main" id="{F39F666A-A4B0-5A9A-35CB-06986A1C0A65}"/>
                </a:ext>
              </a:extLst>
            </p:cNvPr>
            <p:cNvSpPr/>
            <p:nvPr/>
          </p:nvSpPr>
          <p:spPr>
            <a:xfrm>
              <a:off x="1101676" y="764661"/>
              <a:ext cx="1240714" cy="267157"/>
            </a:xfrm>
            <a:custGeom>
              <a:avLst/>
              <a:gdLst>
                <a:gd name="connsiteX0" fmla="*/ 200571 w 1240714"/>
                <a:gd name="connsiteY0" fmla="*/ 121263 h 267157"/>
                <a:gd name="connsiteX1" fmla="*/ 200571 w 1240714"/>
                <a:gd name="connsiteY1" fmla="*/ 214105 h 267157"/>
                <a:gd name="connsiteX2" fmla="*/ 162000 w 1240714"/>
                <a:gd name="connsiteY2" fmla="*/ 214105 h 267157"/>
                <a:gd name="connsiteX3" fmla="*/ 162000 w 1240714"/>
                <a:gd name="connsiteY3" fmla="*/ 135158 h 267157"/>
                <a:gd name="connsiteX4" fmla="*/ 129857 w 1240714"/>
                <a:gd name="connsiteY4" fmla="*/ 85894 h 267157"/>
                <a:gd name="connsiteX5" fmla="*/ 96429 w 1240714"/>
                <a:gd name="connsiteY5" fmla="*/ 128210 h 267157"/>
                <a:gd name="connsiteX6" fmla="*/ 96429 w 1240714"/>
                <a:gd name="connsiteY6" fmla="*/ 214105 h 267157"/>
                <a:gd name="connsiteX7" fmla="*/ 57857 w 1240714"/>
                <a:gd name="connsiteY7" fmla="*/ 214105 h 267157"/>
                <a:gd name="connsiteX8" fmla="*/ 57857 w 1240714"/>
                <a:gd name="connsiteY8" fmla="*/ 56842 h 267157"/>
                <a:gd name="connsiteX9" fmla="*/ 93857 w 1240714"/>
                <a:gd name="connsiteY9" fmla="*/ 56842 h 267157"/>
                <a:gd name="connsiteX10" fmla="*/ 93857 w 1240714"/>
                <a:gd name="connsiteY10" fmla="*/ 70737 h 267157"/>
                <a:gd name="connsiteX11" fmla="*/ 138214 w 1240714"/>
                <a:gd name="connsiteY11" fmla="*/ 51789 h 267157"/>
                <a:gd name="connsiteX12" fmla="*/ 200571 w 1240714"/>
                <a:gd name="connsiteY12" fmla="*/ 121263 h 267157"/>
                <a:gd name="connsiteX13" fmla="*/ 1286 w 1240714"/>
                <a:gd name="connsiteY13" fmla="*/ 56842 h 267157"/>
                <a:gd name="connsiteX14" fmla="*/ 40500 w 1240714"/>
                <a:gd name="connsiteY14" fmla="*/ 56842 h 267157"/>
                <a:gd name="connsiteX15" fmla="*/ 40500 w 1240714"/>
                <a:gd name="connsiteY15" fmla="*/ 214105 h 267157"/>
                <a:gd name="connsiteX16" fmla="*/ 1286 w 1240714"/>
                <a:gd name="connsiteY16" fmla="*/ 214105 h 267157"/>
                <a:gd name="connsiteX17" fmla="*/ 1286 w 1240714"/>
                <a:gd name="connsiteY17" fmla="*/ 56842 h 267157"/>
                <a:gd name="connsiteX18" fmla="*/ 247500 w 1240714"/>
                <a:gd name="connsiteY18" fmla="*/ 135789 h 267157"/>
                <a:gd name="connsiteX19" fmla="*/ 295714 w 1240714"/>
                <a:gd name="connsiteY19" fmla="*/ 185052 h 267157"/>
                <a:gd name="connsiteX20" fmla="*/ 331071 w 1240714"/>
                <a:gd name="connsiteY20" fmla="*/ 163578 h 267157"/>
                <a:gd name="connsiteX21" fmla="*/ 374143 w 1240714"/>
                <a:gd name="connsiteY21" fmla="*/ 163578 h 267157"/>
                <a:gd name="connsiteX22" fmla="*/ 293786 w 1240714"/>
                <a:gd name="connsiteY22" fmla="*/ 219789 h 267157"/>
                <a:gd name="connsiteX23" fmla="*/ 208929 w 1240714"/>
                <a:gd name="connsiteY23" fmla="*/ 135158 h 267157"/>
                <a:gd name="connsiteX24" fmla="*/ 293786 w 1240714"/>
                <a:gd name="connsiteY24" fmla="*/ 51789 h 267157"/>
                <a:gd name="connsiteX25" fmla="*/ 374143 w 1240714"/>
                <a:gd name="connsiteY25" fmla="*/ 109263 h 267157"/>
                <a:gd name="connsiteX26" fmla="*/ 331071 w 1240714"/>
                <a:gd name="connsiteY26" fmla="*/ 109263 h 267157"/>
                <a:gd name="connsiteX27" fmla="*/ 293786 w 1240714"/>
                <a:gd name="connsiteY27" fmla="*/ 86526 h 267157"/>
                <a:gd name="connsiteX28" fmla="*/ 247500 w 1240714"/>
                <a:gd name="connsiteY28" fmla="*/ 135789 h 267157"/>
                <a:gd name="connsiteX29" fmla="*/ 43714 w 1240714"/>
                <a:gd name="connsiteY29" fmla="*/ 21474 h 267157"/>
                <a:gd name="connsiteX30" fmla="*/ 21857 w 1240714"/>
                <a:gd name="connsiteY30" fmla="*/ 42947 h 267157"/>
                <a:gd name="connsiteX31" fmla="*/ 0 w 1240714"/>
                <a:gd name="connsiteY31" fmla="*/ 21474 h 267157"/>
                <a:gd name="connsiteX32" fmla="*/ 21857 w 1240714"/>
                <a:gd name="connsiteY32" fmla="*/ 0 h 267157"/>
                <a:gd name="connsiteX33" fmla="*/ 43714 w 1240714"/>
                <a:gd name="connsiteY33" fmla="*/ 21474 h 267157"/>
                <a:gd name="connsiteX34" fmla="*/ 984857 w 1240714"/>
                <a:gd name="connsiteY34" fmla="*/ 51789 h 267157"/>
                <a:gd name="connsiteX35" fmla="*/ 933428 w 1240714"/>
                <a:gd name="connsiteY35" fmla="*/ 70105 h 267157"/>
                <a:gd name="connsiteX36" fmla="*/ 933428 w 1240714"/>
                <a:gd name="connsiteY36" fmla="*/ 57474 h 267157"/>
                <a:gd name="connsiteX37" fmla="*/ 894214 w 1240714"/>
                <a:gd name="connsiteY37" fmla="*/ 57474 h 267157"/>
                <a:gd name="connsiteX38" fmla="*/ 894214 w 1240714"/>
                <a:gd name="connsiteY38" fmla="*/ 267157 h 267157"/>
                <a:gd name="connsiteX39" fmla="*/ 933428 w 1240714"/>
                <a:gd name="connsiteY39" fmla="*/ 267157 h 267157"/>
                <a:gd name="connsiteX40" fmla="*/ 933428 w 1240714"/>
                <a:gd name="connsiteY40" fmla="*/ 201473 h 267157"/>
                <a:gd name="connsiteX41" fmla="*/ 984857 w 1240714"/>
                <a:gd name="connsiteY41" fmla="*/ 219157 h 267157"/>
                <a:gd name="connsiteX42" fmla="*/ 1067786 w 1240714"/>
                <a:gd name="connsiteY42" fmla="*/ 135789 h 267157"/>
                <a:gd name="connsiteX43" fmla="*/ 984857 w 1240714"/>
                <a:gd name="connsiteY43" fmla="*/ 51789 h 267157"/>
                <a:gd name="connsiteX44" fmla="*/ 980357 w 1240714"/>
                <a:gd name="connsiteY44" fmla="*/ 185052 h 267157"/>
                <a:gd name="connsiteX45" fmla="*/ 931500 w 1240714"/>
                <a:gd name="connsiteY45" fmla="*/ 136421 h 267157"/>
                <a:gd name="connsiteX46" fmla="*/ 981000 w 1240714"/>
                <a:gd name="connsiteY46" fmla="*/ 86526 h 267157"/>
                <a:gd name="connsiteX47" fmla="*/ 1030500 w 1240714"/>
                <a:gd name="connsiteY47" fmla="*/ 135789 h 267157"/>
                <a:gd name="connsiteX48" fmla="*/ 980357 w 1240714"/>
                <a:gd name="connsiteY48" fmla="*/ 185052 h 267157"/>
                <a:gd name="connsiteX49" fmla="*/ 841500 w 1240714"/>
                <a:gd name="connsiteY49" fmla="*/ 70105 h 267157"/>
                <a:gd name="connsiteX50" fmla="*/ 790071 w 1240714"/>
                <a:gd name="connsiteY50" fmla="*/ 51789 h 267157"/>
                <a:gd name="connsiteX51" fmla="*/ 707143 w 1240714"/>
                <a:gd name="connsiteY51" fmla="*/ 135789 h 267157"/>
                <a:gd name="connsiteX52" fmla="*/ 790071 w 1240714"/>
                <a:gd name="connsiteY52" fmla="*/ 219157 h 267157"/>
                <a:gd name="connsiteX53" fmla="*/ 841500 w 1240714"/>
                <a:gd name="connsiteY53" fmla="*/ 201473 h 267157"/>
                <a:gd name="connsiteX54" fmla="*/ 841500 w 1240714"/>
                <a:gd name="connsiteY54" fmla="*/ 214105 h 267157"/>
                <a:gd name="connsiteX55" fmla="*/ 880714 w 1240714"/>
                <a:gd name="connsiteY55" fmla="*/ 214105 h 267157"/>
                <a:gd name="connsiteX56" fmla="*/ 880714 w 1240714"/>
                <a:gd name="connsiteY56" fmla="*/ 56842 h 267157"/>
                <a:gd name="connsiteX57" fmla="*/ 841500 w 1240714"/>
                <a:gd name="connsiteY57" fmla="*/ 56842 h 267157"/>
                <a:gd name="connsiteX58" fmla="*/ 841500 w 1240714"/>
                <a:gd name="connsiteY58" fmla="*/ 70105 h 267157"/>
                <a:gd name="connsiteX59" fmla="*/ 793928 w 1240714"/>
                <a:gd name="connsiteY59" fmla="*/ 185052 h 267157"/>
                <a:gd name="connsiteX60" fmla="*/ 744428 w 1240714"/>
                <a:gd name="connsiteY60" fmla="*/ 135789 h 267157"/>
                <a:gd name="connsiteX61" fmla="*/ 793928 w 1240714"/>
                <a:gd name="connsiteY61" fmla="*/ 86526 h 267157"/>
                <a:gd name="connsiteX62" fmla="*/ 843429 w 1240714"/>
                <a:gd name="connsiteY62" fmla="*/ 136421 h 267157"/>
                <a:gd name="connsiteX63" fmla="*/ 793928 w 1240714"/>
                <a:gd name="connsiteY63" fmla="*/ 185052 h 267157"/>
                <a:gd name="connsiteX64" fmla="*/ 1240714 w 1240714"/>
                <a:gd name="connsiteY64" fmla="*/ 133263 h 267157"/>
                <a:gd name="connsiteX65" fmla="*/ 1157786 w 1240714"/>
                <a:gd name="connsiteY65" fmla="*/ 51789 h 267157"/>
                <a:gd name="connsiteX66" fmla="*/ 1073571 w 1240714"/>
                <a:gd name="connsiteY66" fmla="*/ 136421 h 267157"/>
                <a:gd name="connsiteX67" fmla="*/ 1157786 w 1240714"/>
                <a:gd name="connsiteY67" fmla="*/ 219789 h 267157"/>
                <a:gd name="connsiteX68" fmla="*/ 1234928 w 1240714"/>
                <a:gd name="connsiteY68" fmla="*/ 165473 h 267157"/>
                <a:gd name="connsiteX69" fmla="*/ 1194429 w 1240714"/>
                <a:gd name="connsiteY69" fmla="*/ 165473 h 267157"/>
                <a:gd name="connsiteX70" fmla="*/ 1157786 w 1240714"/>
                <a:gd name="connsiteY70" fmla="*/ 185684 h 267157"/>
                <a:gd name="connsiteX71" fmla="*/ 1113428 w 1240714"/>
                <a:gd name="connsiteY71" fmla="*/ 153473 h 267157"/>
                <a:gd name="connsiteX72" fmla="*/ 1238143 w 1240714"/>
                <a:gd name="connsiteY72" fmla="*/ 153473 h 267157"/>
                <a:gd name="connsiteX73" fmla="*/ 1240714 w 1240714"/>
                <a:gd name="connsiteY73" fmla="*/ 133263 h 267157"/>
                <a:gd name="connsiteX74" fmla="*/ 1113428 w 1240714"/>
                <a:gd name="connsiteY74" fmla="*/ 122526 h 267157"/>
                <a:gd name="connsiteX75" fmla="*/ 1158428 w 1240714"/>
                <a:gd name="connsiteY75" fmla="*/ 86526 h 267157"/>
                <a:gd name="connsiteX76" fmla="*/ 1202143 w 1240714"/>
                <a:gd name="connsiteY76" fmla="*/ 122526 h 267157"/>
                <a:gd name="connsiteX77" fmla="*/ 1113428 w 1240714"/>
                <a:gd name="connsiteY77" fmla="*/ 122526 h 267157"/>
                <a:gd name="connsiteX78" fmla="*/ 572786 w 1240714"/>
                <a:gd name="connsiteY78" fmla="*/ 135789 h 267157"/>
                <a:gd name="connsiteX79" fmla="*/ 621000 w 1240714"/>
                <a:gd name="connsiteY79" fmla="*/ 185052 h 267157"/>
                <a:gd name="connsiteX80" fmla="*/ 656357 w 1240714"/>
                <a:gd name="connsiteY80" fmla="*/ 163578 h 267157"/>
                <a:gd name="connsiteX81" fmla="*/ 699428 w 1240714"/>
                <a:gd name="connsiteY81" fmla="*/ 163578 h 267157"/>
                <a:gd name="connsiteX82" fmla="*/ 619071 w 1240714"/>
                <a:gd name="connsiteY82" fmla="*/ 219789 h 267157"/>
                <a:gd name="connsiteX83" fmla="*/ 534214 w 1240714"/>
                <a:gd name="connsiteY83" fmla="*/ 135158 h 267157"/>
                <a:gd name="connsiteX84" fmla="*/ 619071 w 1240714"/>
                <a:gd name="connsiteY84" fmla="*/ 51789 h 267157"/>
                <a:gd name="connsiteX85" fmla="*/ 699428 w 1240714"/>
                <a:gd name="connsiteY85" fmla="*/ 109263 h 267157"/>
                <a:gd name="connsiteX86" fmla="*/ 656357 w 1240714"/>
                <a:gd name="connsiteY86" fmla="*/ 109263 h 267157"/>
                <a:gd name="connsiteX87" fmla="*/ 619071 w 1240714"/>
                <a:gd name="connsiteY87" fmla="*/ 86526 h 267157"/>
                <a:gd name="connsiteX88" fmla="*/ 572786 w 1240714"/>
                <a:gd name="connsiteY88" fmla="*/ 135789 h 267157"/>
                <a:gd name="connsiteX89" fmla="*/ 525214 w 1240714"/>
                <a:gd name="connsiteY89" fmla="*/ 118105 h 267157"/>
                <a:gd name="connsiteX90" fmla="*/ 525214 w 1240714"/>
                <a:gd name="connsiteY90" fmla="*/ 214105 h 267157"/>
                <a:gd name="connsiteX91" fmla="*/ 486643 w 1240714"/>
                <a:gd name="connsiteY91" fmla="*/ 214105 h 267157"/>
                <a:gd name="connsiteX92" fmla="*/ 486643 w 1240714"/>
                <a:gd name="connsiteY92" fmla="*/ 132631 h 267157"/>
                <a:gd name="connsiteX93" fmla="*/ 453857 w 1240714"/>
                <a:gd name="connsiteY93" fmla="*/ 86526 h 267157"/>
                <a:gd name="connsiteX94" fmla="*/ 421714 w 1240714"/>
                <a:gd name="connsiteY94" fmla="*/ 133263 h 267157"/>
                <a:gd name="connsiteX95" fmla="*/ 421714 w 1240714"/>
                <a:gd name="connsiteY95" fmla="*/ 214736 h 267157"/>
                <a:gd name="connsiteX96" fmla="*/ 383143 w 1240714"/>
                <a:gd name="connsiteY96" fmla="*/ 214736 h 267157"/>
                <a:gd name="connsiteX97" fmla="*/ 383143 w 1240714"/>
                <a:gd name="connsiteY97" fmla="*/ 5053 h 267157"/>
                <a:gd name="connsiteX98" fmla="*/ 421714 w 1240714"/>
                <a:gd name="connsiteY98" fmla="*/ 5053 h 267157"/>
                <a:gd name="connsiteX99" fmla="*/ 421714 w 1240714"/>
                <a:gd name="connsiteY99" fmla="*/ 68210 h 267157"/>
                <a:gd name="connsiteX100" fmla="*/ 463500 w 1240714"/>
                <a:gd name="connsiteY100" fmla="*/ 51789 h 267157"/>
                <a:gd name="connsiteX101" fmla="*/ 525214 w 1240714"/>
                <a:gd name="connsiteY101" fmla="*/ 118105 h 26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0714" h="267157">
                  <a:moveTo>
                    <a:pt x="200571" y="121263"/>
                  </a:moveTo>
                  <a:lnTo>
                    <a:pt x="200571" y="214105"/>
                  </a:lnTo>
                  <a:lnTo>
                    <a:pt x="162000" y="214105"/>
                  </a:lnTo>
                  <a:lnTo>
                    <a:pt x="162000" y="135158"/>
                  </a:lnTo>
                  <a:cubicBezTo>
                    <a:pt x="162000" y="102947"/>
                    <a:pt x="151071" y="85894"/>
                    <a:pt x="129857" y="85894"/>
                  </a:cubicBezTo>
                  <a:cubicBezTo>
                    <a:pt x="118286" y="85894"/>
                    <a:pt x="96429" y="93473"/>
                    <a:pt x="96429" y="128210"/>
                  </a:cubicBezTo>
                  <a:lnTo>
                    <a:pt x="96429" y="214105"/>
                  </a:lnTo>
                  <a:lnTo>
                    <a:pt x="57857" y="214105"/>
                  </a:lnTo>
                  <a:lnTo>
                    <a:pt x="57857" y="56842"/>
                  </a:lnTo>
                  <a:lnTo>
                    <a:pt x="93857" y="56842"/>
                  </a:lnTo>
                  <a:lnTo>
                    <a:pt x="93857" y="70737"/>
                  </a:lnTo>
                  <a:cubicBezTo>
                    <a:pt x="106714" y="58737"/>
                    <a:pt x="119571" y="51789"/>
                    <a:pt x="138214" y="51789"/>
                  </a:cubicBezTo>
                  <a:cubicBezTo>
                    <a:pt x="158786" y="51789"/>
                    <a:pt x="200571" y="64421"/>
                    <a:pt x="200571" y="121263"/>
                  </a:cubicBezTo>
                  <a:close/>
                  <a:moveTo>
                    <a:pt x="1286" y="56842"/>
                  </a:moveTo>
                  <a:lnTo>
                    <a:pt x="40500" y="56842"/>
                  </a:lnTo>
                  <a:lnTo>
                    <a:pt x="40500" y="214105"/>
                  </a:lnTo>
                  <a:lnTo>
                    <a:pt x="1286" y="214105"/>
                  </a:lnTo>
                  <a:lnTo>
                    <a:pt x="1286" y="56842"/>
                  </a:lnTo>
                  <a:close/>
                  <a:moveTo>
                    <a:pt x="247500" y="135789"/>
                  </a:moveTo>
                  <a:cubicBezTo>
                    <a:pt x="247500" y="163578"/>
                    <a:pt x="268071" y="185052"/>
                    <a:pt x="295714" y="185052"/>
                  </a:cubicBezTo>
                  <a:cubicBezTo>
                    <a:pt x="311786" y="185052"/>
                    <a:pt x="323357" y="176210"/>
                    <a:pt x="331071" y="163578"/>
                  </a:cubicBezTo>
                  <a:lnTo>
                    <a:pt x="374143" y="163578"/>
                  </a:lnTo>
                  <a:cubicBezTo>
                    <a:pt x="360643" y="199578"/>
                    <a:pt x="330429" y="219789"/>
                    <a:pt x="293786" y="219789"/>
                  </a:cubicBezTo>
                  <a:cubicBezTo>
                    <a:pt x="246857" y="219789"/>
                    <a:pt x="208929" y="181894"/>
                    <a:pt x="208929" y="135158"/>
                  </a:cubicBezTo>
                  <a:cubicBezTo>
                    <a:pt x="208929" y="89684"/>
                    <a:pt x="246857" y="51789"/>
                    <a:pt x="293786" y="51789"/>
                  </a:cubicBezTo>
                  <a:cubicBezTo>
                    <a:pt x="329786" y="51789"/>
                    <a:pt x="361929" y="73263"/>
                    <a:pt x="374143" y="109263"/>
                  </a:cubicBezTo>
                  <a:lnTo>
                    <a:pt x="331071" y="109263"/>
                  </a:lnTo>
                  <a:cubicBezTo>
                    <a:pt x="322714" y="94737"/>
                    <a:pt x="311786" y="86526"/>
                    <a:pt x="293786" y="86526"/>
                  </a:cubicBezTo>
                  <a:cubicBezTo>
                    <a:pt x="266786" y="86526"/>
                    <a:pt x="247500" y="107368"/>
                    <a:pt x="247500" y="135789"/>
                  </a:cubicBezTo>
                  <a:close/>
                  <a:moveTo>
                    <a:pt x="43714" y="21474"/>
                  </a:moveTo>
                  <a:cubicBezTo>
                    <a:pt x="43714" y="33474"/>
                    <a:pt x="34071" y="42947"/>
                    <a:pt x="21857" y="42947"/>
                  </a:cubicBezTo>
                  <a:cubicBezTo>
                    <a:pt x="9643" y="42947"/>
                    <a:pt x="0" y="33474"/>
                    <a:pt x="0" y="21474"/>
                  </a:cubicBezTo>
                  <a:cubicBezTo>
                    <a:pt x="0" y="9474"/>
                    <a:pt x="9643" y="0"/>
                    <a:pt x="21857" y="0"/>
                  </a:cubicBezTo>
                  <a:cubicBezTo>
                    <a:pt x="34071" y="0"/>
                    <a:pt x="43714" y="9474"/>
                    <a:pt x="43714" y="21474"/>
                  </a:cubicBezTo>
                  <a:close/>
                  <a:moveTo>
                    <a:pt x="984857" y="51789"/>
                  </a:moveTo>
                  <a:cubicBezTo>
                    <a:pt x="964928" y="51789"/>
                    <a:pt x="946928" y="58737"/>
                    <a:pt x="933428" y="70105"/>
                  </a:cubicBezTo>
                  <a:lnTo>
                    <a:pt x="933428" y="57474"/>
                  </a:lnTo>
                  <a:lnTo>
                    <a:pt x="894214" y="57474"/>
                  </a:lnTo>
                  <a:lnTo>
                    <a:pt x="894214" y="267157"/>
                  </a:lnTo>
                  <a:lnTo>
                    <a:pt x="933428" y="267157"/>
                  </a:lnTo>
                  <a:lnTo>
                    <a:pt x="933428" y="201473"/>
                  </a:lnTo>
                  <a:cubicBezTo>
                    <a:pt x="947571" y="212842"/>
                    <a:pt x="964928" y="219157"/>
                    <a:pt x="984857" y="219157"/>
                  </a:cubicBezTo>
                  <a:cubicBezTo>
                    <a:pt x="1030500" y="219157"/>
                    <a:pt x="1067786" y="180631"/>
                    <a:pt x="1067786" y="135789"/>
                  </a:cubicBezTo>
                  <a:cubicBezTo>
                    <a:pt x="1067786" y="90316"/>
                    <a:pt x="1031786" y="51789"/>
                    <a:pt x="984857" y="51789"/>
                  </a:cubicBezTo>
                  <a:close/>
                  <a:moveTo>
                    <a:pt x="980357" y="185052"/>
                  </a:moveTo>
                  <a:cubicBezTo>
                    <a:pt x="952071" y="185052"/>
                    <a:pt x="931500" y="162315"/>
                    <a:pt x="931500" y="136421"/>
                  </a:cubicBezTo>
                  <a:cubicBezTo>
                    <a:pt x="931500" y="110526"/>
                    <a:pt x="952071" y="86526"/>
                    <a:pt x="981000" y="86526"/>
                  </a:cubicBezTo>
                  <a:cubicBezTo>
                    <a:pt x="1008000" y="86526"/>
                    <a:pt x="1030500" y="109894"/>
                    <a:pt x="1030500" y="135789"/>
                  </a:cubicBezTo>
                  <a:cubicBezTo>
                    <a:pt x="1029857" y="162315"/>
                    <a:pt x="1009286" y="185052"/>
                    <a:pt x="980357" y="185052"/>
                  </a:cubicBezTo>
                  <a:close/>
                  <a:moveTo>
                    <a:pt x="841500" y="70105"/>
                  </a:moveTo>
                  <a:cubicBezTo>
                    <a:pt x="827357" y="58737"/>
                    <a:pt x="810000" y="51789"/>
                    <a:pt x="790071" y="51789"/>
                  </a:cubicBezTo>
                  <a:cubicBezTo>
                    <a:pt x="743143" y="51789"/>
                    <a:pt x="707143" y="90316"/>
                    <a:pt x="707143" y="135789"/>
                  </a:cubicBezTo>
                  <a:cubicBezTo>
                    <a:pt x="707143" y="181263"/>
                    <a:pt x="744428" y="219157"/>
                    <a:pt x="790071" y="219157"/>
                  </a:cubicBezTo>
                  <a:cubicBezTo>
                    <a:pt x="810000" y="219157"/>
                    <a:pt x="828000" y="212842"/>
                    <a:pt x="841500" y="201473"/>
                  </a:cubicBezTo>
                  <a:lnTo>
                    <a:pt x="841500" y="214105"/>
                  </a:lnTo>
                  <a:lnTo>
                    <a:pt x="880714" y="214105"/>
                  </a:lnTo>
                  <a:lnTo>
                    <a:pt x="880714" y="56842"/>
                  </a:lnTo>
                  <a:lnTo>
                    <a:pt x="841500" y="56842"/>
                  </a:lnTo>
                  <a:lnTo>
                    <a:pt x="841500" y="70105"/>
                  </a:lnTo>
                  <a:close/>
                  <a:moveTo>
                    <a:pt x="793928" y="185052"/>
                  </a:moveTo>
                  <a:cubicBezTo>
                    <a:pt x="765000" y="185052"/>
                    <a:pt x="744428" y="162315"/>
                    <a:pt x="744428" y="135789"/>
                  </a:cubicBezTo>
                  <a:cubicBezTo>
                    <a:pt x="744428" y="109263"/>
                    <a:pt x="766286" y="86526"/>
                    <a:pt x="793928" y="86526"/>
                  </a:cubicBezTo>
                  <a:cubicBezTo>
                    <a:pt x="822214" y="86526"/>
                    <a:pt x="843429" y="110526"/>
                    <a:pt x="843429" y="136421"/>
                  </a:cubicBezTo>
                  <a:cubicBezTo>
                    <a:pt x="842786" y="162315"/>
                    <a:pt x="822857" y="185052"/>
                    <a:pt x="793928" y="185052"/>
                  </a:cubicBezTo>
                  <a:close/>
                  <a:moveTo>
                    <a:pt x="1240714" y="133263"/>
                  </a:moveTo>
                  <a:cubicBezTo>
                    <a:pt x="1240714" y="87158"/>
                    <a:pt x="1204714" y="51789"/>
                    <a:pt x="1157786" y="51789"/>
                  </a:cubicBezTo>
                  <a:cubicBezTo>
                    <a:pt x="1108928" y="51789"/>
                    <a:pt x="1073571" y="89684"/>
                    <a:pt x="1073571" y="136421"/>
                  </a:cubicBezTo>
                  <a:cubicBezTo>
                    <a:pt x="1073571" y="182526"/>
                    <a:pt x="1109571" y="219789"/>
                    <a:pt x="1157786" y="219789"/>
                  </a:cubicBezTo>
                  <a:cubicBezTo>
                    <a:pt x="1191857" y="219789"/>
                    <a:pt x="1224643" y="197052"/>
                    <a:pt x="1234928" y="165473"/>
                  </a:cubicBezTo>
                  <a:lnTo>
                    <a:pt x="1194429" y="165473"/>
                  </a:lnTo>
                  <a:cubicBezTo>
                    <a:pt x="1186714" y="179368"/>
                    <a:pt x="1173214" y="185684"/>
                    <a:pt x="1157786" y="185684"/>
                  </a:cubicBezTo>
                  <a:cubicBezTo>
                    <a:pt x="1134000" y="185684"/>
                    <a:pt x="1116643" y="167368"/>
                    <a:pt x="1113428" y="153473"/>
                  </a:cubicBezTo>
                  <a:lnTo>
                    <a:pt x="1238143" y="153473"/>
                  </a:lnTo>
                  <a:cubicBezTo>
                    <a:pt x="1240071" y="145894"/>
                    <a:pt x="1240714" y="139579"/>
                    <a:pt x="1240714" y="133263"/>
                  </a:cubicBezTo>
                  <a:close/>
                  <a:moveTo>
                    <a:pt x="1113428" y="122526"/>
                  </a:moveTo>
                  <a:cubicBezTo>
                    <a:pt x="1119214" y="98526"/>
                    <a:pt x="1137214" y="86526"/>
                    <a:pt x="1158428" y="86526"/>
                  </a:cubicBezTo>
                  <a:cubicBezTo>
                    <a:pt x="1182214" y="86526"/>
                    <a:pt x="1198286" y="99789"/>
                    <a:pt x="1202143" y="122526"/>
                  </a:cubicBezTo>
                  <a:lnTo>
                    <a:pt x="1113428" y="122526"/>
                  </a:lnTo>
                  <a:close/>
                  <a:moveTo>
                    <a:pt x="572786" y="135789"/>
                  </a:moveTo>
                  <a:cubicBezTo>
                    <a:pt x="572786" y="163578"/>
                    <a:pt x="593357" y="185052"/>
                    <a:pt x="621000" y="185052"/>
                  </a:cubicBezTo>
                  <a:cubicBezTo>
                    <a:pt x="637071" y="185052"/>
                    <a:pt x="648643" y="176210"/>
                    <a:pt x="656357" y="163578"/>
                  </a:cubicBezTo>
                  <a:lnTo>
                    <a:pt x="699428" y="163578"/>
                  </a:lnTo>
                  <a:cubicBezTo>
                    <a:pt x="685929" y="199578"/>
                    <a:pt x="655714" y="219789"/>
                    <a:pt x="619071" y="219789"/>
                  </a:cubicBezTo>
                  <a:cubicBezTo>
                    <a:pt x="572143" y="219789"/>
                    <a:pt x="534214" y="181894"/>
                    <a:pt x="534214" y="135158"/>
                  </a:cubicBezTo>
                  <a:cubicBezTo>
                    <a:pt x="534214" y="89684"/>
                    <a:pt x="572143" y="51789"/>
                    <a:pt x="619071" y="51789"/>
                  </a:cubicBezTo>
                  <a:cubicBezTo>
                    <a:pt x="655071" y="51789"/>
                    <a:pt x="687214" y="73263"/>
                    <a:pt x="699428" y="109263"/>
                  </a:cubicBezTo>
                  <a:lnTo>
                    <a:pt x="656357" y="109263"/>
                  </a:lnTo>
                  <a:cubicBezTo>
                    <a:pt x="648000" y="94737"/>
                    <a:pt x="637071" y="86526"/>
                    <a:pt x="619071" y="86526"/>
                  </a:cubicBezTo>
                  <a:cubicBezTo>
                    <a:pt x="592071" y="86526"/>
                    <a:pt x="572786" y="107368"/>
                    <a:pt x="572786" y="135789"/>
                  </a:cubicBezTo>
                  <a:close/>
                  <a:moveTo>
                    <a:pt x="525214" y="118105"/>
                  </a:moveTo>
                  <a:lnTo>
                    <a:pt x="525214" y="214105"/>
                  </a:lnTo>
                  <a:lnTo>
                    <a:pt x="486643" y="214105"/>
                  </a:lnTo>
                  <a:lnTo>
                    <a:pt x="486643" y="132631"/>
                  </a:lnTo>
                  <a:cubicBezTo>
                    <a:pt x="486643" y="99789"/>
                    <a:pt x="475714" y="86526"/>
                    <a:pt x="453857" y="86526"/>
                  </a:cubicBezTo>
                  <a:cubicBezTo>
                    <a:pt x="432000" y="86526"/>
                    <a:pt x="421714" y="101684"/>
                    <a:pt x="421714" y="133263"/>
                  </a:cubicBezTo>
                  <a:lnTo>
                    <a:pt x="421714" y="214736"/>
                  </a:lnTo>
                  <a:lnTo>
                    <a:pt x="383143" y="214736"/>
                  </a:lnTo>
                  <a:lnTo>
                    <a:pt x="383143" y="5053"/>
                  </a:lnTo>
                  <a:lnTo>
                    <a:pt x="421714" y="5053"/>
                  </a:lnTo>
                  <a:lnTo>
                    <a:pt x="421714" y="68210"/>
                  </a:lnTo>
                  <a:cubicBezTo>
                    <a:pt x="433286" y="57474"/>
                    <a:pt x="446786" y="51789"/>
                    <a:pt x="463500" y="51789"/>
                  </a:cubicBezTo>
                  <a:cubicBezTo>
                    <a:pt x="482786" y="51789"/>
                    <a:pt x="525214" y="65052"/>
                    <a:pt x="525214" y="118105"/>
                  </a:cubicBezTo>
                  <a:close/>
                </a:path>
              </a:pathLst>
            </a:custGeom>
            <a:solidFill>
              <a:srgbClr val="001A41"/>
            </a:solidFill>
            <a:ln w="6406"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AE0B0C56-3949-641A-493E-BC1A232F7592}"/>
                </a:ext>
              </a:extLst>
            </p:cNvPr>
            <p:cNvSpPr/>
            <p:nvPr/>
          </p:nvSpPr>
          <p:spPr>
            <a:xfrm>
              <a:off x="728819" y="720451"/>
              <a:ext cx="314999" cy="308841"/>
            </a:xfrm>
            <a:custGeom>
              <a:avLst/>
              <a:gdLst>
                <a:gd name="connsiteX0" fmla="*/ 315000 w 314999"/>
                <a:gd name="connsiteY0" fmla="*/ 154736 h 308841"/>
                <a:gd name="connsiteX1" fmla="*/ 157500 w 314999"/>
                <a:gd name="connsiteY1" fmla="*/ 0 h 308841"/>
                <a:gd name="connsiteX2" fmla="*/ 0 w 314999"/>
                <a:gd name="connsiteY2" fmla="*/ 154736 h 308841"/>
                <a:gd name="connsiteX3" fmla="*/ 147857 w 314999"/>
                <a:gd name="connsiteY3" fmla="*/ 308841 h 308841"/>
                <a:gd name="connsiteX4" fmla="*/ 211500 w 314999"/>
                <a:gd name="connsiteY4" fmla="*/ 176842 h 308841"/>
                <a:gd name="connsiteX5" fmla="*/ 190929 w 314999"/>
                <a:gd name="connsiteY5" fmla="*/ 98526 h 308841"/>
                <a:gd name="connsiteX6" fmla="*/ 246857 w 314999"/>
                <a:gd name="connsiteY6" fmla="*/ 79579 h 308841"/>
                <a:gd name="connsiteX7" fmla="*/ 291214 w 314999"/>
                <a:gd name="connsiteY7" fmla="*/ 171789 h 308841"/>
                <a:gd name="connsiteX8" fmla="*/ 288643 w 314999"/>
                <a:gd name="connsiteY8" fmla="*/ 240631 h 308841"/>
                <a:gd name="connsiteX9" fmla="*/ 315000 w 314999"/>
                <a:gd name="connsiteY9" fmla="*/ 154736 h 308841"/>
                <a:gd name="connsiteX10" fmla="*/ 175500 w 314999"/>
                <a:gd name="connsiteY10" fmla="*/ 73895 h 308841"/>
                <a:gd name="connsiteX11" fmla="*/ 122786 w 314999"/>
                <a:gd name="connsiteY11" fmla="*/ 27158 h 308841"/>
                <a:gd name="connsiteX12" fmla="*/ 222429 w 314999"/>
                <a:gd name="connsiteY12" fmla="*/ 58105 h 308841"/>
                <a:gd name="connsiteX13" fmla="*/ 175500 w 314999"/>
                <a:gd name="connsiteY13" fmla="*/ 73895 h 30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4999" h="308841">
                  <a:moveTo>
                    <a:pt x="315000" y="154736"/>
                  </a:moveTo>
                  <a:cubicBezTo>
                    <a:pt x="315000" y="69473"/>
                    <a:pt x="244286" y="0"/>
                    <a:pt x="157500" y="0"/>
                  </a:cubicBezTo>
                  <a:cubicBezTo>
                    <a:pt x="70714" y="0"/>
                    <a:pt x="0" y="69473"/>
                    <a:pt x="0" y="154736"/>
                  </a:cubicBezTo>
                  <a:cubicBezTo>
                    <a:pt x="0" y="236841"/>
                    <a:pt x="65571" y="304420"/>
                    <a:pt x="147857" y="308841"/>
                  </a:cubicBezTo>
                  <a:cubicBezTo>
                    <a:pt x="163286" y="296210"/>
                    <a:pt x="211500" y="250736"/>
                    <a:pt x="211500" y="176842"/>
                  </a:cubicBezTo>
                  <a:cubicBezTo>
                    <a:pt x="211500" y="156000"/>
                    <a:pt x="204429" y="118737"/>
                    <a:pt x="190929" y="98526"/>
                  </a:cubicBezTo>
                  <a:lnTo>
                    <a:pt x="246857" y="79579"/>
                  </a:lnTo>
                  <a:cubicBezTo>
                    <a:pt x="246857" y="79579"/>
                    <a:pt x="282214" y="115579"/>
                    <a:pt x="291214" y="171789"/>
                  </a:cubicBezTo>
                  <a:cubicBezTo>
                    <a:pt x="291214" y="171789"/>
                    <a:pt x="297000" y="208420"/>
                    <a:pt x="288643" y="240631"/>
                  </a:cubicBezTo>
                  <a:cubicBezTo>
                    <a:pt x="305357" y="215999"/>
                    <a:pt x="315000" y="186315"/>
                    <a:pt x="315000" y="154736"/>
                  </a:cubicBezTo>
                  <a:close/>
                  <a:moveTo>
                    <a:pt x="175500" y="73895"/>
                  </a:moveTo>
                  <a:cubicBezTo>
                    <a:pt x="175500" y="73895"/>
                    <a:pt x="160071" y="49895"/>
                    <a:pt x="122786" y="27158"/>
                  </a:cubicBezTo>
                  <a:cubicBezTo>
                    <a:pt x="122786" y="27158"/>
                    <a:pt x="176786" y="26526"/>
                    <a:pt x="222429" y="58105"/>
                  </a:cubicBezTo>
                  <a:lnTo>
                    <a:pt x="175500" y="73895"/>
                  </a:lnTo>
                  <a:close/>
                </a:path>
              </a:pathLst>
            </a:custGeom>
            <a:solidFill>
              <a:srgbClr val="FFFFFF"/>
            </a:solidFill>
            <a:ln w="6406" cap="flat">
              <a:noFill/>
              <a:prstDash val="solid"/>
              <a:miter/>
            </a:ln>
          </p:spPr>
          <p:txBody>
            <a:bodyPr rtlCol="0" anchor="ctr"/>
            <a:lstStyle/>
            <a:p>
              <a:endParaRPr lang="en-US"/>
            </a:p>
          </p:txBody>
        </p:sp>
      </p:grpSp>
      <p:sp>
        <p:nvSpPr>
          <p:cNvPr id="2" name="Text Placeholder 2">
            <a:extLst>
              <a:ext uri="{FF2B5EF4-FFF2-40B4-BE49-F238E27FC236}">
                <a16:creationId xmlns:a16="http://schemas.microsoft.com/office/drawing/2014/main" id="{511BEBFD-7766-8369-672B-D9E45B2B54A0}"/>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Tree>
    <p:extLst>
      <p:ext uri="{BB962C8B-B14F-4D97-AF65-F5344CB8AC3E}">
        <p14:creationId xmlns:p14="http://schemas.microsoft.com/office/powerpoint/2010/main" val="10417680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CE20D3-202D-2D48-959B-2BF9406F3571}"/>
              </a:ext>
            </a:extLst>
          </p:cNvPr>
          <p:cNvSpPr>
            <a:spLocks noGrp="1"/>
          </p:cNvSpPr>
          <p:nvPr>
            <p:ph type="body" idx="1" hasCustomPrompt="1"/>
          </p:nvPr>
        </p:nvSpPr>
        <p:spPr>
          <a:xfrm>
            <a:off x="720000" y="4679999"/>
            <a:ext cx="5760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subtitle</a:t>
            </a:r>
          </a:p>
        </p:txBody>
      </p:sp>
      <p:sp>
        <p:nvSpPr>
          <p:cNvPr id="5" name="Footer Placeholder 4">
            <a:extLst>
              <a:ext uri="{FF2B5EF4-FFF2-40B4-BE49-F238E27FC236}">
                <a16:creationId xmlns:a16="http://schemas.microsoft.com/office/drawing/2014/main" id="{E6E6D277-9642-9E45-AD3D-D1BA909241FC}"/>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D8E4954D-3C4C-CD4C-875B-E0EE500FC0B5}"/>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8" name="Text Placeholder 2">
            <a:extLst>
              <a:ext uri="{FF2B5EF4-FFF2-40B4-BE49-F238E27FC236}">
                <a16:creationId xmlns:a16="http://schemas.microsoft.com/office/drawing/2014/main" id="{0D0FB428-D2CB-7C4C-9131-5C629181033E}"/>
              </a:ext>
            </a:extLst>
          </p:cNvPr>
          <p:cNvSpPr>
            <a:spLocks noGrp="1"/>
          </p:cNvSpPr>
          <p:nvPr>
            <p:ph type="body" sz="quarter" idx="18" hasCustomPrompt="1"/>
          </p:nvPr>
        </p:nvSpPr>
        <p:spPr>
          <a:xfrm>
            <a:off x="720000" y="2052000"/>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97211319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6E6D277-9642-9E45-AD3D-D1BA909241FC}"/>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6" name="Slide Number Placeholder 5">
            <a:extLst>
              <a:ext uri="{FF2B5EF4-FFF2-40B4-BE49-F238E27FC236}">
                <a16:creationId xmlns:a16="http://schemas.microsoft.com/office/drawing/2014/main" id="{D8E4954D-3C4C-CD4C-875B-E0EE500FC0B5}"/>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3" name="Text Placeholder 2">
            <a:extLst>
              <a:ext uri="{FF2B5EF4-FFF2-40B4-BE49-F238E27FC236}">
                <a16:creationId xmlns:a16="http://schemas.microsoft.com/office/drawing/2014/main" id="{10C4A540-B1DD-A14F-B858-4F24D0447AB1}"/>
              </a:ext>
            </a:extLst>
          </p:cNvPr>
          <p:cNvSpPr>
            <a:spLocks noGrp="1"/>
          </p:cNvSpPr>
          <p:nvPr>
            <p:ph type="body" idx="1" hasCustomPrompt="1"/>
          </p:nvPr>
        </p:nvSpPr>
        <p:spPr>
          <a:xfrm>
            <a:off x="720000" y="4680000"/>
            <a:ext cx="5760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subtitle</a:t>
            </a:r>
          </a:p>
        </p:txBody>
      </p:sp>
      <p:sp>
        <p:nvSpPr>
          <p:cNvPr id="8" name="Text Placeholder 2">
            <a:extLst>
              <a:ext uri="{FF2B5EF4-FFF2-40B4-BE49-F238E27FC236}">
                <a16:creationId xmlns:a16="http://schemas.microsoft.com/office/drawing/2014/main" id="{A4A71B1A-6C9B-9D40-A0F2-3506B297DDC1}"/>
              </a:ext>
            </a:extLst>
          </p:cNvPr>
          <p:cNvSpPr>
            <a:spLocks noGrp="1"/>
          </p:cNvSpPr>
          <p:nvPr>
            <p:ph type="body" sz="quarter" idx="18" hasCustomPrompt="1"/>
          </p:nvPr>
        </p:nvSpPr>
        <p:spPr>
          <a:xfrm>
            <a:off x="720000" y="2052000"/>
            <a:ext cx="6228000" cy="2322000"/>
          </a:xfrm>
        </p:spPr>
        <p:txBody>
          <a:bodyPr/>
          <a:lstStyle>
            <a:lvl1pPr marL="0" indent="0">
              <a:lnSpc>
                <a:spcPct val="74000"/>
              </a:lnSpc>
              <a:buNone/>
              <a:defRPr sz="6600" b="1" i="0" cap="all" spc="-160" baseline="0">
                <a:solidFill>
                  <a:srgbClr val="001A41"/>
                </a:solidFill>
                <a:latin typeface="Century Gothic" panose="020B0502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259924544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ivider 2">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6B9860-E63C-4617-AD73-46EE3B25056A}"/>
              </a:ext>
            </a:extLst>
          </p:cNvPr>
          <p:cNvSpPr>
            <a:spLocks noGrp="1"/>
          </p:cNvSpPr>
          <p:nvPr>
            <p:ph type="body" sz="quarter" idx="18" hasCustomPrompt="1"/>
          </p:nvPr>
        </p:nvSpPr>
        <p:spPr>
          <a:xfrm>
            <a:off x="720000" y="2050828"/>
            <a:ext cx="6228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CLICK TO EDIT MASTER TEXT STYLES</a:t>
            </a:r>
          </a:p>
        </p:txBody>
      </p:sp>
      <p:pic>
        <p:nvPicPr>
          <p:cNvPr id="4" name="Graphic 3">
            <a:extLst>
              <a:ext uri="{FF2B5EF4-FFF2-40B4-BE49-F238E27FC236}">
                <a16:creationId xmlns:a16="http://schemas.microsoft.com/office/drawing/2014/main" id="{27A4D11A-9074-A6F8-6BBB-FEC97759B49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16962" y="697083"/>
            <a:ext cx="1825714" cy="359999"/>
          </a:xfrm>
          <a:prstGeom prst="rect">
            <a:avLst/>
          </a:prstGeom>
        </p:spPr>
      </p:pic>
      <p:sp>
        <p:nvSpPr>
          <p:cNvPr id="9" name="Text Placeholder 2">
            <a:extLst>
              <a:ext uri="{FF2B5EF4-FFF2-40B4-BE49-F238E27FC236}">
                <a16:creationId xmlns:a16="http://schemas.microsoft.com/office/drawing/2014/main" id="{9F5CDF7D-8C85-A682-1A40-F961F3F9C33B}"/>
              </a:ext>
            </a:extLst>
          </p:cNvPr>
          <p:cNvSpPr>
            <a:spLocks noGrp="1"/>
          </p:cNvSpPr>
          <p:nvPr>
            <p:ph type="body" idx="1" hasCustomPrompt="1"/>
          </p:nvPr>
        </p:nvSpPr>
        <p:spPr>
          <a:xfrm>
            <a:off x="719999" y="4680000"/>
            <a:ext cx="6228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field</a:t>
            </a:r>
          </a:p>
        </p:txBody>
      </p:sp>
    </p:spTree>
    <p:extLst>
      <p:ext uri="{BB962C8B-B14F-4D97-AF65-F5344CB8AC3E}">
        <p14:creationId xmlns:p14="http://schemas.microsoft.com/office/powerpoint/2010/main" val="400657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1" name="Content Placeholder 39">
            <a:extLst>
              <a:ext uri="{FF2B5EF4-FFF2-40B4-BE49-F238E27FC236}">
                <a16:creationId xmlns:a16="http://schemas.microsoft.com/office/drawing/2014/main" id="{C30FE997-6A4C-ED4C-97CF-B9C6BF9D2B1F}"/>
              </a:ext>
            </a:extLst>
          </p:cNvPr>
          <p:cNvSpPr>
            <a:spLocks noGrp="1"/>
          </p:cNvSpPr>
          <p:nvPr>
            <p:ph idx="1" hasCustomPrompt="1"/>
          </p:nvPr>
        </p:nvSpPr>
        <p:spPr>
          <a:xfrm>
            <a:off x="720000" y="1422000"/>
            <a:ext cx="2610000" cy="4852800"/>
          </a:xfrm>
          <a:custGeom>
            <a:avLst/>
            <a:gdLst>
              <a:gd name="connsiteX0" fmla="*/ 0 w 2610000"/>
              <a:gd name="connsiteY0" fmla="*/ 0 h 4852800"/>
              <a:gd name="connsiteX1" fmla="*/ 2367688 w 2610000"/>
              <a:gd name="connsiteY1" fmla="*/ 0 h 4852800"/>
              <a:gd name="connsiteX2" fmla="*/ 2610000 w 2610000"/>
              <a:gd name="connsiteY2" fmla="*/ 242312 h 4852800"/>
              <a:gd name="connsiteX3" fmla="*/ 2610000 w 2610000"/>
              <a:gd name="connsiteY3" fmla="*/ 4852800 h 4852800"/>
              <a:gd name="connsiteX4" fmla="*/ 0 w 2610000"/>
              <a:gd name="connsiteY4" fmla="*/ 4852800 h 485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000" h="4852800">
                <a:moveTo>
                  <a:pt x="0" y="0"/>
                </a:moveTo>
                <a:lnTo>
                  <a:pt x="2367688" y="0"/>
                </a:lnTo>
                <a:lnTo>
                  <a:pt x="2610000" y="242312"/>
                </a:lnTo>
                <a:lnTo>
                  <a:pt x="2610000" y="4852800"/>
                </a:lnTo>
                <a:lnTo>
                  <a:pt x="0" y="4852800"/>
                </a:lnTo>
                <a:close/>
              </a:path>
            </a:pathLst>
          </a:custGeom>
          <a:solidFill>
            <a:schemeClr val="bg2"/>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4" name="Content Placeholder 39">
            <a:extLst>
              <a:ext uri="{FF2B5EF4-FFF2-40B4-BE49-F238E27FC236}">
                <a16:creationId xmlns:a16="http://schemas.microsoft.com/office/drawing/2014/main" id="{6297E02E-8041-A94C-94A9-432018596190}"/>
              </a:ext>
            </a:extLst>
          </p:cNvPr>
          <p:cNvSpPr>
            <a:spLocks noGrp="1"/>
          </p:cNvSpPr>
          <p:nvPr>
            <p:ph idx="26" hasCustomPrompt="1"/>
          </p:nvPr>
        </p:nvSpPr>
        <p:spPr>
          <a:xfrm>
            <a:off x="3434399" y="1422000"/>
            <a:ext cx="2610000" cy="4852800"/>
          </a:xfrm>
          <a:custGeom>
            <a:avLst/>
            <a:gdLst>
              <a:gd name="connsiteX0" fmla="*/ 0 w 2610000"/>
              <a:gd name="connsiteY0" fmla="*/ 0 h 4852800"/>
              <a:gd name="connsiteX1" fmla="*/ 2367688 w 2610000"/>
              <a:gd name="connsiteY1" fmla="*/ 0 h 4852800"/>
              <a:gd name="connsiteX2" fmla="*/ 2610000 w 2610000"/>
              <a:gd name="connsiteY2" fmla="*/ 242312 h 4852800"/>
              <a:gd name="connsiteX3" fmla="*/ 2610000 w 2610000"/>
              <a:gd name="connsiteY3" fmla="*/ 4852800 h 4852800"/>
              <a:gd name="connsiteX4" fmla="*/ 0 w 2610000"/>
              <a:gd name="connsiteY4" fmla="*/ 4852800 h 485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000" h="4852800">
                <a:moveTo>
                  <a:pt x="0" y="0"/>
                </a:moveTo>
                <a:lnTo>
                  <a:pt x="2367688" y="0"/>
                </a:lnTo>
                <a:lnTo>
                  <a:pt x="2610000" y="242312"/>
                </a:lnTo>
                <a:lnTo>
                  <a:pt x="2610000" y="4852800"/>
                </a:lnTo>
                <a:lnTo>
                  <a:pt x="0" y="4852800"/>
                </a:lnTo>
                <a:close/>
              </a:path>
            </a:pathLst>
          </a:custGeom>
          <a:solidFill>
            <a:schemeClr val="accent2"/>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5" name="Content Placeholder 39">
            <a:extLst>
              <a:ext uri="{FF2B5EF4-FFF2-40B4-BE49-F238E27FC236}">
                <a16:creationId xmlns:a16="http://schemas.microsoft.com/office/drawing/2014/main" id="{3875FA4E-17BB-E44C-AFBA-142D65C36ECC}"/>
              </a:ext>
            </a:extLst>
          </p:cNvPr>
          <p:cNvSpPr>
            <a:spLocks noGrp="1"/>
          </p:cNvSpPr>
          <p:nvPr>
            <p:ph idx="27" hasCustomPrompt="1"/>
          </p:nvPr>
        </p:nvSpPr>
        <p:spPr>
          <a:xfrm>
            <a:off x="6148798" y="1422000"/>
            <a:ext cx="2610000" cy="4852800"/>
          </a:xfrm>
          <a:custGeom>
            <a:avLst/>
            <a:gdLst>
              <a:gd name="connsiteX0" fmla="*/ 0 w 2610000"/>
              <a:gd name="connsiteY0" fmla="*/ 0 h 4852800"/>
              <a:gd name="connsiteX1" fmla="*/ 2367688 w 2610000"/>
              <a:gd name="connsiteY1" fmla="*/ 0 h 4852800"/>
              <a:gd name="connsiteX2" fmla="*/ 2610000 w 2610000"/>
              <a:gd name="connsiteY2" fmla="*/ 242312 h 4852800"/>
              <a:gd name="connsiteX3" fmla="*/ 2610000 w 2610000"/>
              <a:gd name="connsiteY3" fmla="*/ 4852800 h 4852800"/>
              <a:gd name="connsiteX4" fmla="*/ 0 w 2610000"/>
              <a:gd name="connsiteY4" fmla="*/ 4852800 h 485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000" h="4852800">
                <a:moveTo>
                  <a:pt x="0" y="0"/>
                </a:moveTo>
                <a:lnTo>
                  <a:pt x="2367688" y="0"/>
                </a:lnTo>
                <a:lnTo>
                  <a:pt x="2610000" y="242312"/>
                </a:lnTo>
                <a:lnTo>
                  <a:pt x="2610000" y="4852800"/>
                </a:lnTo>
                <a:lnTo>
                  <a:pt x="0" y="4852800"/>
                </a:lnTo>
                <a:close/>
              </a:path>
            </a:pathLst>
          </a:custGeom>
          <a:solidFill>
            <a:schemeClr val="accent5"/>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chemeClr val="bg1"/>
                </a:solidFill>
                <a:latin typeface="+mn-lt"/>
              </a:defRPr>
            </a:lvl1pPr>
            <a:lvl2pPr marL="177800" indent="-177800">
              <a:lnSpc>
                <a:spcPct val="100000"/>
              </a:lnSpc>
              <a:spcAft>
                <a:spcPts val="1000"/>
              </a:spcAft>
              <a:buFont typeface="Wingdings" pitchFamily="2" charset="2"/>
              <a:buChar char="§"/>
              <a:tabLst/>
              <a:defRPr lang="en-GB" sz="1600" dirty="0">
                <a:solidFill>
                  <a:schemeClr val="bg1"/>
                </a:solidFill>
                <a:latin typeface="+mn-lt"/>
              </a:defRPr>
            </a:lvl2pPr>
            <a:lvl3pPr marL="342900" indent="-161925">
              <a:lnSpc>
                <a:spcPct val="100000"/>
              </a:lnSpc>
              <a:spcAft>
                <a:spcPts val="1000"/>
              </a:spcAft>
              <a:buFont typeface="Wingdings" pitchFamily="2" charset="2"/>
              <a:buChar char="§"/>
              <a:tabLst/>
              <a:defRPr lang="en-GB" sz="1400" dirty="0">
                <a:solidFill>
                  <a:schemeClr val="bg1"/>
                </a:solidFill>
                <a:latin typeface="+mn-lt"/>
              </a:defRPr>
            </a:lvl3pPr>
            <a:lvl4pPr marL="511175" indent="-146050">
              <a:lnSpc>
                <a:spcPct val="100000"/>
              </a:lnSpc>
              <a:spcAft>
                <a:spcPts val="1000"/>
              </a:spcAft>
              <a:buFont typeface="Wingdings" pitchFamily="2" charset="2"/>
              <a:buChar char="§"/>
              <a:tabLst/>
              <a:defRPr lang="en-GB" sz="1300" dirty="0">
                <a:solidFill>
                  <a:schemeClr val="bg1"/>
                </a:solidFill>
                <a:latin typeface="+mn-lt"/>
              </a:defRPr>
            </a:lvl4pPr>
            <a:lvl5pPr marL="650875" indent="-130175">
              <a:lnSpc>
                <a:spcPct val="100000"/>
              </a:lnSpc>
              <a:spcAft>
                <a:spcPts val="1000"/>
              </a:spcAft>
              <a:buFont typeface="Wingdings" pitchFamily="2" charset="2"/>
              <a:buChar char="§"/>
              <a:tabLst/>
              <a:defRPr lang="en-GB" sz="1200" dirty="0">
                <a:solidFill>
                  <a:schemeClr val="bg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8" name="Content Placeholder 39">
            <a:extLst>
              <a:ext uri="{FF2B5EF4-FFF2-40B4-BE49-F238E27FC236}">
                <a16:creationId xmlns:a16="http://schemas.microsoft.com/office/drawing/2014/main" id="{83E85D73-3D42-0145-B8F8-6E1E3E60664C}"/>
              </a:ext>
            </a:extLst>
          </p:cNvPr>
          <p:cNvSpPr>
            <a:spLocks noGrp="1"/>
          </p:cNvSpPr>
          <p:nvPr>
            <p:ph idx="28" hasCustomPrompt="1"/>
          </p:nvPr>
        </p:nvSpPr>
        <p:spPr>
          <a:xfrm>
            <a:off x="8863198" y="1422000"/>
            <a:ext cx="2610000" cy="4852800"/>
          </a:xfrm>
          <a:custGeom>
            <a:avLst/>
            <a:gdLst>
              <a:gd name="connsiteX0" fmla="*/ 0 w 2610000"/>
              <a:gd name="connsiteY0" fmla="*/ 0 h 4852800"/>
              <a:gd name="connsiteX1" fmla="*/ 2367688 w 2610000"/>
              <a:gd name="connsiteY1" fmla="*/ 0 h 4852800"/>
              <a:gd name="connsiteX2" fmla="*/ 2610000 w 2610000"/>
              <a:gd name="connsiteY2" fmla="*/ 242312 h 4852800"/>
              <a:gd name="connsiteX3" fmla="*/ 2610000 w 2610000"/>
              <a:gd name="connsiteY3" fmla="*/ 4852800 h 4852800"/>
              <a:gd name="connsiteX4" fmla="*/ 0 w 2610000"/>
              <a:gd name="connsiteY4" fmla="*/ 4852800 h 485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000" h="4852800">
                <a:moveTo>
                  <a:pt x="0" y="0"/>
                </a:moveTo>
                <a:lnTo>
                  <a:pt x="2367688" y="0"/>
                </a:lnTo>
                <a:lnTo>
                  <a:pt x="2610000" y="242312"/>
                </a:lnTo>
                <a:lnTo>
                  <a:pt x="2610000" y="4852800"/>
                </a:lnTo>
                <a:lnTo>
                  <a:pt x="0" y="4852800"/>
                </a:lnTo>
                <a:close/>
              </a:path>
            </a:pathLst>
          </a:custGeom>
          <a:solidFill>
            <a:srgbClr val="001A41"/>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chemeClr val="bg1"/>
                </a:solidFill>
                <a:latin typeface="+mn-lt"/>
              </a:defRPr>
            </a:lvl1pPr>
            <a:lvl2pPr marL="177800" indent="-177800">
              <a:lnSpc>
                <a:spcPct val="100000"/>
              </a:lnSpc>
              <a:spcAft>
                <a:spcPts val="1000"/>
              </a:spcAft>
              <a:buFont typeface="Wingdings" pitchFamily="2" charset="2"/>
              <a:buChar char="§"/>
              <a:tabLst/>
              <a:defRPr lang="en-GB" sz="1600" dirty="0">
                <a:solidFill>
                  <a:schemeClr val="bg1"/>
                </a:solidFill>
                <a:latin typeface="+mn-lt"/>
              </a:defRPr>
            </a:lvl2pPr>
            <a:lvl3pPr marL="342900" indent="-161925">
              <a:lnSpc>
                <a:spcPct val="100000"/>
              </a:lnSpc>
              <a:spcAft>
                <a:spcPts val="1000"/>
              </a:spcAft>
              <a:buFont typeface="Wingdings" pitchFamily="2" charset="2"/>
              <a:buChar char="§"/>
              <a:tabLst/>
              <a:defRPr lang="en-GB" sz="1400" dirty="0">
                <a:solidFill>
                  <a:schemeClr val="bg1"/>
                </a:solidFill>
                <a:latin typeface="+mn-lt"/>
              </a:defRPr>
            </a:lvl3pPr>
            <a:lvl4pPr marL="511175" indent="-146050">
              <a:lnSpc>
                <a:spcPct val="100000"/>
              </a:lnSpc>
              <a:spcAft>
                <a:spcPts val="1000"/>
              </a:spcAft>
              <a:buFont typeface="Wingdings" pitchFamily="2" charset="2"/>
              <a:buChar char="§"/>
              <a:tabLst/>
              <a:defRPr lang="en-GB" sz="1300" dirty="0">
                <a:solidFill>
                  <a:schemeClr val="bg1"/>
                </a:solidFill>
                <a:latin typeface="+mn-lt"/>
              </a:defRPr>
            </a:lvl4pPr>
            <a:lvl5pPr marL="650875" indent="-130175">
              <a:lnSpc>
                <a:spcPct val="100000"/>
              </a:lnSpc>
              <a:spcAft>
                <a:spcPts val="1000"/>
              </a:spcAft>
              <a:buFont typeface="Wingdings" pitchFamily="2" charset="2"/>
              <a:buChar char="§"/>
              <a:tabLst/>
              <a:defRPr lang="en-GB" sz="1200" dirty="0">
                <a:solidFill>
                  <a:schemeClr val="bg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4" name="TextBox 13">
            <a:extLst>
              <a:ext uri="{FF2B5EF4-FFF2-40B4-BE49-F238E27FC236}">
                <a16:creationId xmlns:a16="http://schemas.microsoft.com/office/drawing/2014/main" id="{45ACBADE-BE4D-734E-AD4D-7B0570310187}"/>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16" name="TextBox 15">
            <a:extLst>
              <a:ext uri="{FF2B5EF4-FFF2-40B4-BE49-F238E27FC236}">
                <a16:creationId xmlns:a16="http://schemas.microsoft.com/office/drawing/2014/main" id="{BFB32950-E04F-1841-AACC-9EF5EEB1D332}"/>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
        <p:nvSpPr>
          <p:cNvPr id="3" name="Text Placeholder 7">
            <a:extLst>
              <a:ext uri="{FF2B5EF4-FFF2-40B4-BE49-F238E27FC236}">
                <a16:creationId xmlns:a16="http://schemas.microsoft.com/office/drawing/2014/main" id="{58E0F131-C49D-197D-265E-344158095F46}"/>
              </a:ext>
            </a:extLst>
          </p:cNvPr>
          <p:cNvSpPr>
            <a:spLocks noGrp="1"/>
          </p:cNvSpPr>
          <p:nvPr>
            <p:ph type="body" sz="quarter" idx="30"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10602038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Column Alternative">
    <p:spTree>
      <p:nvGrpSpPr>
        <p:cNvPr id="1" name=""/>
        <p:cNvGrpSpPr/>
        <p:nvPr/>
      </p:nvGrpSpPr>
      <p:grpSpPr>
        <a:xfrm>
          <a:off x="0" y="0"/>
          <a:ext cx="0" cy="0"/>
          <a:chOff x="0" y="0"/>
          <a:chExt cx="0" cy="0"/>
        </a:xfrm>
      </p:grpSpPr>
      <p:sp>
        <p:nvSpPr>
          <p:cNvPr id="3" name="Snip Single Corner of Rectangle 2">
            <a:extLst>
              <a:ext uri="{FF2B5EF4-FFF2-40B4-BE49-F238E27FC236}">
                <a16:creationId xmlns:a16="http://schemas.microsoft.com/office/drawing/2014/main" id="{48D8EA3F-30C9-6047-BA90-0CD7A80CBC61}"/>
              </a:ext>
            </a:extLst>
          </p:cNvPr>
          <p:cNvSpPr/>
          <p:nvPr userDrawn="1"/>
        </p:nvSpPr>
        <p:spPr>
          <a:xfrm>
            <a:off x="719138" y="1421999"/>
            <a:ext cx="10753200" cy="4852800"/>
          </a:xfrm>
          <a:prstGeom prst="snip1Rect">
            <a:avLst>
              <a:gd name="adj" fmla="val 4888"/>
            </a:avLst>
          </a:prstGeom>
          <a:solidFill>
            <a:schemeClr val="bg1">
              <a:lumMod val="95000"/>
            </a:schemeClr>
          </a:solidFill>
          <a:ln w="9508" cap="flat">
            <a:noFill/>
            <a:prstDash val="solid"/>
            <a:miter/>
          </a:ln>
        </p:spPr>
        <p:txBody>
          <a:bodyPr wrap="square" lIns="144000" tIns="108000" rIns="144000" bIns="108000" rtlCol="0" anchor="t">
            <a:noAutofit/>
          </a:bodyPr>
          <a:lstStyle/>
          <a:p>
            <a:pPr algn="l">
              <a:lnSpc>
                <a:spcPct val="90000"/>
              </a:lnSpc>
              <a:spcAft>
                <a:spcPts val="1200"/>
              </a:spcAft>
            </a:pPr>
            <a:endParaRPr lang="en-GB" sz="1400" b="0" i="0" dirty="0">
              <a:solidFill>
                <a:schemeClr val="bg1"/>
              </a:solidFill>
              <a:latin typeface="Century Gothic" panose="020B0502020202020204" pitchFamily="34" charset="0"/>
            </a:endParaRPr>
          </a:p>
        </p:txBody>
      </p:sp>
      <p:sp>
        <p:nvSpPr>
          <p:cNvPr id="17" name="Content Placeholder 39">
            <a:extLst>
              <a:ext uri="{FF2B5EF4-FFF2-40B4-BE49-F238E27FC236}">
                <a16:creationId xmlns:a16="http://schemas.microsoft.com/office/drawing/2014/main" id="{205AFFE4-B296-9545-9B03-B6FB9955AD35}"/>
              </a:ext>
            </a:extLst>
          </p:cNvPr>
          <p:cNvSpPr>
            <a:spLocks noGrp="1"/>
          </p:cNvSpPr>
          <p:nvPr>
            <p:ph idx="1" hasCustomPrompt="1"/>
          </p:nvPr>
        </p:nvSpPr>
        <p:spPr>
          <a:xfrm>
            <a:off x="720000"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1" name="Content Placeholder 39">
            <a:extLst>
              <a:ext uri="{FF2B5EF4-FFF2-40B4-BE49-F238E27FC236}">
                <a16:creationId xmlns:a16="http://schemas.microsoft.com/office/drawing/2014/main" id="{4B09820D-8874-7741-B2D1-9EB1200047A8}"/>
              </a:ext>
            </a:extLst>
          </p:cNvPr>
          <p:cNvSpPr>
            <a:spLocks noGrp="1"/>
          </p:cNvSpPr>
          <p:nvPr>
            <p:ph idx="31" hasCustomPrompt="1"/>
          </p:nvPr>
        </p:nvSpPr>
        <p:spPr>
          <a:xfrm>
            <a:off x="3434113"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2" name="Content Placeholder 39">
            <a:extLst>
              <a:ext uri="{FF2B5EF4-FFF2-40B4-BE49-F238E27FC236}">
                <a16:creationId xmlns:a16="http://schemas.microsoft.com/office/drawing/2014/main" id="{13F9E1CA-33F1-E142-B523-9E5BFC6CE94D}"/>
              </a:ext>
            </a:extLst>
          </p:cNvPr>
          <p:cNvSpPr>
            <a:spLocks noGrp="1"/>
          </p:cNvSpPr>
          <p:nvPr>
            <p:ph idx="32" hasCustomPrompt="1"/>
          </p:nvPr>
        </p:nvSpPr>
        <p:spPr>
          <a:xfrm>
            <a:off x="6148226"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3" name="Content Placeholder 39">
            <a:extLst>
              <a:ext uri="{FF2B5EF4-FFF2-40B4-BE49-F238E27FC236}">
                <a16:creationId xmlns:a16="http://schemas.microsoft.com/office/drawing/2014/main" id="{BBFECABB-3D97-124B-9A59-E51A9263687E}"/>
              </a:ext>
            </a:extLst>
          </p:cNvPr>
          <p:cNvSpPr>
            <a:spLocks noGrp="1"/>
          </p:cNvSpPr>
          <p:nvPr>
            <p:ph idx="33" hasCustomPrompt="1"/>
          </p:nvPr>
        </p:nvSpPr>
        <p:spPr>
          <a:xfrm>
            <a:off x="8862338"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8" name="TextBox 17">
            <a:extLst>
              <a:ext uri="{FF2B5EF4-FFF2-40B4-BE49-F238E27FC236}">
                <a16:creationId xmlns:a16="http://schemas.microsoft.com/office/drawing/2014/main" id="{187ECE55-F004-5644-ABDD-EA39B81DF074}"/>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20" name="Text Placeholder 7">
            <a:extLst>
              <a:ext uri="{FF2B5EF4-FFF2-40B4-BE49-F238E27FC236}">
                <a16:creationId xmlns:a16="http://schemas.microsoft.com/office/drawing/2014/main" id="{5BAE7CCA-5B93-CB4F-8660-67931663E30E}"/>
              </a:ext>
            </a:extLst>
          </p:cNvPr>
          <p:cNvSpPr>
            <a:spLocks noGrp="1"/>
          </p:cNvSpPr>
          <p:nvPr>
            <p:ph type="body" sz="quarter" idx="30"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lvl1pPr>
          </a:lstStyle>
          <a:p>
            <a:pPr lvl="0"/>
            <a:r>
              <a:rPr lang="en-GB" dirty="0"/>
              <a:t>Source &amp; footnotes field</a:t>
            </a:r>
          </a:p>
        </p:txBody>
      </p:sp>
      <p:sp>
        <p:nvSpPr>
          <p:cNvPr id="24" name="TextBox 23">
            <a:extLst>
              <a:ext uri="{FF2B5EF4-FFF2-40B4-BE49-F238E27FC236}">
                <a16:creationId xmlns:a16="http://schemas.microsoft.com/office/drawing/2014/main" id="{72986297-EC90-664A-ACE1-BB964583DABB}"/>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Tree>
    <p:extLst>
      <p:ext uri="{BB962C8B-B14F-4D97-AF65-F5344CB8AC3E}">
        <p14:creationId xmlns:p14="http://schemas.microsoft.com/office/powerpoint/2010/main" val="2731705004"/>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Column Alternative-2">
    <p:spTree>
      <p:nvGrpSpPr>
        <p:cNvPr id="1" name=""/>
        <p:cNvGrpSpPr/>
        <p:nvPr/>
      </p:nvGrpSpPr>
      <p:grpSpPr>
        <a:xfrm>
          <a:off x="0" y="0"/>
          <a:ext cx="0" cy="0"/>
          <a:chOff x="0" y="0"/>
          <a:chExt cx="0" cy="0"/>
        </a:xfrm>
      </p:grpSpPr>
      <p:sp>
        <p:nvSpPr>
          <p:cNvPr id="3" name="Snip Single Corner of Rectangle 2">
            <a:extLst>
              <a:ext uri="{FF2B5EF4-FFF2-40B4-BE49-F238E27FC236}">
                <a16:creationId xmlns:a16="http://schemas.microsoft.com/office/drawing/2014/main" id="{48D8EA3F-30C9-6047-BA90-0CD7A80CBC61}"/>
              </a:ext>
            </a:extLst>
          </p:cNvPr>
          <p:cNvSpPr/>
          <p:nvPr userDrawn="1"/>
        </p:nvSpPr>
        <p:spPr>
          <a:xfrm>
            <a:off x="719138" y="1421999"/>
            <a:ext cx="10753200" cy="4852800"/>
          </a:xfrm>
          <a:prstGeom prst="snip1Rect">
            <a:avLst>
              <a:gd name="adj" fmla="val 4888"/>
            </a:avLst>
          </a:prstGeom>
          <a:solidFill>
            <a:schemeClr val="accent2"/>
          </a:solidFill>
          <a:ln w="9508" cap="flat">
            <a:noFill/>
            <a:prstDash val="solid"/>
            <a:miter/>
          </a:ln>
        </p:spPr>
        <p:txBody>
          <a:bodyPr wrap="square" lIns="144000" tIns="108000" rIns="144000" bIns="108000" rtlCol="0" anchor="t">
            <a:noAutofit/>
          </a:bodyPr>
          <a:lstStyle/>
          <a:p>
            <a:pPr algn="l">
              <a:lnSpc>
                <a:spcPct val="90000"/>
              </a:lnSpc>
              <a:spcAft>
                <a:spcPts val="1200"/>
              </a:spcAft>
            </a:pPr>
            <a:endParaRPr lang="en-GB" sz="1400" b="0" i="0" dirty="0">
              <a:solidFill>
                <a:schemeClr val="bg1"/>
              </a:solidFill>
              <a:latin typeface="Century Gothic" panose="020B0502020202020204" pitchFamily="34" charset="0"/>
            </a:endParaRPr>
          </a:p>
        </p:txBody>
      </p:sp>
      <p:sp>
        <p:nvSpPr>
          <p:cNvPr id="17" name="Content Placeholder 39">
            <a:extLst>
              <a:ext uri="{FF2B5EF4-FFF2-40B4-BE49-F238E27FC236}">
                <a16:creationId xmlns:a16="http://schemas.microsoft.com/office/drawing/2014/main" id="{205AFFE4-B296-9545-9B03-B6FB9955AD35}"/>
              </a:ext>
            </a:extLst>
          </p:cNvPr>
          <p:cNvSpPr>
            <a:spLocks noGrp="1"/>
          </p:cNvSpPr>
          <p:nvPr>
            <p:ph idx="1" hasCustomPrompt="1"/>
          </p:nvPr>
        </p:nvSpPr>
        <p:spPr>
          <a:xfrm>
            <a:off x="720000"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1" name="Content Placeholder 39">
            <a:extLst>
              <a:ext uri="{FF2B5EF4-FFF2-40B4-BE49-F238E27FC236}">
                <a16:creationId xmlns:a16="http://schemas.microsoft.com/office/drawing/2014/main" id="{4B09820D-8874-7741-B2D1-9EB1200047A8}"/>
              </a:ext>
            </a:extLst>
          </p:cNvPr>
          <p:cNvSpPr>
            <a:spLocks noGrp="1"/>
          </p:cNvSpPr>
          <p:nvPr>
            <p:ph idx="31" hasCustomPrompt="1"/>
          </p:nvPr>
        </p:nvSpPr>
        <p:spPr>
          <a:xfrm>
            <a:off x="3434113"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2" name="Content Placeholder 39">
            <a:extLst>
              <a:ext uri="{FF2B5EF4-FFF2-40B4-BE49-F238E27FC236}">
                <a16:creationId xmlns:a16="http://schemas.microsoft.com/office/drawing/2014/main" id="{13F9E1CA-33F1-E142-B523-9E5BFC6CE94D}"/>
              </a:ext>
            </a:extLst>
          </p:cNvPr>
          <p:cNvSpPr>
            <a:spLocks noGrp="1"/>
          </p:cNvSpPr>
          <p:nvPr>
            <p:ph idx="32" hasCustomPrompt="1"/>
          </p:nvPr>
        </p:nvSpPr>
        <p:spPr>
          <a:xfrm>
            <a:off x="6148226"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3" name="Content Placeholder 39">
            <a:extLst>
              <a:ext uri="{FF2B5EF4-FFF2-40B4-BE49-F238E27FC236}">
                <a16:creationId xmlns:a16="http://schemas.microsoft.com/office/drawing/2014/main" id="{BBFECABB-3D97-124B-9A59-E51A9263687E}"/>
              </a:ext>
            </a:extLst>
          </p:cNvPr>
          <p:cNvSpPr>
            <a:spLocks noGrp="1"/>
          </p:cNvSpPr>
          <p:nvPr>
            <p:ph idx="33" hasCustomPrompt="1"/>
          </p:nvPr>
        </p:nvSpPr>
        <p:spPr>
          <a:xfrm>
            <a:off x="8862338" y="1422000"/>
            <a:ext cx="2610000" cy="4852800"/>
          </a:xfrm>
          <a:prstGeom prst="rect">
            <a:avLst/>
          </a:prstGeom>
          <a:no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8" name="TextBox 17">
            <a:extLst>
              <a:ext uri="{FF2B5EF4-FFF2-40B4-BE49-F238E27FC236}">
                <a16:creationId xmlns:a16="http://schemas.microsoft.com/office/drawing/2014/main" id="{187ECE55-F004-5644-ABDD-EA39B81DF074}"/>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20" name="Text Placeholder 7">
            <a:extLst>
              <a:ext uri="{FF2B5EF4-FFF2-40B4-BE49-F238E27FC236}">
                <a16:creationId xmlns:a16="http://schemas.microsoft.com/office/drawing/2014/main" id="{5BAE7CCA-5B93-CB4F-8660-67931663E30E}"/>
              </a:ext>
            </a:extLst>
          </p:cNvPr>
          <p:cNvSpPr>
            <a:spLocks noGrp="1"/>
          </p:cNvSpPr>
          <p:nvPr>
            <p:ph type="body" sz="quarter" idx="30"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
        <p:nvSpPr>
          <p:cNvPr id="24" name="TextBox 23">
            <a:extLst>
              <a:ext uri="{FF2B5EF4-FFF2-40B4-BE49-F238E27FC236}">
                <a16:creationId xmlns:a16="http://schemas.microsoft.com/office/drawing/2014/main" id="{B2C64D27-97B7-704C-A4A4-9D80F145A4EA}"/>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Tree>
    <p:extLst>
      <p:ext uri="{BB962C8B-B14F-4D97-AF65-F5344CB8AC3E}">
        <p14:creationId xmlns:p14="http://schemas.microsoft.com/office/powerpoint/2010/main" val="96172600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1DA511CC-8967-ED4F-8504-35781F695A19}"/>
              </a:ext>
            </a:extLst>
          </p:cNvPr>
          <p:cNvSpPr>
            <a:spLocks noGrp="1"/>
          </p:cNvSpPr>
          <p:nvPr>
            <p:ph idx="37" hasCustomPrompt="1"/>
          </p:nvPr>
        </p:nvSpPr>
        <p:spPr>
          <a:xfrm>
            <a:off x="4341600" y="1422000"/>
            <a:ext cx="3509999" cy="4852800"/>
          </a:xfrm>
          <a:custGeom>
            <a:avLst/>
            <a:gdLst>
              <a:gd name="connsiteX0" fmla="*/ 0 w 3509999"/>
              <a:gd name="connsiteY0" fmla="*/ 0 h 4852800"/>
              <a:gd name="connsiteX1" fmla="*/ 899999 w 3509999"/>
              <a:gd name="connsiteY1" fmla="*/ 0 h 4852800"/>
              <a:gd name="connsiteX2" fmla="*/ 2367688 w 3509999"/>
              <a:gd name="connsiteY2" fmla="*/ 0 h 4852800"/>
              <a:gd name="connsiteX3" fmla="*/ 3267687 w 3509999"/>
              <a:gd name="connsiteY3" fmla="*/ 0 h 4852800"/>
              <a:gd name="connsiteX4" fmla="*/ 3509999 w 3509999"/>
              <a:gd name="connsiteY4" fmla="*/ 242312 h 4852800"/>
              <a:gd name="connsiteX5" fmla="*/ 3509999 w 3509999"/>
              <a:gd name="connsiteY5" fmla="*/ 4852800 h 4852800"/>
              <a:gd name="connsiteX6" fmla="*/ 2610000 w 3509999"/>
              <a:gd name="connsiteY6" fmla="*/ 4852800 h 4852800"/>
              <a:gd name="connsiteX7" fmla="*/ 899999 w 3509999"/>
              <a:gd name="connsiteY7" fmla="*/ 4852800 h 4852800"/>
              <a:gd name="connsiteX8" fmla="*/ 0 w 3509999"/>
              <a:gd name="connsiteY8"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9999" h="4852800">
                <a:moveTo>
                  <a:pt x="0" y="0"/>
                </a:moveTo>
                <a:lnTo>
                  <a:pt x="899999" y="0"/>
                </a:lnTo>
                <a:lnTo>
                  <a:pt x="2367688" y="0"/>
                </a:lnTo>
                <a:lnTo>
                  <a:pt x="3267687" y="0"/>
                </a:lnTo>
                <a:lnTo>
                  <a:pt x="3509999" y="242312"/>
                </a:lnTo>
                <a:lnTo>
                  <a:pt x="3509999" y="4852800"/>
                </a:lnTo>
                <a:lnTo>
                  <a:pt x="2610000" y="4852800"/>
                </a:lnTo>
                <a:lnTo>
                  <a:pt x="899999" y="4852800"/>
                </a:lnTo>
                <a:lnTo>
                  <a:pt x="0" y="4852800"/>
                </a:lnTo>
                <a:close/>
              </a:path>
            </a:pathLst>
          </a:custGeom>
          <a:solidFill>
            <a:schemeClr val="accent2"/>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3" name="Content Placeholder 22">
            <a:extLst>
              <a:ext uri="{FF2B5EF4-FFF2-40B4-BE49-F238E27FC236}">
                <a16:creationId xmlns:a16="http://schemas.microsoft.com/office/drawing/2014/main" id="{C226FB17-2CD4-D345-B5A6-51159829DC88}"/>
              </a:ext>
            </a:extLst>
          </p:cNvPr>
          <p:cNvSpPr>
            <a:spLocks noGrp="1"/>
          </p:cNvSpPr>
          <p:nvPr>
            <p:ph idx="28" hasCustomPrompt="1"/>
          </p:nvPr>
        </p:nvSpPr>
        <p:spPr>
          <a:xfrm>
            <a:off x="720000" y="1422000"/>
            <a:ext cx="3509999" cy="4852800"/>
          </a:xfrm>
          <a:custGeom>
            <a:avLst/>
            <a:gdLst>
              <a:gd name="connsiteX0" fmla="*/ 0 w 3509999"/>
              <a:gd name="connsiteY0" fmla="*/ 0 h 4852800"/>
              <a:gd name="connsiteX1" fmla="*/ 899999 w 3509999"/>
              <a:gd name="connsiteY1" fmla="*/ 0 h 4852800"/>
              <a:gd name="connsiteX2" fmla="*/ 2367688 w 3509999"/>
              <a:gd name="connsiteY2" fmla="*/ 0 h 4852800"/>
              <a:gd name="connsiteX3" fmla="*/ 3267687 w 3509999"/>
              <a:gd name="connsiteY3" fmla="*/ 0 h 4852800"/>
              <a:gd name="connsiteX4" fmla="*/ 3509999 w 3509999"/>
              <a:gd name="connsiteY4" fmla="*/ 242312 h 4852800"/>
              <a:gd name="connsiteX5" fmla="*/ 3509999 w 3509999"/>
              <a:gd name="connsiteY5" fmla="*/ 4852800 h 4852800"/>
              <a:gd name="connsiteX6" fmla="*/ 2610000 w 3509999"/>
              <a:gd name="connsiteY6" fmla="*/ 4852800 h 4852800"/>
              <a:gd name="connsiteX7" fmla="*/ 899999 w 3509999"/>
              <a:gd name="connsiteY7" fmla="*/ 4852800 h 4852800"/>
              <a:gd name="connsiteX8" fmla="*/ 0 w 3509999"/>
              <a:gd name="connsiteY8"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9999" h="4852800">
                <a:moveTo>
                  <a:pt x="0" y="0"/>
                </a:moveTo>
                <a:lnTo>
                  <a:pt x="899999" y="0"/>
                </a:lnTo>
                <a:lnTo>
                  <a:pt x="2367688" y="0"/>
                </a:lnTo>
                <a:lnTo>
                  <a:pt x="3267687" y="0"/>
                </a:lnTo>
                <a:lnTo>
                  <a:pt x="3509999" y="242312"/>
                </a:lnTo>
                <a:lnTo>
                  <a:pt x="3509999" y="4852800"/>
                </a:lnTo>
                <a:lnTo>
                  <a:pt x="2610000" y="4852800"/>
                </a:lnTo>
                <a:lnTo>
                  <a:pt x="899999" y="4852800"/>
                </a:lnTo>
                <a:lnTo>
                  <a:pt x="0" y="4852800"/>
                </a:lnTo>
                <a:close/>
              </a:path>
            </a:pathLst>
          </a:custGeom>
          <a:solidFill>
            <a:srgbClr val="001A41"/>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chemeClr val="bg1"/>
                </a:solidFill>
                <a:latin typeface="+mn-lt"/>
              </a:defRPr>
            </a:lvl1pPr>
            <a:lvl2pPr marL="177800" indent="-177800">
              <a:lnSpc>
                <a:spcPct val="100000"/>
              </a:lnSpc>
              <a:spcAft>
                <a:spcPts val="1000"/>
              </a:spcAft>
              <a:buFont typeface="Wingdings" pitchFamily="2" charset="2"/>
              <a:buChar char="§"/>
              <a:tabLst/>
              <a:defRPr lang="en-GB" sz="1600" dirty="0">
                <a:solidFill>
                  <a:schemeClr val="bg1"/>
                </a:solidFill>
                <a:latin typeface="+mn-lt"/>
              </a:defRPr>
            </a:lvl2pPr>
            <a:lvl3pPr marL="342900" indent="-161925">
              <a:lnSpc>
                <a:spcPct val="100000"/>
              </a:lnSpc>
              <a:spcAft>
                <a:spcPts val="1000"/>
              </a:spcAft>
              <a:buFont typeface="Wingdings" pitchFamily="2" charset="2"/>
              <a:buChar char="§"/>
              <a:tabLst/>
              <a:defRPr lang="en-GB" sz="1400" dirty="0">
                <a:solidFill>
                  <a:schemeClr val="bg1"/>
                </a:solidFill>
                <a:latin typeface="+mn-lt"/>
              </a:defRPr>
            </a:lvl3pPr>
            <a:lvl4pPr marL="511175" indent="-146050">
              <a:lnSpc>
                <a:spcPct val="100000"/>
              </a:lnSpc>
              <a:spcAft>
                <a:spcPts val="1000"/>
              </a:spcAft>
              <a:buFont typeface="Wingdings" pitchFamily="2" charset="2"/>
              <a:buChar char="§"/>
              <a:tabLst/>
              <a:defRPr lang="en-GB" sz="1300" dirty="0">
                <a:solidFill>
                  <a:schemeClr val="bg1"/>
                </a:solidFill>
                <a:latin typeface="+mn-lt"/>
              </a:defRPr>
            </a:lvl4pPr>
            <a:lvl5pPr marL="651600" indent="-129600">
              <a:lnSpc>
                <a:spcPct val="100000"/>
              </a:lnSpc>
              <a:spcAft>
                <a:spcPts val="1000"/>
              </a:spcAft>
              <a:buFont typeface="Wingdings" pitchFamily="2" charset="2"/>
              <a:buChar char="§"/>
              <a:tabLst/>
              <a:defRPr lang="en-GB" sz="1200" dirty="0">
                <a:solidFill>
                  <a:schemeClr val="bg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9" name="Slide Number Placeholder 4">
            <a:extLst>
              <a:ext uri="{FF2B5EF4-FFF2-40B4-BE49-F238E27FC236}">
                <a16:creationId xmlns:a16="http://schemas.microsoft.com/office/drawing/2014/main" id="{ABF4C77F-0C76-F14C-81BA-63F6ABF9002C}"/>
              </a:ext>
            </a:extLst>
          </p:cNvPr>
          <p:cNvSpPr>
            <a:spLocks noGrp="1"/>
          </p:cNvSpPr>
          <p:nvPr>
            <p:ph type="sldNum" sz="quarter" idx="12"/>
          </p:nvPr>
        </p:nvSpPr>
        <p:spPr>
          <a:xfrm>
            <a:off x="11331798" y="252000"/>
            <a:ext cx="141064" cy="138499"/>
          </a:xfrm>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5" name="TextBox 14">
            <a:extLst>
              <a:ext uri="{FF2B5EF4-FFF2-40B4-BE49-F238E27FC236}">
                <a16:creationId xmlns:a16="http://schemas.microsoft.com/office/drawing/2014/main" id="{2AC26E66-EF48-454C-9914-88B0D52D4B91}"/>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26" name="Content Placeholder 25">
            <a:extLst>
              <a:ext uri="{FF2B5EF4-FFF2-40B4-BE49-F238E27FC236}">
                <a16:creationId xmlns:a16="http://schemas.microsoft.com/office/drawing/2014/main" id="{1A43DC1F-D3F3-F64C-B975-EB9BB14E4459}"/>
              </a:ext>
            </a:extLst>
          </p:cNvPr>
          <p:cNvSpPr>
            <a:spLocks noGrp="1"/>
          </p:cNvSpPr>
          <p:nvPr>
            <p:ph idx="38" hasCustomPrompt="1"/>
          </p:nvPr>
        </p:nvSpPr>
        <p:spPr>
          <a:xfrm>
            <a:off x="7963199" y="1422000"/>
            <a:ext cx="3509999" cy="4852800"/>
          </a:xfrm>
          <a:custGeom>
            <a:avLst/>
            <a:gdLst>
              <a:gd name="connsiteX0" fmla="*/ 0 w 3509999"/>
              <a:gd name="connsiteY0" fmla="*/ 0 h 4852800"/>
              <a:gd name="connsiteX1" fmla="*/ 899999 w 3509999"/>
              <a:gd name="connsiteY1" fmla="*/ 0 h 4852800"/>
              <a:gd name="connsiteX2" fmla="*/ 2367688 w 3509999"/>
              <a:gd name="connsiteY2" fmla="*/ 0 h 4852800"/>
              <a:gd name="connsiteX3" fmla="*/ 3267687 w 3509999"/>
              <a:gd name="connsiteY3" fmla="*/ 0 h 4852800"/>
              <a:gd name="connsiteX4" fmla="*/ 3509999 w 3509999"/>
              <a:gd name="connsiteY4" fmla="*/ 242312 h 4852800"/>
              <a:gd name="connsiteX5" fmla="*/ 3509999 w 3509999"/>
              <a:gd name="connsiteY5" fmla="*/ 4852800 h 4852800"/>
              <a:gd name="connsiteX6" fmla="*/ 2610000 w 3509999"/>
              <a:gd name="connsiteY6" fmla="*/ 4852800 h 4852800"/>
              <a:gd name="connsiteX7" fmla="*/ 899999 w 3509999"/>
              <a:gd name="connsiteY7" fmla="*/ 4852800 h 4852800"/>
              <a:gd name="connsiteX8" fmla="*/ 0 w 3509999"/>
              <a:gd name="connsiteY8"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9999" h="4852800">
                <a:moveTo>
                  <a:pt x="0" y="0"/>
                </a:moveTo>
                <a:lnTo>
                  <a:pt x="899999" y="0"/>
                </a:lnTo>
                <a:lnTo>
                  <a:pt x="2367688" y="0"/>
                </a:lnTo>
                <a:lnTo>
                  <a:pt x="3267687" y="0"/>
                </a:lnTo>
                <a:lnTo>
                  <a:pt x="3509999" y="242312"/>
                </a:lnTo>
                <a:lnTo>
                  <a:pt x="3509999" y="4852800"/>
                </a:lnTo>
                <a:lnTo>
                  <a:pt x="2610000" y="4852800"/>
                </a:lnTo>
                <a:lnTo>
                  <a:pt x="899999" y="4852800"/>
                </a:lnTo>
                <a:lnTo>
                  <a:pt x="0" y="4852800"/>
                </a:lnTo>
                <a:close/>
              </a:path>
            </a:pathLst>
          </a:custGeom>
          <a:solidFill>
            <a:schemeClr val="accent6"/>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13" name="TextBox 12">
            <a:extLst>
              <a:ext uri="{FF2B5EF4-FFF2-40B4-BE49-F238E27FC236}">
                <a16:creationId xmlns:a16="http://schemas.microsoft.com/office/drawing/2014/main" id="{2FE8FF24-2ACE-5C48-962D-5ECB253E6178}"/>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
        <p:nvSpPr>
          <p:cNvPr id="3" name="Text Placeholder 7">
            <a:extLst>
              <a:ext uri="{FF2B5EF4-FFF2-40B4-BE49-F238E27FC236}">
                <a16:creationId xmlns:a16="http://schemas.microsoft.com/office/drawing/2014/main" id="{25ACCA63-B0B6-982D-A3BB-3DCEC4DCE979}"/>
              </a:ext>
            </a:extLst>
          </p:cNvPr>
          <p:cNvSpPr>
            <a:spLocks noGrp="1"/>
          </p:cNvSpPr>
          <p:nvPr>
            <p:ph type="body" sz="quarter" idx="39"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lvl1pPr>
          </a:lstStyle>
          <a:p>
            <a:pPr lvl="0"/>
            <a:r>
              <a:rPr lang="en-GB" dirty="0"/>
              <a:t>Source &amp; footnotes field</a:t>
            </a:r>
          </a:p>
        </p:txBody>
      </p:sp>
    </p:spTree>
    <p:extLst>
      <p:ext uri="{BB962C8B-B14F-4D97-AF65-F5344CB8AC3E}">
        <p14:creationId xmlns:p14="http://schemas.microsoft.com/office/powerpoint/2010/main" val="310642437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7C6097BA-7ABD-9D41-BC20-37DB0A74B6BC}"/>
              </a:ext>
            </a:extLst>
          </p:cNvPr>
          <p:cNvSpPr>
            <a:spLocks noGrp="1"/>
          </p:cNvSpPr>
          <p:nvPr>
            <p:ph idx="39" hasCustomPrompt="1"/>
          </p:nvPr>
        </p:nvSpPr>
        <p:spPr>
          <a:xfrm>
            <a:off x="6148799" y="1422000"/>
            <a:ext cx="5324399" cy="4852800"/>
          </a:xfrm>
          <a:custGeom>
            <a:avLst/>
            <a:gdLst>
              <a:gd name="connsiteX0" fmla="*/ 0 w 5324399"/>
              <a:gd name="connsiteY0" fmla="*/ 0 h 4852800"/>
              <a:gd name="connsiteX1" fmla="*/ 899999 w 5324399"/>
              <a:gd name="connsiteY1" fmla="*/ 0 h 4852800"/>
              <a:gd name="connsiteX2" fmla="*/ 1814400 w 5324399"/>
              <a:gd name="connsiteY2" fmla="*/ 0 h 4852800"/>
              <a:gd name="connsiteX3" fmla="*/ 2367688 w 5324399"/>
              <a:gd name="connsiteY3" fmla="*/ 0 h 4852800"/>
              <a:gd name="connsiteX4" fmla="*/ 2714399 w 5324399"/>
              <a:gd name="connsiteY4" fmla="*/ 0 h 4852800"/>
              <a:gd name="connsiteX5" fmla="*/ 3267687 w 5324399"/>
              <a:gd name="connsiteY5" fmla="*/ 0 h 4852800"/>
              <a:gd name="connsiteX6" fmla="*/ 4182088 w 5324399"/>
              <a:gd name="connsiteY6" fmla="*/ 0 h 4852800"/>
              <a:gd name="connsiteX7" fmla="*/ 5082087 w 5324399"/>
              <a:gd name="connsiteY7" fmla="*/ 0 h 4852800"/>
              <a:gd name="connsiteX8" fmla="*/ 5324399 w 5324399"/>
              <a:gd name="connsiteY8" fmla="*/ 242312 h 4852800"/>
              <a:gd name="connsiteX9" fmla="*/ 5324399 w 5324399"/>
              <a:gd name="connsiteY9" fmla="*/ 4852800 h 4852800"/>
              <a:gd name="connsiteX10" fmla="*/ 4424400 w 5324399"/>
              <a:gd name="connsiteY10" fmla="*/ 4852800 h 4852800"/>
              <a:gd name="connsiteX11" fmla="*/ 3509999 w 5324399"/>
              <a:gd name="connsiteY11" fmla="*/ 4852800 h 4852800"/>
              <a:gd name="connsiteX12" fmla="*/ 2714399 w 5324399"/>
              <a:gd name="connsiteY12" fmla="*/ 4852800 h 4852800"/>
              <a:gd name="connsiteX13" fmla="*/ 2610000 w 5324399"/>
              <a:gd name="connsiteY13" fmla="*/ 4852800 h 4852800"/>
              <a:gd name="connsiteX14" fmla="*/ 1814400 w 5324399"/>
              <a:gd name="connsiteY14" fmla="*/ 4852800 h 4852800"/>
              <a:gd name="connsiteX15" fmla="*/ 899999 w 5324399"/>
              <a:gd name="connsiteY15" fmla="*/ 4852800 h 4852800"/>
              <a:gd name="connsiteX16" fmla="*/ 0 w 5324399"/>
              <a:gd name="connsiteY16"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24399" h="4852800">
                <a:moveTo>
                  <a:pt x="0" y="0"/>
                </a:moveTo>
                <a:lnTo>
                  <a:pt x="899999" y="0"/>
                </a:lnTo>
                <a:lnTo>
                  <a:pt x="1814400" y="0"/>
                </a:lnTo>
                <a:lnTo>
                  <a:pt x="2367688" y="0"/>
                </a:lnTo>
                <a:lnTo>
                  <a:pt x="2714399" y="0"/>
                </a:lnTo>
                <a:lnTo>
                  <a:pt x="3267687" y="0"/>
                </a:lnTo>
                <a:lnTo>
                  <a:pt x="4182088" y="0"/>
                </a:lnTo>
                <a:lnTo>
                  <a:pt x="5082087" y="0"/>
                </a:lnTo>
                <a:lnTo>
                  <a:pt x="5324399" y="242312"/>
                </a:lnTo>
                <a:lnTo>
                  <a:pt x="5324399" y="4852800"/>
                </a:lnTo>
                <a:lnTo>
                  <a:pt x="4424400" y="4852800"/>
                </a:lnTo>
                <a:lnTo>
                  <a:pt x="3509999" y="4852800"/>
                </a:lnTo>
                <a:lnTo>
                  <a:pt x="2714399" y="4852800"/>
                </a:lnTo>
                <a:lnTo>
                  <a:pt x="2610000" y="4852800"/>
                </a:lnTo>
                <a:lnTo>
                  <a:pt x="1814400" y="4852800"/>
                </a:lnTo>
                <a:lnTo>
                  <a:pt x="899999" y="4852800"/>
                </a:lnTo>
                <a:lnTo>
                  <a:pt x="0" y="4852800"/>
                </a:lnTo>
                <a:close/>
              </a:path>
            </a:pathLst>
          </a:custGeom>
          <a:solidFill>
            <a:schemeClr val="accent2"/>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16" name="Content Placeholder 15">
            <a:extLst>
              <a:ext uri="{FF2B5EF4-FFF2-40B4-BE49-F238E27FC236}">
                <a16:creationId xmlns:a16="http://schemas.microsoft.com/office/drawing/2014/main" id="{02EC8DA9-20A5-8A41-84C0-4F0FAF90B006}"/>
              </a:ext>
            </a:extLst>
          </p:cNvPr>
          <p:cNvSpPr>
            <a:spLocks noGrp="1"/>
          </p:cNvSpPr>
          <p:nvPr>
            <p:ph idx="38" hasCustomPrompt="1"/>
          </p:nvPr>
        </p:nvSpPr>
        <p:spPr>
          <a:xfrm>
            <a:off x="720000" y="1422000"/>
            <a:ext cx="5324399" cy="4852800"/>
          </a:xfrm>
          <a:custGeom>
            <a:avLst/>
            <a:gdLst>
              <a:gd name="connsiteX0" fmla="*/ 0 w 5324399"/>
              <a:gd name="connsiteY0" fmla="*/ 0 h 4852800"/>
              <a:gd name="connsiteX1" fmla="*/ 899999 w 5324399"/>
              <a:gd name="connsiteY1" fmla="*/ 0 h 4852800"/>
              <a:gd name="connsiteX2" fmla="*/ 1814400 w 5324399"/>
              <a:gd name="connsiteY2" fmla="*/ 0 h 4852800"/>
              <a:gd name="connsiteX3" fmla="*/ 2367688 w 5324399"/>
              <a:gd name="connsiteY3" fmla="*/ 0 h 4852800"/>
              <a:gd name="connsiteX4" fmla="*/ 2714399 w 5324399"/>
              <a:gd name="connsiteY4" fmla="*/ 0 h 4852800"/>
              <a:gd name="connsiteX5" fmla="*/ 3267687 w 5324399"/>
              <a:gd name="connsiteY5" fmla="*/ 0 h 4852800"/>
              <a:gd name="connsiteX6" fmla="*/ 4182088 w 5324399"/>
              <a:gd name="connsiteY6" fmla="*/ 0 h 4852800"/>
              <a:gd name="connsiteX7" fmla="*/ 5082087 w 5324399"/>
              <a:gd name="connsiteY7" fmla="*/ 0 h 4852800"/>
              <a:gd name="connsiteX8" fmla="*/ 5324399 w 5324399"/>
              <a:gd name="connsiteY8" fmla="*/ 242312 h 4852800"/>
              <a:gd name="connsiteX9" fmla="*/ 5324399 w 5324399"/>
              <a:gd name="connsiteY9" fmla="*/ 4852800 h 4852800"/>
              <a:gd name="connsiteX10" fmla="*/ 4424400 w 5324399"/>
              <a:gd name="connsiteY10" fmla="*/ 4852800 h 4852800"/>
              <a:gd name="connsiteX11" fmla="*/ 3509999 w 5324399"/>
              <a:gd name="connsiteY11" fmla="*/ 4852800 h 4852800"/>
              <a:gd name="connsiteX12" fmla="*/ 2714399 w 5324399"/>
              <a:gd name="connsiteY12" fmla="*/ 4852800 h 4852800"/>
              <a:gd name="connsiteX13" fmla="*/ 2610000 w 5324399"/>
              <a:gd name="connsiteY13" fmla="*/ 4852800 h 4852800"/>
              <a:gd name="connsiteX14" fmla="*/ 1814400 w 5324399"/>
              <a:gd name="connsiteY14" fmla="*/ 4852800 h 4852800"/>
              <a:gd name="connsiteX15" fmla="*/ 899999 w 5324399"/>
              <a:gd name="connsiteY15" fmla="*/ 4852800 h 4852800"/>
              <a:gd name="connsiteX16" fmla="*/ 0 w 5324399"/>
              <a:gd name="connsiteY16"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24399" h="4852800">
                <a:moveTo>
                  <a:pt x="0" y="0"/>
                </a:moveTo>
                <a:lnTo>
                  <a:pt x="899999" y="0"/>
                </a:lnTo>
                <a:lnTo>
                  <a:pt x="1814400" y="0"/>
                </a:lnTo>
                <a:lnTo>
                  <a:pt x="2367688" y="0"/>
                </a:lnTo>
                <a:lnTo>
                  <a:pt x="2714399" y="0"/>
                </a:lnTo>
                <a:lnTo>
                  <a:pt x="3267687" y="0"/>
                </a:lnTo>
                <a:lnTo>
                  <a:pt x="4182088" y="0"/>
                </a:lnTo>
                <a:lnTo>
                  <a:pt x="5082087" y="0"/>
                </a:lnTo>
                <a:lnTo>
                  <a:pt x="5324399" y="242312"/>
                </a:lnTo>
                <a:lnTo>
                  <a:pt x="5324399" y="4852800"/>
                </a:lnTo>
                <a:lnTo>
                  <a:pt x="4424400" y="4852800"/>
                </a:lnTo>
                <a:lnTo>
                  <a:pt x="3509999" y="4852800"/>
                </a:lnTo>
                <a:lnTo>
                  <a:pt x="2714399" y="4852800"/>
                </a:lnTo>
                <a:lnTo>
                  <a:pt x="2610000" y="4852800"/>
                </a:lnTo>
                <a:lnTo>
                  <a:pt x="1814400" y="4852800"/>
                </a:lnTo>
                <a:lnTo>
                  <a:pt x="899999" y="4852800"/>
                </a:lnTo>
                <a:lnTo>
                  <a:pt x="0" y="4852800"/>
                </a:lnTo>
                <a:close/>
              </a:path>
            </a:pathLst>
          </a:custGeom>
          <a:solidFill>
            <a:schemeClr val="bg2"/>
          </a:solidFill>
          <a:ln w="9508" cap="flat">
            <a:noFill/>
            <a:prstDash val="solid"/>
            <a:miter/>
          </a:ln>
        </p:spPr>
        <p:txBody>
          <a:bodyPr wrap="square" lIns="180000" tIns="144000" rIns="180000" bIns="144000" rtlCol="0" anchor="t">
            <a:noAutofit/>
          </a:bodyPr>
          <a:lstStyle>
            <a:lvl1pPr marL="0" indent="0">
              <a:lnSpc>
                <a:spcPct val="100000"/>
              </a:lnSpc>
              <a:spcAft>
                <a:spcPts val="1000"/>
              </a:spcAft>
              <a:buNone/>
              <a:defRPr lang="en-GB" sz="1800" b="1" dirty="0">
                <a:solidFill>
                  <a:srgbClr val="001A41"/>
                </a:solidFill>
                <a:latin typeface="+mn-lt"/>
              </a:defRPr>
            </a:lvl1pPr>
            <a:lvl2pPr marL="177800" indent="-177800">
              <a:lnSpc>
                <a:spcPct val="100000"/>
              </a:lnSpc>
              <a:spcAft>
                <a:spcPts val="1000"/>
              </a:spcAft>
              <a:buFont typeface="Wingdings" pitchFamily="2" charset="2"/>
              <a:buChar char="§"/>
              <a:tabLst/>
              <a:defRPr lang="en-GB" sz="1600" dirty="0">
                <a:solidFill>
                  <a:srgbClr val="001A41"/>
                </a:solidFill>
                <a:latin typeface="+mn-lt"/>
              </a:defRPr>
            </a:lvl2pPr>
            <a:lvl3pPr marL="342900" indent="-161925">
              <a:lnSpc>
                <a:spcPct val="100000"/>
              </a:lnSpc>
              <a:spcAft>
                <a:spcPts val="1000"/>
              </a:spcAft>
              <a:buFont typeface="Wingdings" pitchFamily="2" charset="2"/>
              <a:buChar char="§"/>
              <a:tabLst/>
              <a:defRPr lang="en-GB" sz="1400" dirty="0">
                <a:solidFill>
                  <a:srgbClr val="001A41"/>
                </a:solidFill>
                <a:latin typeface="+mn-lt"/>
              </a:defRPr>
            </a:lvl3pPr>
            <a:lvl4pPr marL="511175" indent="-146050">
              <a:lnSpc>
                <a:spcPct val="100000"/>
              </a:lnSpc>
              <a:spcAft>
                <a:spcPts val="1000"/>
              </a:spcAft>
              <a:buFont typeface="Wingdings" pitchFamily="2" charset="2"/>
              <a:buChar char="§"/>
              <a:tabLst/>
              <a:defRPr lang="en-GB" sz="1300" dirty="0">
                <a:solidFill>
                  <a:srgbClr val="001A41"/>
                </a:solidFill>
                <a:latin typeface="+mn-lt"/>
              </a:defRPr>
            </a:lvl4pPr>
            <a:lvl5pPr marL="650875" indent="-130175">
              <a:lnSpc>
                <a:spcPct val="100000"/>
              </a:lnSpc>
              <a:spcAft>
                <a:spcPts val="1000"/>
              </a:spcAft>
              <a:buFont typeface="Wingdings" pitchFamily="2" charset="2"/>
              <a:buChar char="§"/>
              <a:tabLst/>
              <a:defRPr lang="en-GB" sz="1200" dirty="0">
                <a:solidFill>
                  <a:srgbClr val="001A41"/>
                </a:solidFill>
                <a:latin typeface="+mn-lt"/>
              </a:defRPr>
            </a:lvl5pPr>
          </a:lstStyle>
          <a:p>
            <a:pPr lvl="0"/>
            <a:r>
              <a:rPr lang="en-GB" dirty="0"/>
              <a:t>Title text in bold</a:t>
            </a:r>
          </a:p>
          <a:p>
            <a:pPr lvl="1"/>
            <a:r>
              <a:rPr lang="en-GB" dirty="0"/>
              <a:t>Body copy in regular</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0" name="TextBox 9">
            <a:extLst>
              <a:ext uri="{FF2B5EF4-FFF2-40B4-BE49-F238E27FC236}">
                <a16:creationId xmlns:a16="http://schemas.microsoft.com/office/drawing/2014/main" id="{908FE1C2-F5F5-7249-A18C-A6C859E6A15A}"/>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12" name="TextBox 11">
            <a:extLst>
              <a:ext uri="{FF2B5EF4-FFF2-40B4-BE49-F238E27FC236}">
                <a16:creationId xmlns:a16="http://schemas.microsoft.com/office/drawing/2014/main" id="{D0F422F9-E2B2-B048-96F7-8F6AC35CA40A}"/>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
        <p:nvSpPr>
          <p:cNvPr id="3" name="Text Placeholder 7">
            <a:extLst>
              <a:ext uri="{FF2B5EF4-FFF2-40B4-BE49-F238E27FC236}">
                <a16:creationId xmlns:a16="http://schemas.microsoft.com/office/drawing/2014/main" id="{849F77F8-47C6-7BEB-6ED6-E331CBE6FD6B}"/>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39974610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7" name="Content Placeholder 26">
            <a:extLst>
              <a:ext uri="{FF2B5EF4-FFF2-40B4-BE49-F238E27FC236}">
                <a16:creationId xmlns:a16="http://schemas.microsoft.com/office/drawing/2014/main" id="{5BB9B382-EA58-8D44-B68A-32F777E7E666}"/>
              </a:ext>
            </a:extLst>
          </p:cNvPr>
          <p:cNvSpPr>
            <a:spLocks noGrp="1"/>
          </p:cNvSpPr>
          <p:nvPr>
            <p:ph idx="38" hasCustomPrompt="1"/>
          </p:nvPr>
        </p:nvSpPr>
        <p:spPr>
          <a:xfrm>
            <a:off x="6148798" y="1422400"/>
            <a:ext cx="5324400" cy="2376000"/>
          </a:xfrm>
          <a:custGeom>
            <a:avLst/>
            <a:gdLst>
              <a:gd name="connsiteX0" fmla="*/ 0 w 5324400"/>
              <a:gd name="connsiteY0" fmla="*/ 0 h 2376000"/>
              <a:gd name="connsiteX1" fmla="*/ 4928392 w 5324400"/>
              <a:gd name="connsiteY1" fmla="*/ 0 h 2376000"/>
              <a:gd name="connsiteX2" fmla="*/ 5081692 w 5324400"/>
              <a:gd name="connsiteY2" fmla="*/ 0 h 2376000"/>
              <a:gd name="connsiteX3" fmla="*/ 5324400 w 5324400"/>
              <a:gd name="connsiteY3" fmla="*/ 242708 h 2376000"/>
              <a:gd name="connsiteX4" fmla="*/ 5324400 w 5324400"/>
              <a:gd name="connsiteY4" fmla="*/ 396008 h 2376000"/>
              <a:gd name="connsiteX5" fmla="*/ 5324400 w 5324400"/>
              <a:gd name="connsiteY5" fmla="*/ 2376000 h 2376000"/>
              <a:gd name="connsiteX6" fmla="*/ 0 w 5324400"/>
              <a:gd name="connsiteY6" fmla="*/ 2376000 h 23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4400" h="2376000">
                <a:moveTo>
                  <a:pt x="0" y="0"/>
                </a:moveTo>
                <a:lnTo>
                  <a:pt x="4928392" y="0"/>
                </a:lnTo>
                <a:lnTo>
                  <a:pt x="5081692" y="0"/>
                </a:lnTo>
                <a:lnTo>
                  <a:pt x="5324400" y="242708"/>
                </a:lnTo>
                <a:lnTo>
                  <a:pt x="5324400" y="396008"/>
                </a:lnTo>
                <a:lnTo>
                  <a:pt x="5324400" y="2376000"/>
                </a:lnTo>
                <a:lnTo>
                  <a:pt x="0" y="2376000"/>
                </a:lnTo>
                <a:close/>
              </a:path>
            </a:pathLst>
          </a:custGeom>
          <a:solidFill>
            <a:schemeClr val="accent6"/>
          </a:solidFill>
          <a:ln w="9508" cap="flat">
            <a:noFill/>
            <a:prstDash val="solid"/>
            <a:miter/>
          </a:ln>
        </p:spPr>
        <p:txBody>
          <a:bodyPr vert="horz" wrap="square" lIns="180000" tIns="144000" rIns="180000" bIns="144000" rtlCol="0" anchor="t">
            <a:noAutofit/>
          </a:bodyPr>
          <a:lstStyle>
            <a:lvl1pPr marL="0" indent="0">
              <a:buNone/>
              <a:defRPr lang="en-GB" sz="1800" b="1" dirty="0">
                <a:solidFill>
                  <a:srgbClr val="001A41"/>
                </a:solidFill>
                <a:latin typeface="+mn-lt"/>
              </a:defRPr>
            </a:lvl1pPr>
            <a:lvl2pPr marL="176400" indent="-176400">
              <a:tabLst/>
              <a:defRPr lang="en-GB" sz="1600" dirty="0">
                <a:solidFill>
                  <a:srgbClr val="001A41"/>
                </a:solidFill>
                <a:latin typeface="+mn-lt"/>
              </a:defRPr>
            </a:lvl2pPr>
            <a:lvl3pPr marL="342000" indent="-162000">
              <a:tabLst/>
              <a:defRPr lang="en-GB" sz="1400" dirty="0">
                <a:solidFill>
                  <a:srgbClr val="001A41"/>
                </a:solidFill>
                <a:latin typeface="+mn-lt"/>
              </a:defRPr>
            </a:lvl3pPr>
            <a:lvl4pPr marL="511200" indent="-147600">
              <a:tabLst/>
              <a:defRPr lang="en-GB" sz="1300" dirty="0">
                <a:solidFill>
                  <a:srgbClr val="001A41"/>
                </a:solidFill>
                <a:latin typeface="+mn-lt"/>
              </a:defRPr>
            </a:lvl4pPr>
            <a:lvl5pPr marL="651600" indent="-129600">
              <a:tabLst/>
              <a:defRPr lang="en-GB" sz="1200" dirty="0">
                <a:solidFill>
                  <a:srgbClr val="001A41"/>
                </a:solidFill>
                <a:latin typeface="+mn-lt"/>
              </a:defRPr>
            </a:lvl5pPr>
          </a:lstStyle>
          <a:p>
            <a:pPr marL="180000" lvl="0" indent="-180000"/>
            <a:r>
              <a:rPr lang="en-GB" dirty="0"/>
              <a:t>Title text in bold</a:t>
            </a:r>
          </a:p>
          <a:p>
            <a:pPr marL="177800" lvl="1" indent="-177800"/>
            <a:r>
              <a:rPr lang="en-GB" dirty="0"/>
              <a:t>Second level</a:t>
            </a:r>
          </a:p>
          <a:p>
            <a:pPr marL="342900" lvl="2" indent="-161925"/>
            <a:r>
              <a:rPr lang="en-GB" dirty="0"/>
              <a:t>Third level</a:t>
            </a:r>
          </a:p>
          <a:p>
            <a:pPr marL="511175" lvl="3" indent="-146050"/>
            <a:r>
              <a:rPr lang="en-GB" dirty="0"/>
              <a:t>Fourth level</a:t>
            </a:r>
          </a:p>
          <a:p>
            <a:pPr marL="650875" lvl="4" indent="-130175"/>
            <a:r>
              <a:rPr lang="en-GB" dirty="0"/>
              <a:t>Fifth level</a:t>
            </a:r>
          </a:p>
        </p:txBody>
      </p:sp>
      <p:sp>
        <p:nvSpPr>
          <p:cNvPr id="26" name="Content Placeholder 25">
            <a:extLst>
              <a:ext uri="{FF2B5EF4-FFF2-40B4-BE49-F238E27FC236}">
                <a16:creationId xmlns:a16="http://schemas.microsoft.com/office/drawing/2014/main" id="{936592B4-1241-354F-B755-C7B190551361}"/>
              </a:ext>
            </a:extLst>
          </p:cNvPr>
          <p:cNvSpPr>
            <a:spLocks noGrp="1"/>
          </p:cNvSpPr>
          <p:nvPr>
            <p:ph idx="37" hasCustomPrompt="1"/>
          </p:nvPr>
        </p:nvSpPr>
        <p:spPr>
          <a:xfrm>
            <a:off x="6148798" y="3897800"/>
            <a:ext cx="5324400" cy="2376000"/>
          </a:xfrm>
          <a:custGeom>
            <a:avLst/>
            <a:gdLst>
              <a:gd name="connsiteX0" fmla="*/ 0 w 5324400"/>
              <a:gd name="connsiteY0" fmla="*/ 0 h 2376000"/>
              <a:gd name="connsiteX1" fmla="*/ 4928392 w 5324400"/>
              <a:gd name="connsiteY1" fmla="*/ 0 h 2376000"/>
              <a:gd name="connsiteX2" fmla="*/ 5081692 w 5324400"/>
              <a:gd name="connsiteY2" fmla="*/ 0 h 2376000"/>
              <a:gd name="connsiteX3" fmla="*/ 5324400 w 5324400"/>
              <a:gd name="connsiteY3" fmla="*/ 242708 h 2376000"/>
              <a:gd name="connsiteX4" fmla="*/ 5324400 w 5324400"/>
              <a:gd name="connsiteY4" fmla="*/ 396008 h 2376000"/>
              <a:gd name="connsiteX5" fmla="*/ 5324400 w 5324400"/>
              <a:gd name="connsiteY5" fmla="*/ 2376000 h 2376000"/>
              <a:gd name="connsiteX6" fmla="*/ 0 w 5324400"/>
              <a:gd name="connsiteY6" fmla="*/ 2376000 h 23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4400" h="2376000">
                <a:moveTo>
                  <a:pt x="0" y="0"/>
                </a:moveTo>
                <a:lnTo>
                  <a:pt x="4928392" y="0"/>
                </a:lnTo>
                <a:lnTo>
                  <a:pt x="5081692" y="0"/>
                </a:lnTo>
                <a:lnTo>
                  <a:pt x="5324400" y="242708"/>
                </a:lnTo>
                <a:lnTo>
                  <a:pt x="5324400" y="396008"/>
                </a:lnTo>
                <a:lnTo>
                  <a:pt x="5324400" y="2376000"/>
                </a:lnTo>
                <a:lnTo>
                  <a:pt x="0" y="2376000"/>
                </a:lnTo>
                <a:close/>
              </a:path>
            </a:pathLst>
          </a:custGeom>
          <a:solidFill>
            <a:schemeClr val="accent5"/>
          </a:solidFill>
          <a:ln w="9508" cap="flat">
            <a:noFill/>
            <a:prstDash val="solid"/>
            <a:miter/>
          </a:ln>
        </p:spPr>
        <p:txBody>
          <a:bodyPr vert="horz" wrap="square" lIns="180000" tIns="144000" rIns="180000" bIns="144000" rtlCol="0" anchor="t">
            <a:noAutofit/>
          </a:bodyPr>
          <a:lstStyle>
            <a:lvl1pPr marL="0" indent="0">
              <a:buNone/>
              <a:defRPr lang="en-GB" sz="1800" b="1" dirty="0">
                <a:solidFill>
                  <a:schemeClr val="bg1"/>
                </a:solidFill>
                <a:latin typeface="+mn-lt"/>
              </a:defRPr>
            </a:lvl1pPr>
            <a:lvl2pPr marL="176400" indent="-176400">
              <a:tabLst/>
              <a:defRPr lang="en-GB" sz="1600" dirty="0">
                <a:solidFill>
                  <a:schemeClr val="bg1"/>
                </a:solidFill>
                <a:latin typeface="+mn-lt"/>
              </a:defRPr>
            </a:lvl2pPr>
            <a:lvl3pPr marL="342000" indent="-161925">
              <a:tabLst/>
              <a:defRPr lang="en-GB" sz="1400" dirty="0">
                <a:solidFill>
                  <a:schemeClr val="bg1"/>
                </a:solidFill>
                <a:latin typeface="+mn-lt"/>
              </a:defRPr>
            </a:lvl3pPr>
            <a:lvl4pPr marL="511200" indent="-146050">
              <a:tabLst/>
              <a:defRPr lang="en-GB" sz="1300" dirty="0">
                <a:solidFill>
                  <a:schemeClr val="bg1"/>
                </a:solidFill>
                <a:latin typeface="+mn-lt"/>
              </a:defRPr>
            </a:lvl4pPr>
            <a:lvl5pPr marL="651600" indent="-149225">
              <a:tabLst/>
              <a:defRPr lang="en-GB" sz="1200" dirty="0">
                <a:solidFill>
                  <a:schemeClr val="bg1"/>
                </a:solidFill>
                <a:latin typeface="+mn-lt"/>
              </a:defRPr>
            </a:lvl5pPr>
          </a:lstStyle>
          <a:p>
            <a:pPr marL="180000" lvl="0" indent="-180000"/>
            <a:r>
              <a:rPr lang="en-GB" dirty="0"/>
              <a:t>Title text in bold</a:t>
            </a:r>
          </a:p>
          <a:p>
            <a:pPr marL="177800" lvl="1" indent="-177800"/>
            <a:r>
              <a:rPr lang="en-GB" dirty="0"/>
              <a:t>Second level</a:t>
            </a:r>
          </a:p>
          <a:p>
            <a:pPr marL="342900" lvl="2" indent="-161925"/>
            <a:r>
              <a:rPr lang="en-GB" dirty="0"/>
              <a:t>Third level</a:t>
            </a:r>
          </a:p>
          <a:p>
            <a:pPr marL="511175" lvl="3" indent="-146050"/>
            <a:r>
              <a:rPr lang="en-GB" dirty="0"/>
              <a:t>Fourth level</a:t>
            </a:r>
          </a:p>
          <a:p>
            <a:pPr marL="650875" lvl="4" indent="-130175"/>
            <a:r>
              <a:rPr lang="en-GB" dirty="0"/>
              <a:t>Fifth level</a:t>
            </a:r>
          </a:p>
        </p:txBody>
      </p:sp>
      <p:sp>
        <p:nvSpPr>
          <p:cNvPr id="25" name="Content Placeholder 24">
            <a:extLst>
              <a:ext uri="{FF2B5EF4-FFF2-40B4-BE49-F238E27FC236}">
                <a16:creationId xmlns:a16="http://schemas.microsoft.com/office/drawing/2014/main" id="{28E2532B-979A-B740-9E5F-2991DE5BE222}"/>
              </a:ext>
            </a:extLst>
          </p:cNvPr>
          <p:cNvSpPr>
            <a:spLocks noGrp="1"/>
          </p:cNvSpPr>
          <p:nvPr>
            <p:ph idx="36" hasCustomPrompt="1"/>
          </p:nvPr>
        </p:nvSpPr>
        <p:spPr>
          <a:xfrm>
            <a:off x="719999" y="3897800"/>
            <a:ext cx="5324400" cy="2376000"/>
          </a:xfrm>
          <a:custGeom>
            <a:avLst/>
            <a:gdLst>
              <a:gd name="connsiteX0" fmla="*/ 0 w 5324400"/>
              <a:gd name="connsiteY0" fmla="*/ 0 h 2376000"/>
              <a:gd name="connsiteX1" fmla="*/ 4928392 w 5324400"/>
              <a:gd name="connsiteY1" fmla="*/ 0 h 2376000"/>
              <a:gd name="connsiteX2" fmla="*/ 5081692 w 5324400"/>
              <a:gd name="connsiteY2" fmla="*/ 0 h 2376000"/>
              <a:gd name="connsiteX3" fmla="*/ 5324400 w 5324400"/>
              <a:gd name="connsiteY3" fmla="*/ 242708 h 2376000"/>
              <a:gd name="connsiteX4" fmla="*/ 5324400 w 5324400"/>
              <a:gd name="connsiteY4" fmla="*/ 396008 h 2376000"/>
              <a:gd name="connsiteX5" fmla="*/ 5324400 w 5324400"/>
              <a:gd name="connsiteY5" fmla="*/ 2376000 h 2376000"/>
              <a:gd name="connsiteX6" fmla="*/ 0 w 5324400"/>
              <a:gd name="connsiteY6" fmla="*/ 2376000 h 23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4400" h="2376000">
                <a:moveTo>
                  <a:pt x="0" y="0"/>
                </a:moveTo>
                <a:lnTo>
                  <a:pt x="4928392" y="0"/>
                </a:lnTo>
                <a:lnTo>
                  <a:pt x="5081692" y="0"/>
                </a:lnTo>
                <a:lnTo>
                  <a:pt x="5324400" y="242708"/>
                </a:lnTo>
                <a:lnTo>
                  <a:pt x="5324400" y="396008"/>
                </a:lnTo>
                <a:lnTo>
                  <a:pt x="5324400" y="2376000"/>
                </a:lnTo>
                <a:lnTo>
                  <a:pt x="0" y="2376000"/>
                </a:lnTo>
                <a:close/>
              </a:path>
            </a:pathLst>
          </a:custGeom>
          <a:solidFill>
            <a:srgbClr val="001A41"/>
          </a:solidFill>
          <a:ln w="9508" cap="flat">
            <a:noFill/>
            <a:prstDash val="solid"/>
            <a:miter/>
          </a:ln>
        </p:spPr>
        <p:txBody>
          <a:bodyPr vert="horz" wrap="square" lIns="180000" tIns="144000" rIns="180000" bIns="144000" rtlCol="0" anchor="t">
            <a:noAutofit/>
          </a:bodyPr>
          <a:lstStyle>
            <a:lvl1pPr marL="0" indent="0">
              <a:buNone/>
              <a:defRPr lang="en-GB" sz="1800" b="1" dirty="0">
                <a:solidFill>
                  <a:schemeClr val="bg1"/>
                </a:solidFill>
                <a:latin typeface="+mn-lt"/>
              </a:defRPr>
            </a:lvl1pPr>
            <a:lvl2pPr marL="176400" indent="-176400">
              <a:tabLst/>
              <a:defRPr lang="en-GB" sz="1600" dirty="0">
                <a:solidFill>
                  <a:schemeClr val="bg1"/>
                </a:solidFill>
                <a:latin typeface="+mn-lt"/>
              </a:defRPr>
            </a:lvl2pPr>
            <a:lvl3pPr marL="342000" indent="-162000">
              <a:tabLst/>
              <a:defRPr lang="en-GB" sz="1400" dirty="0">
                <a:solidFill>
                  <a:schemeClr val="bg1"/>
                </a:solidFill>
                <a:latin typeface="+mn-lt"/>
              </a:defRPr>
            </a:lvl3pPr>
            <a:lvl4pPr marL="511200" indent="-147600">
              <a:tabLst/>
              <a:defRPr lang="en-GB" sz="1300" dirty="0">
                <a:solidFill>
                  <a:schemeClr val="bg1"/>
                </a:solidFill>
                <a:latin typeface="+mn-lt"/>
              </a:defRPr>
            </a:lvl4pPr>
            <a:lvl5pPr marL="651600" indent="-129600">
              <a:tabLst/>
              <a:defRPr lang="en-GB" sz="1200" dirty="0">
                <a:solidFill>
                  <a:schemeClr val="bg1"/>
                </a:solidFill>
                <a:latin typeface="+mn-lt"/>
              </a:defRPr>
            </a:lvl5pPr>
          </a:lstStyle>
          <a:p>
            <a:pPr marL="180000" lvl="0" indent="-180000"/>
            <a:r>
              <a:rPr lang="en-GB" dirty="0"/>
              <a:t>Title text in bold</a:t>
            </a:r>
          </a:p>
          <a:p>
            <a:pPr marL="177800" lvl="1" indent="-177800"/>
            <a:r>
              <a:rPr lang="en-GB" dirty="0"/>
              <a:t>Second level</a:t>
            </a:r>
          </a:p>
          <a:p>
            <a:pPr marL="342900" lvl="2" indent="-161925"/>
            <a:r>
              <a:rPr lang="en-GB" dirty="0"/>
              <a:t>Third level</a:t>
            </a:r>
          </a:p>
          <a:p>
            <a:pPr marL="511175" lvl="3" indent="-146050"/>
            <a:r>
              <a:rPr lang="en-GB" dirty="0"/>
              <a:t>Fourth level</a:t>
            </a:r>
          </a:p>
          <a:p>
            <a:pPr marL="650875" lvl="4" indent="-130175"/>
            <a:r>
              <a:rPr lang="en-GB" dirty="0"/>
              <a:t>Fifth level</a:t>
            </a:r>
          </a:p>
        </p:txBody>
      </p:sp>
      <p:sp>
        <p:nvSpPr>
          <p:cNvPr id="23" name="Content Placeholder 22">
            <a:extLst>
              <a:ext uri="{FF2B5EF4-FFF2-40B4-BE49-F238E27FC236}">
                <a16:creationId xmlns:a16="http://schemas.microsoft.com/office/drawing/2014/main" id="{1BEBD7D0-BD40-D948-A9E6-399624DC6A61}"/>
              </a:ext>
            </a:extLst>
          </p:cNvPr>
          <p:cNvSpPr>
            <a:spLocks noGrp="1"/>
          </p:cNvSpPr>
          <p:nvPr>
            <p:ph idx="35" hasCustomPrompt="1"/>
          </p:nvPr>
        </p:nvSpPr>
        <p:spPr>
          <a:xfrm>
            <a:off x="719999" y="1422400"/>
            <a:ext cx="5324400" cy="2376000"/>
          </a:xfrm>
          <a:custGeom>
            <a:avLst/>
            <a:gdLst>
              <a:gd name="connsiteX0" fmla="*/ 0 w 5324400"/>
              <a:gd name="connsiteY0" fmla="*/ 0 h 2376000"/>
              <a:gd name="connsiteX1" fmla="*/ 4928392 w 5324400"/>
              <a:gd name="connsiteY1" fmla="*/ 0 h 2376000"/>
              <a:gd name="connsiteX2" fmla="*/ 5081692 w 5324400"/>
              <a:gd name="connsiteY2" fmla="*/ 0 h 2376000"/>
              <a:gd name="connsiteX3" fmla="*/ 5324400 w 5324400"/>
              <a:gd name="connsiteY3" fmla="*/ 242708 h 2376000"/>
              <a:gd name="connsiteX4" fmla="*/ 5324400 w 5324400"/>
              <a:gd name="connsiteY4" fmla="*/ 396008 h 2376000"/>
              <a:gd name="connsiteX5" fmla="*/ 5324400 w 5324400"/>
              <a:gd name="connsiteY5" fmla="*/ 2376000 h 2376000"/>
              <a:gd name="connsiteX6" fmla="*/ 0 w 5324400"/>
              <a:gd name="connsiteY6" fmla="*/ 2376000 h 23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4400" h="2376000">
                <a:moveTo>
                  <a:pt x="0" y="0"/>
                </a:moveTo>
                <a:lnTo>
                  <a:pt x="4928392" y="0"/>
                </a:lnTo>
                <a:lnTo>
                  <a:pt x="5081692" y="0"/>
                </a:lnTo>
                <a:lnTo>
                  <a:pt x="5324400" y="242708"/>
                </a:lnTo>
                <a:lnTo>
                  <a:pt x="5324400" y="396008"/>
                </a:lnTo>
                <a:lnTo>
                  <a:pt x="5324400" y="2376000"/>
                </a:lnTo>
                <a:lnTo>
                  <a:pt x="0" y="2376000"/>
                </a:lnTo>
                <a:close/>
              </a:path>
            </a:pathLst>
          </a:custGeom>
          <a:solidFill>
            <a:schemeClr val="accent2"/>
          </a:solidFill>
          <a:ln w="9508" cap="flat">
            <a:noFill/>
            <a:prstDash val="solid"/>
            <a:miter/>
          </a:ln>
        </p:spPr>
        <p:txBody>
          <a:bodyPr vert="horz" wrap="square" lIns="180000" tIns="144000" rIns="180000" bIns="144000" rtlCol="0" anchor="t">
            <a:noAutofit/>
          </a:bodyPr>
          <a:lstStyle>
            <a:lvl1pPr marL="0" indent="0">
              <a:buNone/>
              <a:defRPr lang="en-GB" sz="1800" b="1" dirty="0">
                <a:solidFill>
                  <a:srgbClr val="001A41"/>
                </a:solidFill>
              </a:defRPr>
            </a:lvl1pPr>
            <a:lvl2pPr marL="176400" indent="-176400">
              <a:tabLst/>
              <a:defRPr lang="en-GB" sz="1600" dirty="0">
                <a:solidFill>
                  <a:srgbClr val="001A41"/>
                </a:solidFill>
              </a:defRPr>
            </a:lvl2pPr>
            <a:lvl3pPr marL="342900" indent="-162000">
              <a:tabLst/>
              <a:defRPr lang="en-GB" sz="1400" dirty="0">
                <a:solidFill>
                  <a:srgbClr val="001A41"/>
                </a:solidFill>
              </a:defRPr>
            </a:lvl3pPr>
            <a:lvl4pPr marL="511175" indent="-146050">
              <a:tabLst/>
              <a:defRPr lang="en-GB" sz="1300" dirty="0">
                <a:solidFill>
                  <a:srgbClr val="001A41"/>
                </a:solidFill>
              </a:defRPr>
            </a:lvl4pPr>
            <a:lvl5pPr marL="651600" indent="-129600">
              <a:tabLst/>
              <a:defRPr lang="en-GB" sz="1200" dirty="0">
                <a:solidFill>
                  <a:srgbClr val="001A41"/>
                </a:solidFill>
              </a:defRPr>
            </a:lvl5pPr>
          </a:lstStyle>
          <a:p>
            <a:pPr marL="180000" lvl="0" indent="-180000"/>
            <a:r>
              <a:rPr lang="en-GB" dirty="0"/>
              <a:t>Title text in bold</a:t>
            </a:r>
          </a:p>
          <a:p>
            <a:pPr marL="177800" lvl="1" indent="-177800"/>
            <a:r>
              <a:rPr lang="en-GB" dirty="0"/>
              <a:t>Second level</a:t>
            </a:r>
          </a:p>
          <a:p>
            <a:pPr marL="342900" lvl="2" indent="-161925"/>
            <a:r>
              <a:rPr lang="en-GB" dirty="0"/>
              <a:t>Third level</a:t>
            </a:r>
          </a:p>
          <a:p>
            <a:pPr marL="511175" lvl="3" indent="-146050"/>
            <a:r>
              <a:rPr lang="en-GB" dirty="0"/>
              <a:t>Fourth level</a:t>
            </a:r>
          </a:p>
          <a:p>
            <a:pPr marL="650875" lvl="4" indent="-130175"/>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22" name="TextBox 21">
            <a:extLst>
              <a:ext uri="{FF2B5EF4-FFF2-40B4-BE49-F238E27FC236}">
                <a16:creationId xmlns:a16="http://schemas.microsoft.com/office/drawing/2014/main" id="{B681A885-7211-8E4C-9008-7057F88CAF86}"/>
              </a:ext>
            </a:extLst>
          </p:cNvPr>
          <p:cNvSpPr txBox="1"/>
          <p:nvPr userDrawn="1"/>
        </p:nvSpPr>
        <p:spPr>
          <a:xfrm>
            <a:off x="719996" y="6951518"/>
            <a:ext cx="3029044" cy="1340303"/>
          </a:xfrm>
          <a:prstGeom prst="rect">
            <a:avLst/>
          </a:prstGeom>
          <a:noFill/>
        </p:spPr>
        <p:txBody>
          <a:bodyPr wrap="square" lIns="0" tIns="0" rIns="0" bIns="0" rtlCol="0">
            <a:spAutoFit/>
          </a:bodyPr>
          <a:lstStyle/>
          <a:p>
            <a:pPr algn="l">
              <a:lnSpc>
                <a:spcPct val="110000"/>
              </a:lnSpc>
            </a:pPr>
            <a:r>
              <a:rPr lang="en-GB" sz="1000" b="1" dirty="0">
                <a:latin typeface="Century Gothic" panose="020B0502020202020204" pitchFamily="34" charset="0"/>
              </a:rPr>
              <a:t>To swap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Delete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‘Icon Library’ in Asset library section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chosen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Copy</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Return to content slide</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placeholder</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Paste</a:t>
            </a:r>
          </a:p>
        </p:txBody>
      </p:sp>
      <p:sp>
        <p:nvSpPr>
          <p:cNvPr id="15" name="TextBox 14">
            <a:extLst>
              <a:ext uri="{FF2B5EF4-FFF2-40B4-BE49-F238E27FC236}">
                <a16:creationId xmlns:a16="http://schemas.microsoft.com/office/drawing/2014/main" id="{BD746766-D75E-5544-95BD-E3508E8FD3C5}"/>
              </a:ext>
            </a:extLst>
          </p:cNvPr>
          <p:cNvSpPr txBox="1"/>
          <p:nvPr userDrawn="1"/>
        </p:nvSpPr>
        <p:spPr>
          <a:xfrm>
            <a:off x="3959996" y="6951518"/>
            <a:ext cx="3303790" cy="1952522"/>
          </a:xfrm>
          <a:prstGeom prst="rect">
            <a:avLst/>
          </a:prstGeom>
          <a:noFill/>
        </p:spPr>
        <p:txBody>
          <a:bodyPr wrap="none" lIns="0" tIns="0" rIns="0" bIns="0" rtlCol="0">
            <a:spAutoFit/>
          </a:bodyPr>
          <a:lstStyle/>
          <a:p>
            <a:pPr algn="l">
              <a:lnSpc>
                <a:spcPct val="110000"/>
              </a:lnSpc>
            </a:pPr>
            <a:r>
              <a:rPr lang="en-GB" sz="1000" b="1" dirty="0">
                <a:latin typeface="Century Gothic" panose="020B0502020202020204" pitchFamily="34" charset="0"/>
              </a:rPr>
              <a:t>To recolour an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on icon</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Go to ‘Graphics Format’ format tab</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Click ‘Graphics Fill’</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Select colour from dropdown brand colours</a:t>
            </a:r>
          </a:p>
          <a:p>
            <a:pPr marL="92075" indent="-92075" algn="l">
              <a:lnSpc>
                <a:spcPct val="110000"/>
              </a:lnSpc>
              <a:buFont typeface="Arial" panose="020B0604020202020204" pitchFamily="34" charset="0"/>
              <a:buChar char="•"/>
            </a:pPr>
            <a:r>
              <a:rPr lang="en-GB" sz="1000" dirty="0">
                <a:latin typeface="Century Gothic" panose="020B0502020202020204" pitchFamily="34" charset="0"/>
              </a:rPr>
              <a:t>N.B. Only the following colourways should be used</a:t>
            </a:r>
          </a:p>
          <a:p>
            <a:pPr marL="549275" lvl="1" indent="-92075" algn="l">
              <a:lnSpc>
                <a:spcPct val="110000"/>
              </a:lnSpc>
              <a:buFont typeface="Arial" panose="020B0604020202020204" pitchFamily="34" charset="0"/>
              <a:buChar char="•"/>
              <a:tabLst>
                <a:tab pos="1549400" algn="l"/>
              </a:tabLst>
            </a:pPr>
            <a:r>
              <a:rPr lang="en-GB" sz="800" dirty="0">
                <a:latin typeface="Century Gothic" panose="020B0502020202020204" pitchFamily="34" charset="0"/>
              </a:rPr>
              <a:t>Dark blue b/ground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Purple background 	&gt; white icon (&amp; white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Eco blue b/ground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Yellow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Green background 	&gt; dark blue icon (&amp; dark blue text) </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White background 	&gt; dark blue icon (&amp; dark blue text)</a:t>
            </a:r>
          </a:p>
          <a:p>
            <a:pPr marL="549275" marR="0" lvl="1" indent="-92075"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1549400" algn="l"/>
              </a:tabLst>
              <a:defRPr/>
            </a:pPr>
            <a:r>
              <a:rPr lang="en-GB" sz="800" dirty="0">
                <a:latin typeface="Century Gothic" panose="020B0502020202020204" pitchFamily="34" charset="0"/>
              </a:rPr>
              <a:t>Pale grey b/ground	&gt; dark blue icon (&amp; dark blue text)</a:t>
            </a:r>
          </a:p>
        </p:txBody>
      </p:sp>
      <p:sp>
        <p:nvSpPr>
          <p:cNvPr id="3" name="Text Placeholder 7">
            <a:extLst>
              <a:ext uri="{FF2B5EF4-FFF2-40B4-BE49-F238E27FC236}">
                <a16:creationId xmlns:a16="http://schemas.microsoft.com/office/drawing/2014/main" id="{56385ABC-71CB-350A-4869-EC3A3B7BBE89}"/>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4274956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10" name="Content Placeholder 19">
            <a:extLst>
              <a:ext uri="{FF2B5EF4-FFF2-40B4-BE49-F238E27FC236}">
                <a16:creationId xmlns:a16="http://schemas.microsoft.com/office/drawing/2014/main" id="{6C988EBC-930C-194C-945D-2EEFD26FD49C}"/>
              </a:ext>
            </a:extLst>
          </p:cNvPr>
          <p:cNvSpPr>
            <a:spLocks noGrp="1"/>
          </p:cNvSpPr>
          <p:nvPr>
            <p:ph idx="36" hasCustomPrompt="1"/>
          </p:nvPr>
        </p:nvSpPr>
        <p:spPr>
          <a:xfrm>
            <a:off x="719998" y="1422000"/>
            <a:ext cx="3509999" cy="4852800"/>
          </a:xfrm>
          <a:custGeom>
            <a:avLst/>
            <a:gdLst>
              <a:gd name="connsiteX0" fmla="*/ 0 w 3509999"/>
              <a:gd name="connsiteY0" fmla="*/ 0 h 4852800"/>
              <a:gd name="connsiteX1" fmla="*/ 899999 w 3509999"/>
              <a:gd name="connsiteY1" fmla="*/ 0 h 4852800"/>
              <a:gd name="connsiteX2" fmla="*/ 2367688 w 3509999"/>
              <a:gd name="connsiteY2" fmla="*/ 0 h 4852800"/>
              <a:gd name="connsiteX3" fmla="*/ 3267687 w 3509999"/>
              <a:gd name="connsiteY3" fmla="*/ 0 h 4852800"/>
              <a:gd name="connsiteX4" fmla="*/ 3509999 w 3509999"/>
              <a:gd name="connsiteY4" fmla="*/ 242312 h 4852800"/>
              <a:gd name="connsiteX5" fmla="*/ 3509999 w 3509999"/>
              <a:gd name="connsiteY5" fmla="*/ 4852800 h 4852800"/>
              <a:gd name="connsiteX6" fmla="*/ 2610000 w 3509999"/>
              <a:gd name="connsiteY6" fmla="*/ 4852800 h 4852800"/>
              <a:gd name="connsiteX7" fmla="*/ 899999 w 3509999"/>
              <a:gd name="connsiteY7" fmla="*/ 4852800 h 4852800"/>
              <a:gd name="connsiteX8" fmla="*/ 0 w 3509999"/>
              <a:gd name="connsiteY8" fmla="*/ 4852800 h 48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9999" h="4852800">
                <a:moveTo>
                  <a:pt x="0" y="0"/>
                </a:moveTo>
                <a:lnTo>
                  <a:pt x="899999" y="0"/>
                </a:lnTo>
                <a:lnTo>
                  <a:pt x="2367688" y="0"/>
                </a:lnTo>
                <a:lnTo>
                  <a:pt x="3267687" y="0"/>
                </a:lnTo>
                <a:lnTo>
                  <a:pt x="3509999" y="242312"/>
                </a:lnTo>
                <a:lnTo>
                  <a:pt x="3509999" y="4852800"/>
                </a:lnTo>
                <a:lnTo>
                  <a:pt x="2610000" y="4852800"/>
                </a:lnTo>
                <a:lnTo>
                  <a:pt x="899999" y="4852800"/>
                </a:lnTo>
                <a:lnTo>
                  <a:pt x="0" y="4852800"/>
                </a:lnTo>
                <a:close/>
              </a:path>
            </a:pathLst>
          </a:custGeom>
          <a:ln>
            <a:solidFill>
              <a:srgbClr val="001A41"/>
            </a:solidFill>
          </a:ln>
        </p:spPr>
        <p:txBody>
          <a:bodyPr vert="horz" lIns="180000" tIns="144000" rIns="180000" bIns="144000" rtlCol="0">
            <a:noAutofit/>
          </a:bodyPr>
          <a:lstStyle>
            <a:lvl1pPr>
              <a:defRPr lang="en-GB" dirty="0">
                <a:solidFill>
                  <a:srgbClr val="001A41"/>
                </a:solidFill>
                <a:latin typeface="+mn-lt"/>
              </a:defRPr>
            </a:lvl1pPr>
            <a:lvl2pPr>
              <a:defRPr lang="en-GB" dirty="0">
                <a:solidFill>
                  <a:srgbClr val="001A41"/>
                </a:solidFill>
                <a:latin typeface="+mn-lt"/>
              </a:defRPr>
            </a:lvl2pPr>
            <a:lvl3pPr>
              <a:defRPr lang="en-GB" dirty="0">
                <a:solidFill>
                  <a:srgbClr val="001A41"/>
                </a:solidFill>
                <a:latin typeface="+mn-lt"/>
              </a:defRPr>
            </a:lvl3pPr>
            <a:lvl4pPr>
              <a:defRPr lang="en-GB" dirty="0">
                <a:solidFill>
                  <a:srgbClr val="001A41"/>
                </a:solidFill>
                <a:latin typeface="+mn-lt"/>
              </a:defRPr>
            </a:lvl4pPr>
            <a:lvl5pPr>
              <a:defRPr lang="en-GB" dirty="0">
                <a:solidFill>
                  <a:srgbClr val="001A41"/>
                </a:solidFill>
                <a:latin typeface="+mn-lt"/>
              </a:defRPr>
            </a:lvl5pPr>
          </a:lstStyle>
          <a:p>
            <a:pPr marL="179388" lvl="0" indent="-179388"/>
            <a:r>
              <a:rPr lang="en-GB" dirty="0"/>
              <a:t>Key information box</a:t>
            </a:r>
          </a:p>
          <a:p>
            <a:pPr lvl="1"/>
            <a:r>
              <a:rPr lang="en-GB" dirty="0"/>
              <a:t>Second level</a:t>
            </a:r>
          </a:p>
          <a:p>
            <a:pPr lvl="2"/>
            <a:r>
              <a:rPr lang="en-GB" dirty="0"/>
              <a:t>Third level</a:t>
            </a:r>
          </a:p>
          <a:p>
            <a:pPr lvl="3"/>
            <a:r>
              <a:rPr lang="en-GB" dirty="0"/>
              <a:t>Fourth level</a:t>
            </a:r>
          </a:p>
          <a:p>
            <a:pPr marL="1474788" lvl="4"/>
            <a:r>
              <a:rPr lang="en-GB" dirty="0"/>
              <a:t>Fifth level</a:t>
            </a:r>
          </a:p>
        </p:txBody>
      </p:sp>
      <p:sp>
        <p:nvSpPr>
          <p:cNvPr id="2" name="Title 1">
            <a:extLst>
              <a:ext uri="{FF2B5EF4-FFF2-40B4-BE49-F238E27FC236}">
                <a16:creationId xmlns:a16="http://schemas.microsoft.com/office/drawing/2014/main" id="{E9FE3F5C-E3AD-FD4F-9A1F-A65583F6D21C}"/>
              </a:ext>
            </a:extLst>
          </p:cNvPr>
          <p:cNvSpPr>
            <a:spLocks noGrp="1"/>
          </p:cNvSpPr>
          <p:nvPr>
            <p:ph type="title"/>
          </p:nvPr>
        </p:nvSpPr>
        <p:spPr>
          <a:xfrm>
            <a:off x="719998" y="540000"/>
            <a:ext cx="10753200" cy="392415"/>
          </a:xfrm>
        </p:spPr>
        <p:txBody>
          <a:bodyPr vert="horz" wrap="square" lIns="0" tIns="0" rIns="0" bIns="0" rtlCol="0" anchor="t" anchorCtr="0">
            <a:spAutoFit/>
          </a:bodyPr>
          <a:lstStyle>
            <a:lvl1pPr>
              <a:defRPr lang="en-GB" b="1" i="0" dirty="0">
                <a:solidFill>
                  <a:srgbClr val="001A41"/>
                </a:solidFill>
                <a:latin typeface="+mj-lt"/>
              </a:defRPr>
            </a:lvl1pPr>
          </a:lstStyle>
          <a:p>
            <a:pPr lvl="0"/>
            <a:r>
              <a:rPr lang="en-GB" dirty="0"/>
              <a:t>Click to edit Master title style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9" name="Slide Number Placeholder 4">
            <a:extLst>
              <a:ext uri="{FF2B5EF4-FFF2-40B4-BE49-F238E27FC236}">
                <a16:creationId xmlns:a16="http://schemas.microsoft.com/office/drawing/2014/main" id="{ABF4C77F-0C76-F14C-81BA-63F6ABF9002C}"/>
              </a:ext>
            </a:extLst>
          </p:cNvPr>
          <p:cNvSpPr>
            <a:spLocks noGrp="1"/>
          </p:cNvSpPr>
          <p:nvPr>
            <p:ph type="sldNum" sz="quarter" idx="12"/>
          </p:nvPr>
        </p:nvSpPr>
        <p:spPr>
          <a:xfrm>
            <a:off x="11331798" y="252000"/>
            <a:ext cx="141064" cy="138499"/>
          </a:xfrm>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5" name="Chart Placeholder 4">
            <a:extLst>
              <a:ext uri="{FF2B5EF4-FFF2-40B4-BE49-F238E27FC236}">
                <a16:creationId xmlns:a16="http://schemas.microsoft.com/office/drawing/2014/main" id="{CBD4C6B6-4AA6-B548-B4E8-4A145DC0953B}"/>
              </a:ext>
            </a:extLst>
          </p:cNvPr>
          <p:cNvSpPr>
            <a:spLocks noGrp="1"/>
          </p:cNvSpPr>
          <p:nvPr>
            <p:ph type="chart" sz="quarter" idx="29"/>
          </p:nvPr>
        </p:nvSpPr>
        <p:spPr>
          <a:xfrm>
            <a:off x="4633198" y="1422400"/>
            <a:ext cx="6840000" cy="4852800"/>
          </a:xfrm>
        </p:spPr>
        <p:txBody>
          <a:bodyPr lIns="108000" tIns="72000" rIns="108000" bIns="72000"/>
          <a:lstStyle>
            <a:lvl1pPr marL="0" indent="0">
              <a:buNone/>
              <a:defRPr>
                <a:solidFill>
                  <a:srgbClr val="001A41"/>
                </a:solidFill>
                <a:latin typeface="+mn-lt"/>
              </a:defRPr>
            </a:lvl1pPr>
          </a:lstStyle>
          <a:p>
            <a:endParaRPr lang="en-GB" dirty="0"/>
          </a:p>
        </p:txBody>
      </p:sp>
      <p:sp>
        <p:nvSpPr>
          <p:cNvPr id="11" name="Text Placeholder 7">
            <a:extLst>
              <a:ext uri="{FF2B5EF4-FFF2-40B4-BE49-F238E27FC236}">
                <a16:creationId xmlns:a16="http://schemas.microsoft.com/office/drawing/2014/main" id="{19D6B456-80E9-1749-B013-CBB8AC09CC89}"/>
              </a:ext>
            </a:extLst>
          </p:cNvPr>
          <p:cNvSpPr>
            <a:spLocks noGrp="1"/>
          </p:cNvSpPr>
          <p:nvPr>
            <p:ph type="body" sz="quarter" idx="13" hasCustomPrompt="1"/>
          </p:nvPr>
        </p:nvSpPr>
        <p:spPr>
          <a:xfrm>
            <a:off x="720725" y="6482967"/>
            <a:ext cx="1240724" cy="123111"/>
          </a:xfrm>
        </p:spPr>
        <p:txBody>
          <a:bodyPr vert="horz" wrap="none" lIns="0" tIns="0" rIns="0" bIns="0" rtlCol="0" anchor="ctr">
            <a:spAutoFit/>
          </a:bodyPr>
          <a:lstStyle>
            <a:lvl1pPr marL="0" indent="0">
              <a:spcBef>
                <a:spcPts val="0"/>
              </a:spcBef>
              <a:spcAft>
                <a:spcPts val="0"/>
              </a:spcAft>
              <a:buNone/>
              <a:defRPr lang="en-GB" sz="800" dirty="0">
                <a:solidFill>
                  <a:srgbClr val="001A41"/>
                </a:solidFill>
              </a:defRPr>
            </a:lvl1pPr>
          </a:lstStyle>
          <a:p>
            <a:pPr lvl="0"/>
            <a:r>
              <a:rPr lang="en-GB" dirty="0"/>
              <a:t>Source &amp; footnotes field</a:t>
            </a:r>
          </a:p>
        </p:txBody>
      </p:sp>
    </p:spTree>
    <p:extLst>
      <p:ext uri="{BB962C8B-B14F-4D97-AF65-F5344CB8AC3E}">
        <p14:creationId xmlns:p14="http://schemas.microsoft.com/office/powerpoint/2010/main" val="31274013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On White">
    <p:bg>
      <p:bgPr>
        <a:solidFill>
          <a:schemeClr val="bg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18E0D5AB-81E7-964D-A0B8-3059B8FBCD8D}"/>
              </a:ext>
            </a:extLst>
          </p:cNvPr>
          <p:cNvSpPr>
            <a:spLocks noGrp="1"/>
          </p:cNvSpPr>
          <p:nvPr>
            <p:ph type="body" sz="quarter" idx="18" hasCustomPrompt="1"/>
          </p:nvPr>
        </p:nvSpPr>
        <p:spPr>
          <a:xfrm>
            <a:off x="720000" y="2052000"/>
            <a:ext cx="6912000" cy="2322000"/>
          </a:xfrm>
        </p:spPr>
        <p:txBody>
          <a:bodyPr/>
          <a:lstStyle>
            <a:lvl1pPr marL="0" indent="0">
              <a:lnSpc>
                <a:spcPct val="74000"/>
              </a:lnSpc>
              <a:buNone/>
              <a:defRPr sz="6600" b="1" i="0" cap="all" spc="-160" baseline="0">
                <a:solidFill>
                  <a:schemeClr val="accent6"/>
                </a:solidFill>
                <a:latin typeface="Century Gothic" panose="020B0502020202020204" pitchFamily="34" charset="0"/>
              </a:defRPr>
            </a:lvl1pPr>
          </a:lstStyle>
          <a:p>
            <a:pPr lvl="0"/>
            <a:r>
              <a:rPr lang="en-US" dirty="0"/>
              <a:t>EDIT KEY INSPIRATIONAL QUOTE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rgbClr val="001A4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rgbClr val="001A41"/>
                </a:solidFill>
                <a:latin typeface="+mn-lt"/>
              </a:defRPr>
            </a:lvl1pPr>
          </a:lstStyle>
          <a:p>
            <a:fld id="{9A24425F-4E86-FA46-A893-E19B561985DA}" type="slidenum">
              <a:rPr lang="en-GB" smtClean="0"/>
              <a:pPr/>
              <a:t>‹Nº›</a:t>
            </a:fld>
            <a:endParaRPr lang="en-GB" dirty="0"/>
          </a:p>
        </p:txBody>
      </p:sp>
      <p:sp>
        <p:nvSpPr>
          <p:cNvPr id="14" name="Text Placeholder 2">
            <a:extLst>
              <a:ext uri="{FF2B5EF4-FFF2-40B4-BE49-F238E27FC236}">
                <a16:creationId xmlns:a16="http://schemas.microsoft.com/office/drawing/2014/main" id="{EF36B7A0-8F2E-0547-83E8-B3313BBD93B8}"/>
              </a:ext>
            </a:extLst>
          </p:cNvPr>
          <p:cNvSpPr>
            <a:spLocks noGrp="1"/>
          </p:cNvSpPr>
          <p:nvPr>
            <p:ph type="body" idx="1" hasCustomPrompt="1"/>
          </p:nvPr>
        </p:nvSpPr>
        <p:spPr>
          <a:xfrm>
            <a:off x="720000" y="4680000"/>
            <a:ext cx="6912000" cy="360000"/>
          </a:xfrm>
        </p:spPr>
        <p:txBody>
          <a:bodyPr wrap="square">
            <a:noAutofit/>
          </a:bodyPr>
          <a:lstStyle>
            <a:lvl1pPr marL="0" indent="0">
              <a:buNone/>
              <a:defRPr sz="2400" b="0" i="0">
                <a:solidFill>
                  <a:srgbClr val="001A4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Enter quote attribution here</a:t>
            </a:r>
          </a:p>
        </p:txBody>
      </p:sp>
    </p:spTree>
    <p:extLst>
      <p:ext uri="{BB962C8B-B14F-4D97-AF65-F5344CB8AC3E}">
        <p14:creationId xmlns:p14="http://schemas.microsoft.com/office/powerpoint/2010/main" val="34707705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On Full Bleed Image">
    <p:bg>
      <p:bgPr>
        <a:solidFill>
          <a:schemeClr val="tx1"/>
        </a:solidFill>
        <a:effectLst/>
      </p:bgPr>
    </p:bg>
    <p:spTree>
      <p:nvGrpSpPr>
        <p:cNvPr id="1" name=""/>
        <p:cNvGrpSpPr/>
        <p:nvPr/>
      </p:nvGrpSpPr>
      <p:grpSpPr>
        <a:xfrm>
          <a:off x="0" y="0"/>
          <a:ext cx="0" cy="0"/>
          <a:chOff x="0" y="0"/>
          <a:chExt cx="0" cy="0"/>
        </a:xfrm>
      </p:grpSpPr>
      <p:sp>
        <p:nvSpPr>
          <p:cNvPr id="8" name="Picture Placeholder 12">
            <a:extLst>
              <a:ext uri="{FF2B5EF4-FFF2-40B4-BE49-F238E27FC236}">
                <a16:creationId xmlns:a16="http://schemas.microsoft.com/office/drawing/2014/main" id="{840884A8-31C6-C24C-A504-83A2B4D30254}"/>
              </a:ext>
            </a:extLst>
          </p:cNvPr>
          <p:cNvSpPr>
            <a:spLocks noGrp="1"/>
          </p:cNvSpPr>
          <p:nvPr>
            <p:ph type="pic" sz="quarter" idx="17" hasCustomPrompt="1"/>
          </p:nvPr>
        </p:nvSpPr>
        <p:spPr>
          <a:xfrm>
            <a:off x="-600" y="0"/>
            <a:ext cx="12193200" cy="6858000"/>
          </a:xfrm>
          <a:solidFill>
            <a:srgbClr val="001A41"/>
          </a:solidFill>
        </p:spPr>
        <p:txBody>
          <a:bodyPr lIns="180000" tIns="180000" rIns="180000" bIns="180000" anchor="b" anchorCtr="0"/>
          <a:lstStyle>
            <a:lvl1pPr marL="0" indent="0" algn="ctr">
              <a:buNone/>
              <a:defRPr sz="1400" i="0">
                <a:solidFill>
                  <a:schemeClr val="bg1"/>
                </a:solidFill>
                <a:latin typeface="+mn-lt"/>
              </a:defRPr>
            </a:lvl1pPr>
          </a:lstStyle>
          <a:p>
            <a:r>
              <a:rPr lang="en-GB" dirty="0"/>
              <a:t>Click on icon in centre of placeholder &gt; navigate to image you want to use</a:t>
            </a:r>
            <a:br>
              <a:rPr lang="en-GB" dirty="0"/>
            </a:br>
            <a:br>
              <a:rPr lang="en-GB" dirty="0"/>
            </a:br>
            <a:r>
              <a:rPr lang="en-GB" dirty="0"/>
              <a:t>or copy an image to your clipboard &gt; click on placeholder box &gt; paste</a:t>
            </a:r>
          </a:p>
        </p:txBody>
      </p:sp>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chemeClr val="bg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chemeClr val="bg1"/>
                </a:solidFill>
                <a:latin typeface="+mn-lt"/>
              </a:defRPr>
            </a:lvl1pPr>
          </a:lstStyle>
          <a:p>
            <a:fld id="{9A24425F-4E86-FA46-A893-E19B561985DA}" type="slidenum">
              <a:rPr lang="en-GB" smtClean="0"/>
              <a:pPr/>
              <a:t>‹Nº›</a:t>
            </a:fld>
            <a:endParaRPr lang="en-GB" dirty="0"/>
          </a:p>
        </p:txBody>
      </p:sp>
      <p:sp>
        <p:nvSpPr>
          <p:cNvPr id="12" name="Text Placeholder 2">
            <a:extLst>
              <a:ext uri="{FF2B5EF4-FFF2-40B4-BE49-F238E27FC236}">
                <a16:creationId xmlns:a16="http://schemas.microsoft.com/office/drawing/2014/main" id="{1965889F-DDDD-4243-90A1-1DD4E6101879}"/>
              </a:ext>
            </a:extLst>
          </p:cNvPr>
          <p:cNvSpPr>
            <a:spLocks noGrp="1"/>
          </p:cNvSpPr>
          <p:nvPr>
            <p:ph type="body" idx="15" hasCustomPrompt="1"/>
          </p:nvPr>
        </p:nvSpPr>
        <p:spPr>
          <a:xfrm>
            <a:off x="720000" y="4680000"/>
            <a:ext cx="6912000" cy="360000"/>
          </a:xfrm>
        </p:spPr>
        <p:txBody>
          <a:bodyPr wrap="square">
            <a:noAutofit/>
          </a:bodyPr>
          <a:lstStyle>
            <a:lvl1pPr marL="0" indent="0">
              <a:buNone/>
              <a:defRPr sz="2400" b="0" i="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Enter quote attribution here</a:t>
            </a:r>
          </a:p>
        </p:txBody>
      </p:sp>
      <p:sp>
        <p:nvSpPr>
          <p:cNvPr id="7" name="Text Placeholder 2">
            <a:extLst>
              <a:ext uri="{FF2B5EF4-FFF2-40B4-BE49-F238E27FC236}">
                <a16:creationId xmlns:a16="http://schemas.microsoft.com/office/drawing/2014/main" id="{3EFF87A1-A4C7-6747-BF26-4769D810031E}"/>
              </a:ext>
            </a:extLst>
          </p:cNvPr>
          <p:cNvSpPr>
            <a:spLocks noGrp="1"/>
          </p:cNvSpPr>
          <p:nvPr>
            <p:ph type="body" sz="quarter" idx="18" hasCustomPrompt="1"/>
          </p:nvPr>
        </p:nvSpPr>
        <p:spPr>
          <a:xfrm>
            <a:off x="720000" y="2052000"/>
            <a:ext cx="6912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EDIT KEY INSPIRATIONAL QUOTE</a:t>
            </a:r>
          </a:p>
        </p:txBody>
      </p:sp>
    </p:spTree>
    <p:extLst>
      <p:ext uri="{BB962C8B-B14F-4D97-AF65-F5344CB8AC3E}">
        <p14:creationId xmlns:p14="http://schemas.microsoft.com/office/powerpoint/2010/main" val="20749280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337CBCE-0211-A0BC-2D5F-718DB624A86E}"/>
              </a:ext>
            </a:extLst>
          </p:cNvPr>
          <p:cNvPicPr>
            <a:picLocks noChangeAspect="1"/>
          </p:cNvPicPr>
          <p:nvPr userDrawn="1"/>
        </p:nvPicPr>
        <p:blipFill rotWithShape="1">
          <a:blip r:embed="rId2"/>
          <a:srcRect r="54952"/>
          <a:stretch/>
        </p:blipFill>
        <p:spPr>
          <a:xfrm>
            <a:off x="8310882" y="3122997"/>
            <a:ext cx="3881117" cy="3150501"/>
          </a:xfrm>
          <a:prstGeom prst="rect">
            <a:avLst/>
          </a:prstGeom>
        </p:spPr>
      </p:pic>
      <p:sp>
        <p:nvSpPr>
          <p:cNvPr id="4" name="Footer Placeholder 3">
            <a:extLst>
              <a:ext uri="{FF2B5EF4-FFF2-40B4-BE49-F238E27FC236}">
                <a16:creationId xmlns:a16="http://schemas.microsoft.com/office/drawing/2014/main" id="{4FEBE12E-0BB8-084C-8E0C-B66521896EBA}"/>
              </a:ext>
            </a:extLst>
          </p:cNvPr>
          <p:cNvSpPr>
            <a:spLocks noGrp="1"/>
          </p:cNvSpPr>
          <p:nvPr>
            <p:ph type="ftr" sz="quarter" idx="11"/>
          </p:nvPr>
        </p:nvSpPr>
        <p:spPr/>
        <p:txBody>
          <a:bodyPr/>
          <a:lstStyle>
            <a:lvl1pPr>
              <a:defRPr b="0" i="0">
                <a:solidFill>
                  <a:schemeClr val="bg1"/>
                </a:solidFill>
                <a:latin typeface="+mn-lt"/>
              </a:defRPr>
            </a:lvl1pPr>
          </a:lstStyle>
          <a:p>
            <a:r>
              <a:rPr lang="en-GB"/>
              <a:t>Inchcape</a:t>
            </a:r>
            <a:endParaRPr lang="en-GB" dirty="0"/>
          </a:p>
        </p:txBody>
      </p:sp>
      <p:sp>
        <p:nvSpPr>
          <p:cNvPr id="5" name="Slide Number Placeholder 4">
            <a:extLst>
              <a:ext uri="{FF2B5EF4-FFF2-40B4-BE49-F238E27FC236}">
                <a16:creationId xmlns:a16="http://schemas.microsoft.com/office/drawing/2014/main" id="{C64ABD9E-BD09-504D-9726-FF0CEFC20D66}"/>
              </a:ext>
            </a:extLst>
          </p:cNvPr>
          <p:cNvSpPr>
            <a:spLocks noGrp="1"/>
          </p:cNvSpPr>
          <p:nvPr>
            <p:ph type="sldNum" sz="quarter" idx="12"/>
          </p:nvPr>
        </p:nvSpPr>
        <p:spPr/>
        <p:txBody>
          <a:bodyPr/>
          <a:lstStyle>
            <a:lvl1pPr>
              <a:defRPr b="0" i="0">
                <a:solidFill>
                  <a:schemeClr val="bg1"/>
                </a:solidFill>
                <a:latin typeface="+mn-lt"/>
              </a:defRPr>
            </a:lvl1pPr>
          </a:lstStyle>
          <a:p>
            <a:fld id="{9A24425F-4E86-FA46-A893-E19B561985DA}" type="slidenum">
              <a:rPr lang="en-GB" smtClean="0"/>
              <a:pPr/>
              <a:t>‹Nº›</a:t>
            </a:fld>
            <a:endParaRPr lang="en-GB" dirty="0"/>
          </a:p>
        </p:txBody>
      </p:sp>
      <p:cxnSp>
        <p:nvCxnSpPr>
          <p:cNvPr id="10" name="Straight Connector 9">
            <a:extLst>
              <a:ext uri="{FF2B5EF4-FFF2-40B4-BE49-F238E27FC236}">
                <a16:creationId xmlns:a16="http://schemas.microsoft.com/office/drawing/2014/main" id="{1141F777-974A-6742-AF2C-A4C80B654A97}"/>
              </a:ext>
            </a:extLst>
          </p:cNvPr>
          <p:cNvCxnSpPr>
            <a:cxnSpLocks/>
          </p:cNvCxnSpPr>
          <p:nvPr userDrawn="1"/>
        </p:nvCxnSpPr>
        <p:spPr>
          <a:xfrm>
            <a:off x="8712200" y="6260800"/>
            <a:ext cx="3479800" cy="0"/>
          </a:xfrm>
          <a:prstGeom prst="line">
            <a:avLst/>
          </a:prstGeom>
          <a:ln w="25400">
            <a:solidFill>
              <a:schemeClr val="bg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89F03B79-7DFB-F046-9291-0210378D9C71}"/>
              </a:ext>
            </a:extLst>
          </p:cNvPr>
          <p:cNvSpPr>
            <a:spLocks noGrp="1"/>
          </p:cNvSpPr>
          <p:nvPr>
            <p:ph type="body" sz="quarter" idx="18" hasCustomPrompt="1"/>
          </p:nvPr>
        </p:nvSpPr>
        <p:spPr>
          <a:xfrm>
            <a:off x="720000" y="2052000"/>
            <a:ext cx="6912000" cy="2322000"/>
          </a:xfrm>
        </p:spPr>
        <p:txBody>
          <a:bodyPr/>
          <a:lstStyle>
            <a:lvl1pPr marL="0" indent="0">
              <a:lnSpc>
                <a:spcPct val="74000"/>
              </a:lnSpc>
              <a:buNone/>
              <a:defRPr sz="6600" b="1" i="0" cap="all" spc="-160" baseline="0">
                <a:solidFill>
                  <a:schemeClr val="bg1"/>
                </a:solidFill>
                <a:latin typeface="Century Gothic" panose="020B0502020202020204" pitchFamily="34" charset="0"/>
              </a:defRPr>
            </a:lvl1pPr>
          </a:lstStyle>
          <a:p>
            <a:pPr lvl="0"/>
            <a:r>
              <a:rPr lang="en-US" dirty="0"/>
              <a:t>Edit closing text</a:t>
            </a:r>
          </a:p>
        </p:txBody>
      </p:sp>
    </p:spTree>
    <p:extLst>
      <p:ext uri="{BB962C8B-B14F-4D97-AF65-F5344CB8AC3E}">
        <p14:creationId xmlns:p14="http://schemas.microsoft.com/office/powerpoint/2010/main" val="70891863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79550B-C9A7-0447-9CB9-8C0BB01237EB}"/>
              </a:ext>
            </a:extLst>
          </p:cNvPr>
          <p:cNvSpPr>
            <a:spLocks noGrp="1"/>
          </p:cNvSpPr>
          <p:nvPr>
            <p:ph type="ftr" sz="quarter" idx="11"/>
          </p:nvPr>
        </p:nvSpPr>
        <p:spPr/>
        <p:txBody>
          <a:bodyPr/>
          <a:lstStyle>
            <a:lvl1pPr>
              <a:defRPr b="0" i="0">
                <a:latin typeface="+mn-lt"/>
              </a:defRPr>
            </a:lvl1pPr>
          </a:lstStyle>
          <a:p>
            <a:r>
              <a:rPr lang="en-GB"/>
              <a:t>Inchcape</a:t>
            </a:r>
            <a:endParaRPr lang="en-GB" dirty="0"/>
          </a:p>
        </p:txBody>
      </p:sp>
      <p:sp>
        <p:nvSpPr>
          <p:cNvPr id="4" name="Slide Number Placeholder 3">
            <a:extLst>
              <a:ext uri="{FF2B5EF4-FFF2-40B4-BE49-F238E27FC236}">
                <a16:creationId xmlns:a16="http://schemas.microsoft.com/office/drawing/2014/main" id="{D872496F-8291-0F4A-B062-0E7E3FC4A28A}"/>
              </a:ext>
            </a:extLst>
          </p:cNvPr>
          <p:cNvSpPr>
            <a:spLocks noGrp="1"/>
          </p:cNvSpPr>
          <p:nvPr>
            <p:ph type="sldNum" sz="quarter" idx="12"/>
          </p:nvPr>
        </p:nvSpPr>
        <p:spPr/>
        <p:txBody>
          <a:bodyPr/>
          <a:lstStyle>
            <a:lvl1pPr>
              <a:defRPr b="0" i="0">
                <a:latin typeface="+mn-lt"/>
              </a:defRPr>
            </a:lvl1pPr>
          </a:lstStyle>
          <a:p>
            <a:fld id="{9A24425F-4E86-FA46-A893-E19B561985DA}" type="slidenum">
              <a:rPr lang="en-GB" smtClean="0"/>
              <a:pPr/>
              <a:t>‹Nº›</a:t>
            </a:fld>
            <a:endParaRPr lang="en-GB" dirty="0"/>
          </a:p>
        </p:txBody>
      </p:sp>
    </p:spTree>
    <p:extLst>
      <p:ext uri="{BB962C8B-B14F-4D97-AF65-F5344CB8AC3E}">
        <p14:creationId xmlns:p14="http://schemas.microsoft.com/office/powerpoint/2010/main" val="638654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Dark Blue]">
    <p:bg>
      <p:bgPr>
        <a:solidFill>
          <a:srgbClr val="001A4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79550B-C9A7-0447-9CB9-8C0BB01237EB}"/>
              </a:ext>
            </a:extLst>
          </p:cNvPr>
          <p:cNvSpPr>
            <a:spLocks noGrp="1"/>
          </p:cNvSpPr>
          <p:nvPr>
            <p:ph type="ftr" sz="quarter" idx="11"/>
          </p:nvPr>
        </p:nvSpPr>
        <p:spPr/>
        <p:txBody>
          <a:bodyPr/>
          <a:lstStyle>
            <a:lvl1pPr>
              <a:defRPr b="0" i="0">
                <a:solidFill>
                  <a:schemeClr val="bg1"/>
                </a:solidFill>
                <a:latin typeface="+mn-lt"/>
              </a:defRPr>
            </a:lvl1pPr>
          </a:lstStyle>
          <a:p>
            <a:r>
              <a:rPr lang="en-GB"/>
              <a:t>Inchcape</a:t>
            </a:r>
            <a:endParaRPr lang="en-GB" dirty="0"/>
          </a:p>
        </p:txBody>
      </p:sp>
      <p:sp>
        <p:nvSpPr>
          <p:cNvPr id="4" name="Slide Number Placeholder 3">
            <a:extLst>
              <a:ext uri="{FF2B5EF4-FFF2-40B4-BE49-F238E27FC236}">
                <a16:creationId xmlns:a16="http://schemas.microsoft.com/office/drawing/2014/main" id="{D872496F-8291-0F4A-B062-0E7E3FC4A28A}"/>
              </a:ext>
            </a:extLst>
          </p:cNvPr>
          <p:cNvSpPr>
            <a:spLocks noGrp="1"/>
          </p:cNvSpPr>
          <p:nvPr>
            <p:ph type="sldNum" sz="quarter" idx="12"/>
          </p:nvPr>
        </p:nvSpPr>
        <p:spPr/>
        <p:txBody>
          <a:bodyPr/>
          <a:lstStyle>
            <a:lvl1pPr>
              <a:defRPr b="0" i="0">
                <a:solidFill>
                  <a:schemeClr val="bg1"/>
                </a:solidFill>
                <a:latin typeface="+mn-lt"/>
              </a:defRPr>
            </a:lvl1pPr>
          </a:lstStyle>
          <a:p>
            <a:fld id="{9A24425F-4E86-FA46-A893-E19B561985DA}" type="slidenum">
              <a:rPr lang="en-GB" smtClean="0"/>
              <a:pPr/>
              <a:t>‹Nº›</a:t>
            </a:fld>
            <a:endParaRPr lang="en-GB" dirty="0"/>
          </a:p>
        </p:txBody>
      </p:sp>
    </p:spTree>
    <p:extLst>
      <p:ext uri="{BB962C8B-B14F-4D97-AF65-F5344CB8AC3E}">
        <p14:creationId xmlns:p14="http://schemas.microsoft.com/office/powerpoint/2010/main" val="9284831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Eco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79550B-C9A7-0447-9CB9-8C0BB01237EB}"/>
              </a:ext>
            </a:extLst>
          </p:cNvPr>
          <p:cNvSpPr>
            <a:spLocks noGrp="1"/>
          </p:cNvSpPr>
          <p:nvPr>
            <p:ph type="ftr" sz="quarter" idx="11"/>
          </p:nvPr>
        </p:nvSpPr>
        <p:spPr/>
        <p:txBody>
          <a:bodyPr/>
          <a:lstStyle>
            <a:lvl1pPr>
              <a:defRPr b="0" i="0">
                <a:solidFill>
                  <a:schemeClr val="bg1"/>
                </a:solidFill>
                <a:latin typeface="+mn-lt"/>
              </a:defRPr>
            </a:lvl1pPr>
          </a:lstStyle>
          <a:p>
            <a:r>
              <a:rPr lang="en-GB"/>
              <a:t>Inchcape</a:t>
            </a:r>
            <a:endParaRPr lang="en-GB" dirty="0"/>
          </a:p>
        </p:txBody>
      </p:sp>
      <p:sp>
        <p:nvSpPr>
          <p:cNvPr id="4" name="Slide Number Placeholder 3">
            <a:extLst>
              <a:ext uri="{FF2B5EF4-FFF2-40B4-BE49-F238E27FC236}">
                <a16:creationId xmlns:a16="http://schemas.microsoft.com/office/drawing/2014/main" id="{D872496F-8291-0F4A-B062-0E7E3FC4A28A}"/>
              </a:ext>
            </a:extLst>
          </p:cNvPr>
          <p:cNvSpPr>
            <a:spLocks noGrp="1"/>
          </p:cNvSpPr>
          <p:nvPr>
            <p:ph type="sldNum" sz="quarter" idx="12"/>
          </p:nvPr>
        </p:nvSpPr>
        <p:spPr/>
        <p:txBody>
          <a:bodyPr/>
          <a:lstStyle>
            <a:lvl1pPr>
              <a:defRPr b="0" i="0">
                <a:solidFill>
                  <a:schemeClr val="bg1"/>
                </a:solidFill>
                <a:latin typeface="+mn-lt"/>
              </a:defRPr>
            </a:lvl1pPr>
          </a:lstStyle>
          <a:p>
            <a:fld id="{9A24425F-4E86-FA46-A893-E19B561985DA}" type="slidenum">
              <a:rPr lang="en-GB" smtClean="0"/>
              <a:pPr/>
              <a:t>‹Nº›</a:t>
            </a:fld>
            <a:endParaRPr lang="en-GB" dirty="0"/>
          </a:p>
        </p:txBody>
      </p:sp>
    </p:spTree>
    <p:extLst>
      <p:ext uri="{BB962C8B-B14F-4D97-AF65-F5344CB8AC3E}">
        <p14:creationId xmlns:p14="http://schemas.microsoft.com/office/powerpoint/2010/main" val="40423372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D45025-1755-6C49-A381-D2CD78A705B6}"/>
              </a:ext>
            </a:extLst>
          </p:cNvPr>
          <p:cNvSpPr>
            <a:spLocks noGrp="1"/>
          </p:cNvSpPr>
          <p:nvPr>
            <p:ph type="title"/>
          </p:nvPr>
        </p:nvSpPr>
        <p:spPr>
          <a:xfrm>
            <a:off x="719998" y="540000"/>
            <a:ext cx="10753200" cy="392415"/>
          </a:xfrm>
          <a:prstGeom prst="rect">
            <a:avLst/>
          </a:prstGeom>
        </p:spPr>
        <p:txBody>
          <a:bodyPr vert="horz" wrap="square" lIns="0" tIns="0" rIns="0" bIns="0" rtlCol="0" anchor="t" anchorCtr="0">
            <a:spAutoFit/>
          </a:bodyPr>
          <a:lstStyle/>
          <a:p>
            <a:endParaRPr lang="en-GB" dirty="0"/>
          </a:p>
        </p:txBody>
      </p:sp>
      <p:sp>
        <p:nvSpPr>
          <p:cNvPr id="3" name="Text Placeholder 2">
            <a:extLst>
              <a:ext uri="{FF2B5EF4-FFF2-40B4-BE49-F238E27FC236}">
                <a16:creationId xmlns:a16="http://schemas.microsoft.com/office/drawing/2014/main" id="{3C190FC0-B94B-984E-9575-720EE62B2EF0}"/>
              </a:ext>
            </a:extLst>
          </p:cNvPr>
          <p:cNvSpPr>
            <a:spLocks noGrp="1"/>
          </p:cNvSpPr>
          <p:nvPr>
            <p:ph type="body" idx="1"/>
          </p:nvPr>
        </p:nvSpPr>
        <p:spPr>
          <a:xfrm>
            <a:off x="720000" y="1422400"/>
            <a:ext cx="10753200" cy="4851400"/>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ABD0B60C-EFD3-794A-8F00-1D60C42A6D40}"/>
              </a:ext>
            </a:extLst>
          </p:cNvPr>
          <p:cNvSpPr>
            <a:spLocks noGrp="1"/>
          </p:cNvSpPr>
          <p:nvPr>
            <p:ph type="ftr" sz="quarter" idx="3"/>
          </p:nvPr>
        </p:nvSpPr>
        <p:spPr>
          <a:xfrm>
            <a:off x="720000" y="252000"/>
            <a:ext cx="549831" cy="138499"/>
          </a:xfrm>
          <a:prstGeom prst="rect">
            <a:avLst/>
          </a:prstGeom>
        </p:spPr>
        <p:txBody>
          <a:bodyPr vert="horz" wrap="none" lIns="0" tIns="0" rIns="0" bIns="0" rtlCol="0" anchor="ctr">
            <a:spAutoFit/>
          </a:bodyPr>
          <a:lstStyle>
            <a:lvl1pPr algn="l">
              <a:defRPr sz="900" b="0" i="0">
                <a:solidFill>
                  <a:schemeClr val="tx1"/>
                </a:solidFill>
                <a:latin typeface="+mn-lt"/>
              </a:defRPr>
            </a:lvl1pPr>
          </a:lstStyle>
          <a:p>
            <a:r>
              <a:rPr lang="en-GB" dirty="0">
                <a:solidFill>
                  <a:srgbClr val="001A41"/>
                </a:solidFill>
              </a:rPr>
              <a:t>Inchcape</a:t>
            </a:r>
          </a:p>
        </p:txBody>
      </p:sp>
      <p:sp>
        <p:nvSpPr>
          <p:cNvPr id="6" name="Slide Number Placeholder 5">
            <a:extLst>
              <a:ext uri="{FF2B5EF4-FFF2-40B4-BE49-F238E27FC236}">
                <a16:creationId xmlns:a16="http://schemas.microsoft.com/office/drawing/2014/main" id="{67430B98-5EA5-5542-AFEB-7B5310CC3899}"/>
              </a:ext>
            </a:extLst>
          </p:cNvPr>
          <p:cNvSpPr>
            <a:spLocks noGrp="1"/>
          </p:cNvSpPr>
          <p:nvPr>
            <p:ph type="sldNum" sz="quarter" idx="4"/>
          </p:nvPr>
        </p:nvSpPr>
        <p:spPr>
          <a:xfrm>
            <a:off x="11331798" y="252000"/>
            <a:ext cx="141064" cy="138499"/>
          </a:xfrm>
          <a:prstGeom prst="rect">
            <a:avLst/>
          </a:prstGeom>
        </p:spPr>
        <p:txBody>
          <a:bodyPr vert="horz" wrap="none" lIns="0" tIns="0" rIns="0" bIns="0" rtlCol="0" anchor="ctr">
            <a:spAutoFit/>
          </a:bodyPr>
          <a:lstStyle>
            <a:lvl1pPr algn="r">
              <a:defRPr sz="900" b="0" i="0" spc="0" baseline="0">
                <a:solidFill>
                  <a:schemeClr val="tx1"/>
                </a:solidFill>
                <a:latin typeface="+mn-lt"/>
              </a:defRPr>
            </a:lvl1pPr>
          </a:lstStyle>
          <a:p>
            <a:fld id="{9A24425F-4E86-FA46-A893-E19B561985DA}" type="slidenum">
              <a:rPr lang="en-GB" smtClean="0"/>
              <a:pPr/>
              <a:t>‹Nº›</a:t>
            </a:fld>
            <a:endParaRPr lang="en-GB" dirty="0"/>
          </a:p>
        </p:txBody>
      </p:sp>
    </p:spTree>
    <p:extLst>
      <p:ext uri="{BB962C8B-B14F-4D97-AF65-F5344CB8AC3E}">
        <p14:creationId xmlns:p14="http://schemas.microsoft.com/office/powerpoint/2010/main" val="4172522996"/>
      </p:ext>
    </p:extLst>
  </p:cSld>
  <p:clrMap bg1="lt1" tx1="dk1" bg2="lt2" tx2="dk2" accent1="accent1" accent2="accent2" accent3="accent3" accent4="accent4" accent5="accent5" accent6="accent6" hlink="hlink" folHlink="folHlink"/>
  <p:sldLayoutIdLst>
    <p:sldLayoutId id="2147483657" r:id="rId1"/>
    <p:sldLayoutId id="2147483692" r:id="rId2"/>
    <p:sldLayoutId id="2147483694" r:id="rId3"/>
    <p:sldLayoutId id="2147483672" r:id="rId4"/>
    <p:sldLayoutId id="2147483698" r:id="rId5"/>
    <p:sldLayoutId id="2147483699" r:id="rId6"/>
    <p:sldLayoutId id="2147483687" r:id="rId7"/>
    <p:sldLayoutId id="2147483688" r:id="rId8"/>
    <p:sldLayoutId id="2147483689" r:id="rId9"/>
    <p:sldLayoutId id="2147483695" r:id="rId10"/>
    <p:sldLayoutId id="2147483696" r:id="rId11"/>
    <p:sldLayoutId id="2147483697" r:id="rId12"/>
    <p:sldLayoutId id="2147483650" r:id="rId13"/>
    <p:sldLayoutId id="2147483676" r:id="rId14"/>
    <p:sldLayoutId id="2147483681" r:id="rId15"/>
    <p:sldLayoutId id="2147483677" r:id="rId16"/>
    <p:sldLayoutId id="2147483654" r:id="rId17"/>
    <p:sldLayoutId id="2147483708" r:id="rId18"/>
    <p:sldLayoutId id="2147483706" r:id="rId19"/>
    <p:sldLayoutId id="2147483709" r:id="rId20"/>
    <p:sldLayoutId id="2147483707" r:id="rId21"/>
    <p:sldLayoutId id="2147483683" r:id="rId22"/>
    <p:sldLayoutId id="2147483658" r:id="rId23"/>
    <p:sldLayoutId id="2147483710" r:id="rId24"/>
    <p:sldLayoutId id="2147483668" r:id="rId25"/>
    <p:sldLayoutId id="2147483680" r:id="rId26"/>
    <p:sldLayoutId id="2147483684" r:id="rId27"/>
    <p:sldLayoutId id="2147483669" r:id="rId28"/>
    <p:sldLayoutId id="2147483678" r:id="rId29"/>
    <p:sldLayoutId id="2147483685" r:id="rId30"/>
    <p:sldLayoutId id="2147483679" r:id="rId31"/>
    <p:sldLayoutId id="2147483660" r:id="rId32"/>
    <p:sldLayoutId id="2147483664" r:id="rId33"/>
    <p:sldLayoutId id="2147483659" r:id="rId34"/>
    <p:sldLayoutId id="2147483655" r:id="rId35"/>
    <p:sldLayoutId id="2147483690" r:id="rId36"/>
    <p:sldLayoutId id="2147483691" r:id="rId37"/>
  </p:sldLayoutIdLst>
  <p:hf hdr="0" dt="0"/>
  <p:txStyles>
    <p:titleStyle>
      <a:lvl1pPr algn="l" defTabSz="914400" rtl="0" eaLnBrk="1" latinLnBrk="0" hangingPunct="1">
        <a:lnSpc>
          <a:spcPct val="85000"/>
        </a:lnSpc>
        <a:spcBef>
          <a:spcPct val="0"/>
        </a:spcBef>
        <a:buNone/>
        <a:defRPr sz="3000" b="1" i="0" kern="1200">
          <a:solidFill>
            <a:srgbClr val="001A41"/>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1000"/>
        </a:spcAft>
        <a:buFont typeface="Wingdings" pitchFamily="2" charset="2"/>
        <a:buChar char="§"/>
        <a:tabLst/>
        <a:defRPr sz="1600" b="0" i="0" kern="1200">
          <a:solidFill>
            <a:srgbClr val="001A41"/>
          </a:solidFill>
          <a:latin typeface="+mn-lt"/>
          <a:ea typeface="+mn-ea"/>
          <a:cs typeface="+mn-cs"/>
        </a:defRPr>
      </a:lvl1pPr>
      <a:lvl2pPr marL="504825" indent="-152400" algn="l" defTabSz="914400" rtl="0" eaLnBrk="1" latinLnBrk="0" hangingPunct="1">
        <a:lnSpc>
          <a:spcPct val="100000"/>
        </a:lnSpc>
        <a:spcBef>
          <a:spcPts val="0"/>
        </a:spcBef>
        <a:spcAft>
          <a:spcPts val="1000"/>
        </a:spcAft>
        <a:buFont typeface="Wingdings" pitchFamily="2" charset="2"/>
        <a:buChar char="§"/>
        <a:tabLst/>
        <a:defRPr sz="1400" b="0" i="0" kern="1200">
          <a:solidFill>
            <a:srgbClr val="001A41"/>
          </a:solidFill>
          <a:latin typeface="+mn-lt"/>
          <a:ea typeface="+mn-ea"/>
          <a:cs typeface="+mn-cs"/>
        </a:defRPr>
      </a:lvl2pPr>
      <a:lvl3pPr marL="827088" indent="-142875" algn="l" defTabSz="914400" rtl="0" eaLnBrk="1" latinLnBrk="0" hangingPunct="1">
        <a:lnSpc>
          <a:spcPct val="100000"/>
        </a:lnSpc>
        <a:spcBef>
          <a:spcPts val="0"/>
        </a:spcBef>
        <a:spcAft>
          <a:spcPts val="1000"/>
        </a:spcAft>
        <a:buFont typeface="Wingdings" pitchFamily="2" charset="2"/>
        <a:buChar char="§"/>
        <a:tabLst/>
        <a:defRPr sz="1300" b="0" i="0" kern="1200">
          <a:solidFill>
            <a:srgbClr val="001A41"/>
          </a:solidFill>
          <a:latin typeface="+mn-lt"/>
          <a:ea typeface="+mn-ea"/>
          <a:cs typeface="+mn-cs"/>
        </a:defRPr>
      </a:lvl3pPr>
      <a:lvl4pPr marL="1150938" indent="-122238" algn="l" defTabSz="914400" rtl="0" eaLnBrk="1" latinLnBrk="0" hangingPunct="1">
        <a:lnSpc>
          <a:spcPct val="100000"/>
        </a:lnSpc>
        <a:spcBef>
          <a:spcPts val="0"/>
        </a:spcBef>
        <a:spcAft>
          <a:spcPts val="1000"/>
        </a:spcAft>
        <a:buFont typeface="Wingdings" pitchFamily="2" charset="2"/>
        <a:buChar char="§"/>
        <a:tabLst/>
        <a:defRPr sz="1200" b="0" i="0" kern="1200">
          <a:solidFill>
            <a:srgbClr val="001A41"/>
          </a:solidFill>
          <a:latin typeface="+mn-lt"/>
          <a:ea typeface="+mn-ea"/>
          <a:cs typeface="+mn-cs"/>
        </a:defRPr>
      </a:lvl4pPr>
      <a:lvl5pPr marL="1476000" indent="-114300" algn="l" defTabSz="914400" rtl="0" eaLnBrk="1" latinLnBrk="0" hangingPunct="1">
        <a:lnSpc>
          <a:spcPct val="100000"/>
        </a:lnSpc>
        <a:spcBef>
          <a:spcPts val="0"/>
        </a:spcBef>
        <a:spcAft>
          <a:spcPts val="1000"/>
        </a:spcAft>
        <a:buFont typeface="Wingdings" pitchFamily="2" charset="2"/>
        <a:buChar char="§"/>
        <a:tabLst/>
        <a:defRPr sz="1100" b="0" i="0" kern="1200">
          <a:solidFill>
            <a:srgbClr val="001A4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227" userDrawn="1">
          <p15:clr>
            <a:srgbClr val="F26B43"/>
          </p15:clr>
        </p15:guide>
        <p15:guide id="7" orient="horz" pos="896" userDrawn="1">
          <p15:clr>
            <a:srgbClr val="F26B43"/>
          </p15:clr>
        </p15:guide>
        <p15:guide id="8" orient="horz" pos="3952" userDrawn="1">
          <p15:clr>
            <a:srgbClr val="F26B43"/>
          </p15:clr>
        </p15:guide>
        <p15:guide id="11" pos="45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554480"/>
            <a:ext cx="7863840" cy="292608"/>
          </a:xfrm>
          <a:prstGeom prst="rect">
            <a:avLst/>
          </a:prstGeom>
          <a:noFill/>
        </p:spPr>
        <p:txBody>
          <a:bodyPr wrap="square" lIns="0" tIns="0" rIns="0" bIns="0" anchor="t">
            <a:spAutoFit/>
          </a:bodyPr>
          <a:lstStyle/>
          <a:p>
            <a:pPr algn="l">
              <a:spcBef>
                <a:spcPts val="0"/>
              </a:spcBef>
              <a:spcAft>
                <a:spcPts val="0"/>
              </a:spcAft>
            </a:pPr>
            <a:r>
              <a:rPr sz="1100" b="1" i="0">
                <a:solidFill>
                  <a:srgbClr val="19BDE6"/>
                </a:solidFill>
                <a:latin typeface="Century Gothic"/>
              </a:rPr>
              <a:t>CAPSTONE 2026-2 · FASE 1 · DEFINICIÓN DE PROYECTO APT</a:t>
            </a:r>
          </a:p>
        </p:txBody>
      </p:sp>
      <p:sp>
        <p:nvSpPr>
          <p:cNvPr id="3" name="TextBox 2"/>
          <p:cNvSpPr txBox="1"/>
          <p:nvPr/>
        </p:nvSpPr>
        <p:spPr>
          <a:xfrm>
            <a:off x="722376" y="1965960"/>
            <a:ext cx="8412480" cy="2377440"/>
          </a:xfrm>
          <a:prstGeom prst="rect">
            <a:avLst/>
          </a:prstGeom>
          <a:noFill/>
        </p:spPr>
        <p:txBody>
          <a:bodyPr wrap="square" lIns="0" tIns="0" rIns="0" bIns="0" anchor="t">
            <a:spAutoFit/>
          </a:bodyPr>
          <a:lstStyle/>
          <a:p>
            <a:pPr algn="l">
              <a:lnSpc>
                <a:spcPct val="102000"/>
              </a:lnSpc>
              <a:spcBef>
                <a:spcPts val="0"/>
              </a:spcBef>
              <a:spcAft>
                <a:spcPts val="0"/>
              </a:spcAft>
            </a:pPr>
            <a:r>
              <a:rPr sz="3100" b="1" i="0">
                <a:solidFill>
                  <a:srgbClr val="FFFFFF"/>
                </a:solidFill>
                <a:latin typeface="Century Gothic"/>
              </a:rPr>
              <a:t>APLICACIÓN DE PROYECCIÓN</a:t>
            </a:r>
          </a:p>
          <a:p>
            <a:pPr algn="l">
              <a:lnSpc>
                <a:spcPct val="102000"/>
              </a:lnSpc>
              <a:spcBef>
                <a:spcPts val="0"/>
              </a:spcBef>
              <a:spcAft>
                <a:spcPts val="0"/>
              </a:spcAft>
            </a:pPr>
            <a:r>
              <a:rPr sz="3100" b="1" i="0">
                <a:solidFill>
                  <a:srgbClr val="FFFFFF"/>
                </a:solidFill>
                <a:latin typeface="Century Gothic"/>
              </a:rPr>
              <a:t>DE DEMANDA DE REPUESTOS</a:t>
            </a:r>
          </a:p>
          <a:p>
            <a:pPr algn="l">
              <a:lnSpc>
                <a:spcPct val="102000"/>
              </a:lnSpc>
              <a:spcBef>
                <a:spcPts val="0"/>
              </a:spcBef>
              <a:spcAft>
                <a:spcPts val="0"/>
              </a:spcAft>
            </a:pPr>
            <a:r>
              <a:rPr sz="3100" b="1" i="0">
                <a:solidFill>
                  <a:srgbClr val="19BDE6"/>
                </a:solidFill>
                <a:latin typeface="Century Gothic"/>
              </a:rPr>
              <a:t>PARA INCHCAPE CHILE</a:t>
            </a:r>
          </a:p>
        </p:txBody>
      </p:sp>
      <p:sp>
        <p:nvSpPr>
          <p:cNvPr id="4" name="TextBox 3"/>
          <p:cNvSpPr txBox="1"/>
          <p:nvPr/>
        </p:nvSpPr>
        <p:spPr>
          <a:xfrm>
            <a:off x="722376" y="4526280"/>
            <a:ext cx="7498079" cy="685800"/>
          </a:xfrm>
          <a:prstGeom prst="rect">
            <a:avLst/>
          </a:prstGeom>
          <a:noFill/>
        </p:spPr>
        <p:txBody>
          <a:bodyPr wrap="square" lIns="0" tIns="0" rIns="0" bIns="0" anchor="t">
            <a:spAutoFit/>
          </a:bodyPr>
          <a:lstStyle/>
          <a:p>
            <a:pPr algn="l">
              <a:lnSpc>
                <a:spcPct val="125000"/>
              </a:lnSpc>
              <a:spcBef>
                <a:spcPts val="0"/>
              </a:spcBef>
              <a:spcAft>
                <a:spcPts val="0"/>
              </a:spcAft>
            </a:pPr>
            <a:r>
              <a:rPr sz="1200" b="0" i="0">
                <a:solidFill>
                  <a:srgbClr val="FFFFFF"/>
                </a:solidFill>
                <a:latin typeface="Century Gothic"/>
              </a:rPr>
              <a:t>Una herramienta que el equipo de Planificación y Compras usa cada mes para decidir qué comprar, cuánto y con qué anticipación.</a:t>
            </a:r>
          </a:p>
        </p:txBody>
      </p:sp>
      <p:sp>
        <p:nvSpPr>
          <p:cNvPr id="8" name="TextBox 4">
            <a:extLst>
              <a:ext uri="{FF2B5EF4-FFF2-40B4-BE49-F238E27FC236}">
                <a16:creationId xmlns:a16="http://schemas.microsoft.com/office/drawing/2014/main" id="{79A7C8CE-9EEB-A9FE-9AC8-7E128A8F4DAF}"/>
              </a:ext>
            </a:extLst>
          </p:cNvPr>
          <p:cNvSpPr txBox="1"/>
          <p:nvPr/>
        </p:nvSpPr>
        <p:spPr>
          <a:xfrm>
            <a:off x="763365" y="5486400"/>
            <a:ext cx="4078542" cy="518091"/>
          </a:xfrm>
          <a:prstGeom prst="rect">
            <a:avLst/>
          </a:prstGeom>
          <a:noFill/>
        </p:spPr>
        <p:txBody>
          <a:bodyPr wrap="square" lIns="0" tIns="0" rIns="0" bIns="0" anchor="t">
            <a:spAutoFit/>
          </a:bodyPr>
          <a:lstStyle/>
          <a:p>
            <a:pPr algn="l">
              <a:spcBef>
                <a:spcPts val="0"/>
              </a:spcBef>
              <a:spcAft>
                <a:spcPts val="300"/>
              </a:spcAft>
            </a:pPr>
            <a:r>
              <a:rPr sz="900" b="1" i="0" dirty="0">
                <a:solidFill>
                  <a:srgbClr val="19BDE6"/>
                </a:solidFill>
                <a:latin typeface="Century Gothic"/>
              </a:rPr>
              <a:t>EQUIPO</a:t>
            </a:r>
          </a:p>
          <a:p>
            <a:pPr>
              <a:spcAft>
                <a:spcPts val="200"/>
              </a:spcAft>
            </a:pPr>
            <a:r>
              <a:rPr lang="es-CL" sz="1100" b="0" i="0" dirty="0">
                <a:solidFill>
                  <a:srgbClr val="FFFFFF"/>
                </a:solidFill>
                <a:latin typeface="Century Gothic"/>
              </a:rPr>
              <a:t>Angelo Henriquez</a:t>
            </a:r>
            <a:r>
              <a:rPr sz="1100" b="0" i="0" dirty="0">
                <a:solidFill>
                  <a:srgbClr val="FFFFFF"/>
                </a:solidFill>
                <a:latin typeface="Century Gothic"/>
              </a:rPr>
              <a:t> ·  </a:t>
            </a:r>
            <a:r>
              <a:rPr lang="es-CL" sz="1100" b="0" i="0" dirty="0">
                <a:solidFill>
                  <a:srgbClr val="FFFFFF"/>
                </a:solidFill>
                <a:latin typeface="Century Gothic"/>
              </a:rPr>
              <a:t>Tania Abu</a:t>
            </a:r>
            <a:r>
              <a:rPr lang="es-CL" sz="1100" dirty="0">
                <a:solidFill>
                  <a:srgbClr val="FFFFFF"/>
                </a:solidFill>
                <a:latin typeface="Century Gothic"/>
              </a:rPr>
              <a:t>rto </a:t>
            </a:r>
            <a:r>
              <a:rPr lang="es-CL" sz="1100" dirty="0">
                <a:solidFill>
                  <a:srgbClr val="FFFFFF"/>
                </a:solidFill>
              </a:rPr>
              <a:t>· Jorge Cavieres</a:t>
            </a:r>
            <a:endParaRPr sz="1100" b="0" i="0" dirty="0">
              <a:solidFill>
                <a:srgbClr val="FFFFFF"/>
              </a:solidFill>
              <a:latin typeface="Century Gothic"/>
            </a:endParaRPr>
          </a:p>
          <a:p>
            <a:pPr algn="l">
              <a:spcBef>
                <a:spcPts val="0"/>
              </a:spcBef>
              <a:spcAft>
                <a:spcPts val="0"/>
              </a:spcAft>
            </a:pPr>
            <a:r>
              <a:rPr sz="950" b="0" i="0" dirty="0">
                <a:solidFill>
                  <a:srgbClr val="9FB3C8"/>
                </a:solidFill>
                <a:latin typeface="Century Gothic"/>
              </a:rPr>
              <a:t>Ingeniería </a:t>
            </a:r>
            <a:r>
              <a:rPr sz="950" b="0" i="0" dirty="0" err="1">
                <a:solidFill>
                  <a:srgbClr val="9FB3C8"/>
                </a:solidFill>
                <a:latin typeface="Century Gothic"/>
              </a:rPr>
              <a:t>en</a:t>
            </a:r>
            <a:r>
              <a:rPr sz="950" b="0" i="0" dirty="0">
                <a:solidFill>
                  <a:srgbClr val="9FB3C8"/>
                </a:solidFill>
                <a:latin typeface="Century Gothic"/>
              </a:rPr>
              <a:t> </a:t>
            </a:r>
            <a:r>
              <a:rPr sz="950" b="0" i="0" dirty="0" err="1">
                <a:solidFill>
                  <a:srgbClr val="9FB3C8"/>
                </a:solidFill>
                <a:latin typeface="Century Gothic"/>
              </a:rPr>
              <a:t>Informática</a:t>
            </a:r>
            <a:r>
              <a:rPr sz="950" b="0" i="0" dirty="0">
                <a:solidFill>
                  <a:srgbClr val="9FB3C8"/>
                </a:solidFill>
                <a:latin typeface="Century Gothic"/>
              </a:rPr>
              <a:t>  ·  Sede </a:t>
            </a:r>
            <a:r>
              <a:rPr lang="es-CL" sz="950" dirty="0">
                <a:solidFill>
                  <a:srgbClr val="9FB3C8"/>
                </a:solidFill>
                <a:latin typeface="Century Gothic"/>
              </a:rPr>
              <a:t>Maipú Duoc UC</a:t>
            </a:r>
            <a:endParaRPr sz="950" b="0" i="0" dirty="0">
              <a:solidFill>
                <a:srgbClr val="9FB3C8"/>
              </a:solidFill>
              <a:latin typeface="Century Gothic"/>
            </a:endParaRPr>
          </a:p>
        </p:txBody>
      </p:sp>
      <p:sp>
        <p:nvSpPr>
          <p:cNvPr id="10" name="TextBox 5">
            <a:extLst>
              <a:ext uri="{FF2B5EF4-FFF2-40B4-BE49-F238E27FC236}">
                <a16:creationId xmlns:a16="http://schemas.microsoft.com/office/drawing/2014/main" id="{D9BC5675-6464-BE3C-A311-65570DE1703F}"/>
              </a:ext>
            </a:extLst>
          </p:cNvPr>
          <p:cNvSpPr txBox="1"/>
          <p:nvPr/>
        </p:nvSpPr>
        <p:spPr>
          <a:xfrm>
            <a:off x="5202936" y="5486400"/>
            <a:ext cx="4160520" cy="518091"/>
          </a:xfrm>
          <a:prstGeom prst="rect">
            <a:avLst/>
          </a:prstGeom>
          <a:noFill/>
        </p:spPr>
        <p:txBody>
          <a:bodyPr wrap="square" lIns="0" tIns="0" rIns="0" bIns="0" anchor="t">
            <a:spAutoFit/>
          </a:bodyPr>
          <a:lstStyle/>
          <a:p>
            <a:pPr algn="l">
              <a:spcBef>
                <a:spcPts val="0"/>
              </a:spcBef>
              <a:spcAft>
                <a:spcPts val="300"/>
              </a:spcAft>
            </a:pPr>
            <a:r>
              <a:rPr sz="900" b="1" i="0" dirty="0">
                <a:solidFill>
                  <a:srgbClr val="19BDE6"/>
                </a:solidFill>
                <a:latin typeface="Century Gothic"/>
              </a:rPr>
              <a:t>ASIGNATURA</a:t>
            </a:r>
          </a:p>
          <a:p>
            <a:pPr algn="l">
              <a:spcBef>
                <a:spcPts val="0"/>
              </a:spcBef>
              <a:spcAft>
                <a:spcPts val="200"/>
              </a:spcAft>
            </a:pPr>
            <a:r>
              <a:rPr sz="1100" b="0" i="0" dirty="0">
                <a:solidFill>
                  <a:srgbClr val="FFFFFF"/>
                </a:solidFill>
                <a:latin typeface="Century Gothic"/>
              </a:rPr>
              <a:t>PTY4614 Capstone  ·  </a:t>
            </a:r>
            <a:r>
              <a:rPr sz="1100" b="0" i="0" dirty="0" err="1">
                <a:solidFill>
                  <a:srgbClr val="FFFFFF"/>
                </a:solidFill>
                <a:latin typeface="Century Gothic"/>
              </a:rPr>
              <a:t>Docente</a:t>
            </a:r>
            <a:r>
              <a:rPr sz="1100" b="0" i="0" dirty="0">
                <a:solidFill>
                  <a:srgbClr val="FFFFFF"/>
                </a:solidFill>
                <a:latin typeface="Century Gothic"/>
              </a:rPr>
              <a:t>: </a:t>
            </a:r>
            <a:r>
              <a:rPr lang="es-CL" sz="1100" b="0" i="0" dirty="0">
                <a:solidFill>
                  <a:srgbClr val="FFFFFF"/>
                </a:solidFill>
                <a:latin typeface="Century Gothic"/>
              </a:rPr>
              <a:t>Jorge Guzman</a:t>
            </a:r>
            <a:endParaRPr sz="1100" b="0" i="0" dirty="0">
              <a:solidFill>
                <a:srgbClr val="FFFFFF"/>
              </a:solidFill>
              <a:latin typeface="Century Gothic"/>
            </a:endParaRPr>
          </a:p>
          <a:p>
            <a:pPr algn="l">
              <a:spcBef>
                <a:spcPts val="0"/>
              </a:spcBef>
              <a:spcAft>
                <a:spcPts val="0"/>
              </a:spcAft>
            </a:pPr>
            <a:r>
              <a:rPr sz="950" b="0" i="0" dirty="0">
                <a:solidFill>
                  <a:srgbClr val="9FB3C8"/>
                </a:solidFill>
                <a:latin typeface="Century Gothic"/>
              </a:rPr>
              <a:t>Semana </a:t>
            </a:r>
            <a:r>
              <a:rPr lang="es-CL" sz="950" b="0" i="0" dirty="0">
                <a:solidFill>
                  <a:srgbClr val="9FB3C8"/>
                </a:solidFill>
                <a:latin typeface="Century Gothic"/>
              </a:rPr>
              <a:t>3</a:t>
            </a:r>
            <a:r>
              <a:rPr sz="950" b="0" i="0" dirty="0">
                <a:solidFill>
                  <a:srgbClr val="9FB3C8"/>
                </a:solidFill>
                <a:latin typeface="Century Gothic"/>
              </a:rPr>
              <a:t>  ·  </a:t>
            </a:r>
            <a:r>
              <a:rPr sz="950" b="0" i="0" dirty="0" err="1">
                <a:solidFill>
                  <a:srgbClr val="9FB3C8"/>
                </a:solidFill>
                <a:latin typeface="Century Gothic"/>
              </a:rPr>
              <a:t>Evaluación</a:t>
            </a:r>
            <a:r>
              <a:rPr sz="950" b="0" i="0" dirty="0">
                <a:solidFill>
                  <a:srgbClr val="9FB3C8"/>
                </a:solidFill>
                <a:latin typeface="Century Gothic"/>
              </a:rPr>
              <a:t> </a:t>
            </a:r>
            <a:r>
              <a:rPr sz="950" b="0" i="0" dirty="0" err="1">
                <a:solidFill>
                  <a:srgbClr val="9FB3C8"/>
                </a:solidFill>
                <a:latin typeface="Century Gothic"/>
              </a:rPr>
              <a:t>sumativa</a:t>
            </a:r>
            <a:r>
              <a:rPr sz="950" b="0" i="0" dirty="0">
                <a:solidFill>
                  <a:srgbClr val="9FB3C8"/>
                </a:solidFill>
                <a:latin typeface="Century Gothic"/>
              </a:rPr>
              <a:t>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Contenido</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371600"/>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Oval 4"/>
          <p:cNvSpPr/>
          <p:nvPr/>
        </p:nvSpPr>
        <p:spPr>
          <a:xfrm>
            <a:off x="1051560" y="1700784"/>
            <a:ext cx="512064" cy="512064"/>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300" b="1" i="0">
                <a:solidFill>
                  <a:srgbClr val="FFFFFF"/>
                </a:solidFill>
                <a:latin typeface="Century Gothic"/>
              </a:rPr>
              <a:t>01</a:t>
            </a:r>
          </a:p>
        </p:txBody>
      </p:sp>
      <p:sp>
        <p:nvSpPr>
          <p:cNvPr id="6" name="TextBox 5"/>
          <p:cNvSpPr txBox="1"/>
          <p:nvPr/>
        </p:nvSpPr>
        <p:spPr>
          <a:xfrm>
            <a:off x="1801368" y="1645920"/>
            <a:ext cx="6949440" cy="685800"/>
          </a:xfrm>
          <a:prstGeom prst="rect">
            <a:avLst/>
          </a:prstGeom>
          <a:noFill/>
        </p:spPr>
        <p:txBody>
          <a:bodyPr wrap="square" lIns="0" tIns="0" rIns="0" bIns="0" anchor="t">
            <a:spAutoFit/>
          </a:bodyPr>
          <a:lstStyle/>
          <a:p>
            <a:pPr algn="l">
              <a:spcBef>
                <a:spcPts val="0"/>
              </a:spcBef>
              <a:spcAft>
                <a:spcPts val="400"/>
              </a:spcAft>
            </a:pPr>
            <a:r>
              <a:rPr sz="1600" b="1" i="0">
                <a:solidFill>
                  <a:srgbClr val="001A41"/>
                </a:solidFill>
                <a:latin typeface="Century Gothic"/>
              </a:rPr>
              <a:t>Problema de negocio</a:t>
            </a:r>
          </a:p>
          <a:p>
            <a:pPr algn="l">
              <a:spcBef>
                <a:spcPts val="0"/>
              </a:spcBef>
              <a:spcAft>
                <a:spcPts val="0"/>
              </a:spcAft>
            </a:pPr>
            <a:r>
              <a:rPr sz="1100" b="0" i="0">
                <a:solidFill>
                  <a:srgbClr val="39464F"/>
                </a:solidFill>
                <a:latin typeface="Century Gothic"/>
              </a:rPr>
              <a:t>Qué mide la operación, dónde está la brecha y cómo se conecta con la solución.</a:t>
            </a:r>
          </a:p>
        </p:txBody>
      </p:sp>
      <p:sp>
        <p:nvSpPr>
          <p:cNvPr id="7" name="TextBox 6"/>
          <p:cNvSpPr txBox="1"/>
          <p:nvPr/>
        </p:nvSpPr>
        <p:spPr>
          <a:xfrm>
            <a:off x="10012680" y="1792224"/>
            <a:ext cx="1005840" cy="292608"/>
          </a:xfrm>
          <a:prstGeom prst="rect">
            <a:avLst/>
          </a:prstGeom>
          <a:noFill/>
        </p:spPr>
        <p:txBody>
          <a:bodyPr wrap="square" lIns="0" tIns="0" rIns="0" bIns="0" anchor="t">
            <a:spAutoFit/>
          </a:bodyPr>
          <a:lstStyle/>
          <a:p>
            <a:pPr algn="r">
              <a:spcBef>
                <a:spcPts val="0"/>
              </a:spcBef>
              <a:spcAft>
                <a:spcPts val="0"/>
              </a:spcAft>
            </a:pPr>
            <a:r>
              <a:rPr sz="1400" b="1" i="0">
                <a:solidFill>
                  <a:srgbClr val="19BDE6"/>
                </a:solidFill>
                <a:latin typeface="Century Gothic"/>
              </a:rPr>
              <a:t>3</a:t>
            </a:r>
          </a:p>
        </p:txBody>
      </p:sp>
      <p:sp>
        <p:nvSpPr>
          <p:cNvPr id="8" name="Snip Single Corner Rectangle 7"/>
          <p:cNvSpPr/>
          <p:nvPr/>
        </p:nvSpPr>
        <p:spPr>
          <a:xfrm>
            <a:off x="722376" y="2615184"/>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Oval 8"/>
          <p:cNvSpPr/>
          <p:nvPr/>
        </p:nvSpPr>
        <p:spPr>
          <a:xfrm>
            <a:off x="1051560" y="2944368"/>
            <a:ext cx="512064" cy="512064"/>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300" b="1" i="0">
                <a:solidFill>
                  <a:srgbClr val="001A41"/>
                </a:solidFill>
                <a:latin typeface="Century Gothic"/>
              </a:rPr>
              <a:t>02</a:t>
            </a:r>
          </a:p>
        </p:txBody>
      </p:sp>
      <p:sp>
        <p:nvSpPr>
          <p:cNvPr id="10" name="TextBox 9"/>
          <p:cNvSpPr txBox="1"/>
          <p:nvPr/>
        </p:nvSpPr>
        <p:spPr>
          <a:xfrm>
            <a:off x="1801368" y="2889504"/>
            <a:ext cx="6949440" cy="685800"/>
          </a:xfrm>
          <a:prstGeom prst="rect">
            <a:avLst/>
          </a:prstGeom>
          <a:noFill/>
        </p:spPr>
        <p:txBody>
          <a:bodyPr wrap="square" lIns="0" tIns="0" rIns="0" bIns="0" anchor="t">
            <a:spAutoFit/>
          </a:bodyPr>
          <a:lstStyle/>
          <a:p>
            <a:pPr algn="l">
              <a:spcBef>
                <a:spcPts val="0"/>
              </a:spcBef>
              <a:spcAft>
                <a:spcPts val="400"/>
              </a:spcAft>
            </a:pPr>
            <a:r>
              <a:rPr sz="1600" b="1" i="0">
                <a:solidFill>
                  <a:srgbClr val="001A41"/>
                </a:solidFill>
                <a:latin typeface="Century Gothic"/>
              </a:rPr>
              <a:t>Cliente y proyecto</a:t>
            </a:r>
          </a:p>
          <a:p>
            <a:pPr algn="l">
              <a:spcBef>
                <a:spcPts val="0"/>
              </a:spcBef>
              <a:spcAft>
                <a:spcPts val="0"/>
              </a:spcAft>
            </a:pPr>
            <a:r>
              <a:rPr sz="1100" b="0" i="0">
                <a:solidFill>
                  <a:srgbClr val="39464F"/>
                </a:solidFill>
                <a:latin typeface="Century Gothic"/>
              </a:rPr>
              <a:t>Quién paga, quién usa la herramienta y qué construimos.</a:t>
            </a:r>
          </a:p>
        </p:txBody>
      </p:sp>
      <p:sp>
        <p:nvSpPr>
          <p:cNvPr id="11" name="TextBox 10"/>
          <p:cNvSpPr txBox="1"/>
          <p:nvPr/>
        </p:nvSpPr>
        <p:spPr>
          <a:xfrm>
            <a:off x="10012680" y="3035808"/>
            <a:ext cx="1005840" cy="292608"/>
          </a:xfrm>
          <a:prstGeom prst="rect">
            <a:avLst/>
          </a:prstGeom>
          <a:noFill/>
        </p:spPr>
        <p:txBody>
          <a:bodyPr wrap="square" lIns="0" tIns="0" rIns="0" bIns="0" anchor="t">
            <a:spAutoFit/>
          </a:bodyPr>
          <a:lstStyle/>
          <a:p>
            <a:pPr algn="r">
              <a:spcBef>
                <a:spcPts val="0"/>
              </a:spcBef>
              <a:spcAft>
                <a:spcPts val="0"/>
              </a:spcAft>
            </a:pPr>
            <a:r>
              <a:rPr sz="1400" b="1" i="0">
                <a:solidFill>
                  <a:srgbClr val="19BDE6"/>
                </a:solidFill>
                <a:latin typeface="Century Gothic"/>
              </a:rPr>
              <a:t>10</a:t>
            </a:r>
          </a:p>
        </p:txBody>
      </p:sp>
      <p:sp>
        <p:nvSpPr>
          <p:cNvPr id="12" name="Snip Single Corner Rectangle 11"/>
          <p:cNvSpPr/>
          <p:nvPr/>
        </p:nvSpPr>
        <p:spPr>
          <a:xfrm>
            <a:off x="722376" y="3858768"/>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Oval 12"/>
          <p:cNvSpPr/>
          <p:nvPr/>
        </p:nvSpPr>
        <p:spPr>
          <a:xfrm>
            <a:off x="1051560" y="4187952"/>
            <a:ext cx="512064" cy="512064"/>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300" b="1" i="0">
                <a:solidFill>
                  <a:srgbClr val="FFFFFF"/>
                </a:solidFill>
                <a:latin typeface="Century Gothic"/>
              </a:rPr>
              <a:t>03</a:t>
            </a:r>
          </a:p>
        </p:txBody>
      </p:sp>
      <p:sp>
        <p:nvSpPr>
          <p:cNvPr id="14" name="TextBox 13"/>
          <p:cNvSpPr txBox="1"/>
          <p:nvPr/>
        </p:nvSpPr>
        <p:spPr>
          <a:xfrm>
            <a:off x="1801368" y="4133088"/>
            <a:ext cx="6949440" cy="685800"/>
          </a:xfrm>
          <a:prstGeom prst="rect">
            <a:avLst/>
          </a:prstGeom>
          <a:noFill/>
        </p:spPr>
        <p:txBody>
          <a:bodyPr wrap="square" lIns="0" tIns="0" rIns="0" bIns="0" anchor="t">
            <a:spAutoFit/>
          </a:bodyPr>
          <a:lstStyle/>
          <a:p>
            <a:pPr algn="l">
              <a:spcBef>
                <a:spcPts val="0"/>
              </a:spcBef>
              <a:spcAft>
                <a:spcPts val="400"/>
              </a:spcAft>
            </a:pPr>
            <a:r>
              <a:rPr sz="1600" b="1" i="0">
                <a:solidFill>
                  <a:srgbClr val="001A41"/>
                </a:solidFill>
                <a:latin typeface="Century Gothic"/>
              </a:rPr>
              <a:t>Solución y aplicación</a:t>
            </a:r>
          </a:p>
          <a:p>
            <a:pPr algn="l">
              <a:spcBef>
                <a:spcPts val="0"/>
              </a:spcBef>
              <a:spcAft>
                <a:spcPts val="0"/>
              </a:spcAft>
            </a:pPr>
            <a:r>
              <a:rPr sz="1100" b="0" i="0">
                <a:solidFill>
                  <a:srgbClr val="39464F"/>
                </a:solidFill>
                <a:latin typeface="Century Gothic"/>
              </a:rPr>
              <a:t>Datos, modelos, y cómo el negocio opera la aplicación.</a:t>
            </a:r>
          </a:p>
        </p:txBody>
      </p:sp>
      <p:sp>
        <p:nvSpPr>
          <p:cNvPr id="15" name="TextBox 14"/>
          <p:cNvSpPr txBox="1"/>
          <p:nvPr/>
        </p:nvSpPr>
        <p:spPr>
          <a:xfrm>
            <a:off x="10012680" y="4279392"/>
            <a:ext cx="1005840" cy="292608"/>
          </a:xfrm>
          <a:prstGeom prst="rect">
            <a:avLst/>
          </a:prstGeom>
          <a:noFill/>
        </p:spPr>
        <p:txBody>
          <a:bodyPr wrap="square" lIns="0" tIns="0" rIns="0" bIns="0" anchor="t">
            <a:spAutoFit/>
          </a:bodyPr>
          <a:lstStyle/>
          <a:p>
            <a:pPr algn="r">
              <a:spcBef>
                <a:spcPts val="0"/>
              </a:spcBef>
              <a:spcAft>
                <a:spcPts val="0"/>
              </a:spcAft>
            </a:pPr>
            <a:r>
              <a:rPr sz="1400" b="1" i="0">
                <a:solidFill>
                  <a:srgbClr val="19BDE6"/>
                </a:solidFill>
                <a:latin typeface="Century Gothic"/>
              </a:rPr>
              <a:t>14</a:t>
            </a:r>
          </a:p>
        </p:txBody>
      </p:sp>
      <p:sp>
        <p:nvSpPr>
          <p:cNvPr id="16" name="Snip Single Corner Rectangle 15"/>
          <p:cNvSpPr/>
          <p:nvPr/>
        </p:nvSpPr>
        <p:spPr>
          <a:xfrm>
            <a:off x="722376" y="5102352"/>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Oval 16"/>
          <p:cNvSpPr/>
          <p:nvPr/>
        </p:nvSpPr>
        <p:spPr>
          <a:xfrm>
            <a:off x="1051560" y="5431536"/>
            <a:ext cx="512064" cy="512064"/>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300" b="1" i="0">
                <a:solidFill>
                  <a:srgbClr val="001A41"/>
                </a:solidFill>
                <a:latin typeface="Century Gothic"/>
              </a:rPr>
              <a:t>04</a:t>
            </a:r>
          </a:p>
        </p:txBody>
      </p:sp>
      <p:sp>
        <p:nvSpPr>
          <p:cNvPr id="18" name="TextBox 17"/>
          <p:cNvSpPr txBox="1"/>
          <p:nvPr/>
        </p:nvSpPr>
        <p:spPr>
          <a:xfrm>
            <a:off x="1801368" y="5376672"/>
            <a:ext cx="6949440" cy="685800"/>
          </a:xfrm>
          <a:prstGeom prst="rect">
            <a:avLst/>
          </a:prstGeom>
          <a:noFill/>
        </p:spPr>
        <p:txBody>
          <a:bodyPr wrap="square" lIns="0" tIns="0" rIns="0" bIns="0" anchor="t">
            <a:spAutoFit/>
          </a:bodyPr>
          <a:lstStyle/>
          <a:p>
            <a:pPr algn="l">
              <a:spcBef>
                <a:spcPts val="0"/>
              </a:spcBef>
              <a:spcAft>
                <a:spcPts val="400"/>
              </a:spcAft>
            </a:pPr>
            <a:r>
              <a:rPr sz="1600" b="1" i="0">
                <a:solidFill>
                  <a:srgbClr val="001A41"/>
                </a:solidFill>
                <a:latin typeface="Century Gothic"/>
              </a:rPr>
              <a:t>Gobierno del proyecto</a:t>
            </a:r>
          </a:p>
          <a:p>
            <a:pPr algn="l">
              <a:spcBef>
                <a:spcPts val="0"/>
              </a:spcBef>
              <a:spcAft>
                <a:spcPts val="0"/>
              </a:spcAft>
            </a:pPr>
            <a:r>
              <a:rPr sz="1100" b="0" i="0">
                <a:solidFill>
                  <a:srgbClr val="39464F"/>
                </a:solidFill>
                <a:latin typeface="Century Gothic"/>
              </a:rPr>
              <a:t>Confidencialidad, competencias, plan y evidencias.</a:t>
            </a:r>
          </a:p>
        </p:txBody>
      </p:sp>
      <p:sp>
        <p:nvSpPr>
          <p:cNvPr id="19" name="TextBox 18"/>
          <p:cNvSpPr txBox="1"/>
          <p:nvPr/>
        </p:nvSpPr>
        <p:spPr>
          <a:xfrm>
            <a:off x="10012680" y="5522976"/>
            <a:ext cx="1005840" cy="292608"/>
          </a:xfrm>
          <a:prstGeom prst="rect">
            <a:avLst/>
          </a:prstGeom>
          <a:noFill/>
        </p:spPr>
        <p:txBody>
          <a:bodyPr wrap="square" lIns="0" tIns="0" rIns="0" bIns="0" anchor="t">
            <a:spAutoFit/>
          </a:bodyPr>
          <a:lstStyle/>
          <a:p>
            <a:pPr algn="r">
              <a:spcBef>
                <a:spcPts val="0"/>
              </a:spcBef>
              <a:spcAft>
                <a:spcPts val="0"/>
              </a:spcAft>
            </a:pPr>
            <a:r>
              <a:rPr sz="1400" b="1" i="0">
                <a:solidFill>
                  <a:srgbClr val="19BDE6"/>
                </a:solidFill>
                <a:latin typeface="Century Gothic"/>
              </a:rPr>
              <a:t>24</a:t>
            </a:r>
          </a:p>
        </p:txBody>
      </p:sp>
      <p:sp>
        <p:nvSpPr>
          <p:cNvPr id="20" name="TextBox 19"/>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783080"/>
            <a:ext cx="7863840" cy="320040"/>
          </a:xfrm>
          <a:prstGeom prst="rect">
            <a:avLst/>
          </a:prstGeom>
          <a:noFill/>
        </p:spPr>
        <p:txBody>
          <a:bodyPr wrap="square" lIns="0" tIns="0" rIns="0" bIns="0" anchor="t">
            <a:spAutoFit/>
          </a:bodyPr>
          <a:lstStyle/>
          <a:p>
            <a:pPr algn="l">
              <a:spcBef>
                <a:spcPts val="0"/>
              </a:spcBef>
              <a:spcAft>
                <a:spcPts val="0"/>
              </a:spcAft>
            </a:pPr>
            <a:r>
              <a:rPr sz="1200" b="1" i="0">
                <a:solidFill>
                  <a:srgbClr val="19BDE6"/>
                </a:solidFill>
                <a:latin typeface="Century Gothic"/>
              </a:rPr>
              <a:t>01</a:t>
            </a:r>
          </a:p>
        </p:txBody>
      </p:sp>
      <p:sp>
        <p:nvSpPr>
          <p:cNvPr id="3" name="TextBox 2"/>
          <p:cNvSpPr txBox="1"/>
          <p:nvPr/>
        </p:nvSpPr>
        <p:spPr>
          <a:xfrm>
            <a:off x="722376" y="2240280"/>
            <a:ext cx="8595360" cy="2103120"/>
          </a:xfrm>
          <a:prstGeom prst="rect">
            <a:avLst/>
          </a:prstGeom>
          <a:noFill/>
        </p:spPr>
        <p:txBody>
          <a:bodyPr wrap="square" lIns="0" tIns="0" rIns="0" bIns="0" anchor="t">
            <a:spAutoFit/>
          </a:bodyPr>
          <a:lstStyle/>
          <a:p>
            <a:pPr algn="l">
              <a:lnSpc>
                <a:spcPct val="100000"/>
              </a:lnSpc>
              <a:spcBef>
                <a:spcPts val="0"/>
              </a:spcBef>
              <a:spcAft>
                <a:spcPts val="0"/>
              </a:spcAft>
            </a:pPr>
            <a:r>
              <a:rPr sz="3800" b="1" i="0">
                <a:solidFill>
                  <a:srgbClr val="FFFFFF"/>
                </a:solidFill>
                <a:latin typeface="Century Gothic"/>
              </a:rPr>
              <a:t>PROBLEMA</a:t>
            </a:r>
          </a:p>
          <a:p>
            <a:pPr algn="l">
              <a:lnSpc>
                <a:spcPct val="100000"/>
              </a:lnSpc>
              <a:spcBef>
                <a:spcPts val="0"/>
              </a:spcBef>
              <a:spcAft>
                <a:spcPts val="0"/>
              </a:spcAft>
            </a:pPr>
            <a:r>
              <a:rPr sz="3800" b="1" i="0">
                <a:solidFill>
                  <a:srgbClr val="FFFFFF"/>
                </a:solidFill>
                <a:latin typeface="Century Gothic"/>
              </a:rPr>
              <a:t>DE NEGOCIO</a:t>
            </a:r>
          </a:p>
        </p:txBody>
      </p:sp>
      <p:sp>
        <p:nvSpPr>
          <p:cNvPr id="4" name="TextBox 3"/>
          <p:cNvSpPr txBox="1"/>
          <p:nvPr/>
        </p:nvSpPr>
        <p:spPr>
          <a:xfrm>
            <a:off x="722376" y="4709160"/>
            <a:ext cx="7680960" cy="82296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19BDE6"/>
                </a:solidFill>
                <a:latin typeface="Century Gothic"/>
              </a:rPr>
              <a:t>Qué mide la operación hoy, dónde está la brecha y qué la produce.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Postventa OEM Mainstream</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08.2026 Base Venta OEM Sell In PBI, hoja «TD Marca» (cierre jul-2026). Datos internos de Inchcape Chile, uso académico bajo acuerdo de confidencialidad.</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Snip Single Corner Rectangle 4"/>
          <p:cNvSpPr/>
          <p:nvPr/>
        </p:nvSpPr>
        <p:spPr>
          <a:xfrm>
            <a:off x="722376" y="1207008"/>
            <a:ext cx="2564892" cy="1572768"/>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TextBox 5"/>
          <p:cNvSpPr txBox="1"/>
          <p:nvPr/>
        </p:nvSpPr>
        <p:spPr>
          <a:xfrm>
            <a:off x="960120" y="1444752"/>
            <a:ext cx="2107692" cy="502920"/>
          </a:xfrm>
          <a:prstGeom prst="rect">
            <a:avLst/>
          </a:prstGeom>
          <a:noFill/>
        </p:spPr>
        <p:txBody>
          <a:bodyPr wrap="square" lIns="0" tIns="0" rIns="0" bIns="0" anchor="t">
            <a:spAutoFit/>
          </a:bodyPr>
          <a:lstStyle/>
          <a:p>
            <a:pPr algn="l">
              <a:lnSpc>
                <a:spcPct val="100000"/>
              </a:lnSpc>
              <a:spcBef>
                <a:spcPts val="0"/>
              </a:spcBef>
              <a:spcAft>
                <a:spcPts val="0"/>
              </a:spcAft>
            </a:pPr>
            <a:r>
              <a:rPr sz="2600" b="1" i="0">
                <a:solidFill>
                  <a:srgbClr val="001A41"/>
                </a:solidFill>
                <a:latin typeface="Century Gothic"/>
              </a:rPr>
              <a:t>99.795</a:t>
            </a:r>
          </a:p>
        </p:txBody>
      </p:sp>
      <p:sp>
        <p:nvSpPr>
          <p:cNvPr id="7" name="TextBox 6"/>
          <p:cNvSpPr txBox="1"/>
          <p:nvPr/>
        </p:nvSpPr>
        <p:spPr>
          <a:xfrm>
            <a:off x="960120" y="2048256"/>
            <a:ext cx="2153412" cy="640080"/>
          </a:xfrm>
          <a:prstGeom prst="rect">
            <a:avLst/>
          </a:prstGeom>
          <a:noFill/>
        </p:spPr>
        <p:txBody>
          <a:bodyPr wrap="square" lIns="0" tIns="0" rIns="0" bIns="0" anchor="t">
            <a:spAutoFit/>
          </a:bodyPr>
          <a:lstStyle/>
          <a:p>
            <a:pPr algn="l">
              <a:lnSpc>
                <a:spcPct val="110000"/>
              </a:lnSpc>
              <a:spcBef>
                <a:spcPts val="0"/>
              </a:spcBef>
              <a:spcAft>
                <a:spcPts val="0"/>
              </a:spcAft>
            </a:pPr>
            <a:r>
              <a:rPr sz="1000" b="0" i="0">
                <a:solidFill>
                  <a:srgbClr val="39464F"/>
                </a:solidFill>
                <a:latin typeface="Century Gothic"/>
              </a:rPr>
              <a:t>unidades vendidas</a:t>
            </a:r>
          </a:p>
          <a:p>
            <a:pPr algn="l">
              <a:lnSpc>
                <a:spcPct val="110000"/>
              </a:lnSpc>
              <a:spcBef>
                <a:spcPts val="0"/>
              </a:spcBef>
              <a:spcAft>
                <a:spcPts val="0"/>
              </a:spcAft>
            </a:pPr>
            <a:r>
              <a:rPr sz="1000" b="0" i="0">
                <a:solidFill>
                  <a:srgbClr val="39464F"/>
                </a:solidFill>
                <a:latin typeface="Century Gothic"/>
              </a:rPr>
              <a:t>en julio de 2026</a:t>
            </a:r>
          </a:p>
        </p:txBody>
      </p:sp>
      <p:sp>
        <p:nvSpPr>
          <p:cNvPr id="8" name="Snip Single Corner Rectangle 7"/>
          <p:cNvSpPr/>
          <p:nvPr/>
        </p:nvSpPr>
        <p:spPr>
          <a:xfrm>
            <a:off x="3451860" y="1207008"/>
            <a:ext cx="2564892" cy="157276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TextBox 8"/>
          <p:cNvSpPr txBox="1"/>
          <p:nvPr/>
        </p:nvSpPr>
        <p:spPr>
          <a:xfrm>
            <a:off x="3689604" y="1444752"/>
            <a:ext cx="2107692" cy="502920"/>
          </a:xfrm>
          <a:prstGeom prst="rect">
            <a:avLst/>
          </a:prstGeom>
          <a:noFill/>
        </p:spPr>
        <p:txBody>
          <a:bodyPr wrap="square" lIns="0" tIns="0" rIns="0" bIns="0" anchor="t">
            <a:spAutoFit/>
          </a:bodyPr>
          <a:lstStyle/>
          <a:p>
            <a:pPr algn="l">
              <a:lnSpc>
                <a:spcPct val="100000"/>
              </a:lnSpc>
              <a:spcBef>
                <a:spcPts val="0"/>
              </a:spcBef>
              <a:spcAft>
                <a:spcPts val="0"/>
              </a:spcAft>
            </a:pPr>
            <a:r>
              <a:rPr sz="2100" b="1" i="0">
                <a:solidFill>
                  <a:srgbClr val="19BDE6"/>
                </a:solidFill>
                <a:latin typeface="Century Gothic"/>
              </a:rPr>
              <a:t>$2.009 MM</a:t>
            </a:r>
          </a:p>
        </p:txBody>
      </p:sp>
      <p:sp>
        <p:nvSpPr>
          <p:cNvPr id="10" name="TextBox 9"/>
          <p:cNvSpPr txBox="1"/>
          <p:nvPr/>
        </p:nvSpPr>
        <p:spPr>
          <a:xfrm>
            <a:off x="3689604" y="2048256"/>
            <a:ext cx="2153412" cy="640080"/>
          </a:xfrm>
          <a:prstGeom prst="rect">
            <a:avLst/>
          </a:prstGeom>
          <a:noFill/>
        </p:spPr>
        <p:txBody>
          <a:bodyPr wrap="square" lIns="0" tIns="0" rIns="0" bIns="0" anchor="t">
            <a:spAutoFit/>
          </a:bodyPr>
          <a:lstStyle/>
          <a:p>
            <a:pPr algn="l">
              <a:lnSpc>
                <a:spcPct val="110000"/>
              </a:lnSpc>
              <a:spcBef>
                <a:spcPts val="0"/>
              </a:spcBef>
              <a:spcAft>
                <a:spcPts val="0"/>
              </a:spcAft>
            </a:pPr>
            <a:r>
              <a:rPr sz="1000" b="0" i="0">
                <a:solidFill>
                  <a:srgbClr val="39464F"/>
                </a:solidFill>
                <a:latin typeface="Century Gothic"/>
              </a:rPr>
              <a:t>de costo de venta</a:t>
            </a:r>
          </a:p>
          <a:p>
            <a:pPr algn="l">
              <a:lnSpc>
                <a:spcPct val="110000"/>
              </a:lnSpc>
              <a:spcBef>
                <a:spcPts val="0"/>
              </a:spcBef>
              <a:spcAft>
                <a:spcPts val="0"/>
              </a:spcAft>
            </a:pPr>
            <a:r>
              <a:rPr sz="1000" b="0" i="0">
                <a:solidFill>
                  <a:srgbClr val="39464F"/>
                </a:solidFill>
                <a:latin typeface="Century Gothic"/>
              </a:rPr>
              <a:t>en el mes (CLP)</a:t>
            </a:r>
          </a:p>
        </p:txBody>
      </p:sp>
      <p:sp>
        <p:nvSpPr>
          <p:cNvPr id="11" name="Snip Single Corner Rectangle 10"/>
          <p:cNvSpPr/>
          <p:nvPr/>
        </p:nvSpPr>
        <p:spPr>
          <a:xfrm>
            <a:off x="6181344" y="1207008"/>
            <a:ext cx="2564892" cy="1572768"/>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TextBox 11"/>
          <p:cNvSpPr txBox="1"/>
          <p:nvPr/>
        </p:nvSpPr>
        <p:spPr>
          <a:xfrm>
            <a:off x="6419088" y="1444752"/>
            <a:ext cx="2107692" cy="502920"/>
          </a:xfrm>
          <a:prstGeom prst="rect">
            <a:avLst/>
          </a:prstGeom>
          <a:noFill/>
        </p:spPr>
        <p:txBody>
          <a:bodyPr wrap="square" lIns="0" tIns="0" rIns="0" bIns="0" anchor="t">
            <a:spAutoFit/>
          </a:bodyPr>
          <a:lstStyle/>
          <a:p>
            <a:pPr algn="l">
              <a:lnSpc>
                <a:spcPct val="100000"/>
              </a:lnSpc>
              <a:spcBef>
                <a:spcPts val="0"/>
              </a:spcBef>
              <a:spcAft>
                <a:spcPts val="0"/>
              </a:spcAft>
            </a:pPr>
            <a:r>
              <a:rPr sz="2600" b="1" i="0">
                <a:solidFill>
                  <a:srgbClr val="001A41"/>
                </a:solidFill>
                <a:latin typeface="Century Gothic"/>
              </a:rPr>
              <a:t>6</a:t>
            </a:r>
          </a:p>
        </p:txBody>
      </p:sp>
      <p:sp>
        <p:nvSpPr>
          <p:cNvPr id="13" name="TextBox 12"/>
          <p:cNvSpPr txBox="1"/>
          <p:nvPr/>
        </p:nvSpPr>
        <p:spPr>
          <a:xfrm>
            <a:off x="6419088" y="2048256"/>
            <a:ext cx="2153412" cy="640080"/>
          </a:xfrm>
          <a:prstGeom prst="rect">
            <a:avLst/>
          </a:prstGeom>
          <a:noFill/>
        </p:spPr>
        <p:txBody>
          <a:bodyPr wrap="square" lIns="0" tIns="0" rIns="0" bIns="0" anchor="t">
            <a:spAutoFit/>
          </a:bodyPr>
          <a:lstStyle/>
          <a:p>
            <a:pPr algn="l">
              <a:lnSpc>
                <a:spcPct val="110000"/>
              </a:lnSpc>
              <a:spcBef>
                <a:spcPts val="0"/>
              </a:spcBef>
              <a:spcAft>
                <a:spcPts val="0"/>
              </a:spcAft>
            </a:pPr>
            <a:r>
              <a:rPr sz="1000" b="0" i="0">
                <a:solidFill>
                  <a:srgbClr val="39464F"/>
                </a:solidFill>
                <a:latin typeface="Century Gothic"/>
              </a:rPr>
              <a:t>marcas OEM</a:t>
            </a:r>
          </a:p>
          <a:p>
            <a:pPr algn="l">
              <a:lnSpc>
                <a:spcPct val="110000"/>
              </a:lnSpc>
              <a:spcBef>
                <a:spcPts val="0"/>
              </a:spcBef>
              <a:spcAft>
                <a:spcPts val="0"/>
              </a:spcAft>
            </a:pPr>
            <a:r>
              <a:rPr sz="1000" b="0" i="0">
                <a:solidFill>
                  <a:srgbClr val="39464F"/>
                </a:solidFill>
                <a:latin typeface="Century Gothic"/>
              </a:rPr>
              <a:t>en el alcance</a:t>
            </a:r>
          </a:p>
        </p:txBody>
      </p:sp>
      <p:sp>
        <p:nvSpPr>
          <p:cNvPr id="14" name="Snip Single Corner Rectangle 13"/>
          <p:cNvSpPr/>
          <p:nvPr/>
        </p:nvSpPr>
        <p:spPr>
          <a:xfrm>
            <a:off x="8910828" y="1207008"/>
            <a:ext cx="2564892" cy="157276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TextBox 14"/>
          <p:cNvSpPr txBox="1"/>
          <p:nvPr/>
        </p:nvSpPr>
        <p:spPr>
          <a:xfrm>
            <a:off x="9148572" y="1444752"/>
            <a:ext cx="2107692" cy="502920"/>
          </a:xfrm>
          <a:prstGeom prst="rect">
            <a:avLst/>
          </a:prstGeom>
          <a:noFill/>
        </p:spPr>
        <p:txBody>
          <a:bodyPr wrap="square" lIns="0" tIns="0" rIns="0" bIns="0" anchor="t">
            <a:spAutoFit/>
          </a:bodyPr>
          <a:lstStyle/>
          <a:p>
            <a:pPr algn="l">
              <a:lnSpc>
                <a:spcPct val="100000"/>
              </a:lnSpc>
              <a:spcBef>
                <a:spcPts val="0"/>
              </a:spcBef>
              <a:spcAft>
                <a:spcPts val="0"/>
              </a:spcAft>
            </a:pPr>
            <a:r>
              <a:rPr sz="2600" b="1" i="0">
                <a:solidFill>
                  <a:srgbClr val="19BDE6"/>
                </a:solidFill>
                <a:latin typeface="Century Gothic"/>
              </a:rPr>
              <a:t>225.264</a:t>
            </a:r>
          </a:p>
        </p:txBody>
      </p:sp>
      <p:sp>
        <p:nvSpPr>
          <p:cNvPr id="16" name="TextBox 15"/>
          <p:cNvSpPr txBox="1"/>
          <p:nvPr/>
        </p:nvSpPr>
        <p:spPr>
          <a:xfrm>
            <a:off x="9148572" y="2048256"/>
            <a:ext cx="2153412" cy="640080"/>
          </a:xfrm>
          <a:prstGeom prst="rect">
            <a:avLst/>
          </a:prstGeom>
          <a:noFill/>
        </p:spPr>
        <p:txBody>
          <a:bodyPr wrap="square" lIns="0" tIns="0" rIns="0" bIns="0" anchor="t">
            <a:spAutoFit/>
          </a:bodyPr>
          <a:lstStyle/>
          <a:p>
            <a:pPr algn="l">
              <a:lnSpc>
                <a:spcPct val="110000"/>
              </a:lnSpc>
              <a:spcBef>
                <a:spcPts val="0"/>
              </a:spcBef>
              <a:spcAft>
                <a:spcPts val="0"/>
              </a:spcAft>
            </a:pPr>
            <a:r>
              <a:rPr sz="1000" b="0" i="0">
                <a:solidFill>
                  <a:srgbClr val="39464F"/>
                </a:solidFill>
                <a:latin typeface="Century Gothic"/>
              </a:rPr>
              <a:t>códigos con forecast</a:t>
            </a:r>
          </a:p>
          <a:p>
            <a:pPr algn="l">
              <a:lnSpc>
                <a:spcPct val="110000"/>
              </a:lnSpc>
              <a:spcBef>
                <a:spcPts val="0"/>
              </a:spcBef>
              <a:spcAft>
                <a:spcPts val="0"/>
              </a:spcAft>
            </a:pPr>
            <a:r>
              <a:rPr sz="1000" b="0" i="0">
                <a:solidFill>
                  <a:srgbClr val="39464F"/>
                </a:solidFill>
                <a:latin typeface="Century Gothic"/>
              </a:rPr>
              <a:t>mensual vigente</a:t>
            </a:r>
          </a:p>
        </p:txBody>
      </p:sp>
      <p:sp>
        <p:nvSpPr>
          <p:cNvPr id="17" name="Snip Single Corner Rectangle 16"/>
          <p:cNvSpPr/>
          <p:nvPr/>
        </p:nvSpPr>
        <p:spPr>
          <a:xfrm>
            <a:off x="722376" y="2944368"/>
            <a:ext cx="5294376" cy="324612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8" name="TextBox 17"/>
          <p:cNvSpPr txBox="1"/>
          <p:nvPr/>
        </p:nvSpPr>
        <p:spPr>
          <a:xfrm>
            <a:off x="1014984" y="3163824"/>
            <a:ext cx="4709160" cy="274320"/>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Venta por marca · unidades</a:t>
            </a:r>
          </a:p>
        </p:txBody>
      </p:sp>
      <p:sp>
        <p:nvSpPr>
          <p:cNvPr id="19" name="TextBox 18"/>
          <p:cNvSpPr txBox="1"/>
          <p:nvPr/>
        </p:nvSpPr>
        <p:spPr>
          <a:xfrm>
            <a:off x="1014984" y="3630168"/>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Suzuki</a:t>
            </a:r>
          </a:p>
        </p:txBody>
      </p:sp>
      <p:sp>
        <p:nvSpPr>
          <p:cNvPr id="20" name="Rectangle 19"/>
          <p:cNvSpPr/>
          <p:nvPr/>
        </p:nvSpPr>
        <p:spPr>
          <a:xfrm>
            <a:off x="2505456" y="3657600"/>
            <a:ext cx="2551176" cy="192024"/>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5102352" y="3630168"/>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29.846</a:t>
            </a:r>
          </a:p>
        </p:txBody>
      </p:sp>
      <p:sp>
        <p:nvSpPr>
          <p:cNvPr id="22" name="TextBox 21"/>
          <p:cNvSpPr txBox="1"/>
          <p:nvPr/>
        </p:nvSpPr>
        <p:spPr>
          <a:xfrm>
            <a:off x="1014984" y="4014215"/>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Subaru</a:t>
            </a:r>
          </a:p>
        </p:txBody>
      </p:sp>
      <p:sp>
        <p:nvSpPr>
          <p:cNvPr id="23" name="Rectangle 22"/>
          <p:cNvSpPr/>
          <p:nvPr/>
        </p:nvSpPr>
        <p:spPr>
          <a:xfrm>
            <a:off x="2505456" y="4041648"/>
            <a:ext cx="1770334" cy="19202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TextBox 23"/>
          <p:cNvSpPr txBox="1"/>
          <p:nvPr/>
        </p:nvSpPr>
        <p:spPr>
          <a:xfrm>
            <a:off x="5102352" y="4014215"/>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20.711</a:t>
            </a:r>
          </a:p>
        </p:txBody>
      </p:sp>
      <p:sp>
        <p:nvSpPr>
          <p:cNvPr id="25" name="TextBox 24"/>
          <p:cNvSpPr txBox="1"/>
          <p:nvPr/>
        </p:nvSpPr>
        <p:spPr>
          <a:xfrm>
            <a:off x="1014984" y="4398264"/>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Mazda</a:t>
            </a:r>
          </a:p>
        </p:txBody>
      </p:sp>
      <p:sp>
        <p:nvSpPr>
          <p:cNvPr id="26" name="Rectangle 25"/>
          <p:cNvSpPr/>
          <p:nvPr/>
        </p:nvSpPr>
        <p:spPr>
          <a:xfrm>
            <a:off x="2505456" y="4425696"/>
            <a:ext cx="1658614" cy="19202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7" name="TextBox 26"/>
          <p:cNvSpPr txBox="1"/>
          <p:nvPr/>
        </p:nvSpPr>
        <p:spPr>
          <a:xfrm>
            <a:off x="5102352" y="4398264"/>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19.404</a:t>
            </a:r>
          </a:p>
        </p:txBody>
      </p:sp>
      <p:sp>
        <p:nvSpPr>
          <p:cNvPr id="28" name="TextBox 27"/>
          <p:cNvSpPr txBox="1"/>
          <p:nvPr/>
        </p:nvSpPr>
        <p:spPr>
          <a:xfrm>
            <a:off x="1014984" y="4782312"/>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Great Wall</a:t>
            </a:r>
          </a:p>
        </p:txBody>
      </p:sp>
      <p:sp>
        <p:nvSpPr>
          <p:cNvPr id="29" name="Rectangle 28"/>
          <p:cNvSpPr/>
          <p:nvPr/>
        </p:nvSpPr>
        <p:spPr>
          <a:xfrm>
            <a:off x="2505456" y="4809744"/>
            <a:ext cx="1621602"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0" name="TextBox 29"/>
          <p:cNvSpPr txBox="1"/>
          <p:nvPr/>
        </p:nvSpPr>
        <p:spPr>
          <a:xfrm>
            <a:off x="5102352" y="4782312"/>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18.971</a:t>
            </a:r>
          </a:p>
        </p:txBody>
      </p:sp>
      <p:sp>
        <p:nvSpPr>
          <p:cNvPr id="31" name="TextBox 30"/>
          <p:cNvSpPr txBox="1"/>
          <p:nvPr/>
        </p:nvSpPr>
        <p:spPr>
          <a:xfrm>
            <a:off x="1014984" y="5166359"/>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Changan</a:t>
            </a:r>
          </a:p>
        </p:txBody>
      </p:sp>
      <p:sp>
        <p:nvSpPr>
          <p:cNvPr id="32" name="Rectangle 31"/>
          <p:cNvSpPr/>
          <p:nvPr/>
        </p:nvSpPr>
        <p:spPr>
          <a:xfrm>
            <a:off x="2505456" y="5193792"/>
            <a:ext cx="792295"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3" name="TextBox 32"/>
          <p:cNvSpPr txBox="1"/>
          <p:nvPr/>
        </p:nvSpPr>
        <p:spPr>
          <a:xfrm>
            <a:off x="5102352" y="5166359"/>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9.269</a:t>
            </a:r>
          </a:p>
        </p:txBody>
      </p:sp>
      <p:sp>
        <p:nvSpPr>
          <p:cNvPr id="34" name="TextBox 33"/>
          <p:cNvSpPr txBox="1"/>
          <p:nvPr/>
        </p:nvSpPr>
        <p:spPr>
          <a:xfrm>
            <a:off x="1014984" y="5550407"/>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DFSK</a:t>
            </a:r>
          </a:p>
        </p:txBody>
      </p:sp>
      <p:sp>
        <p:nvSpPr>
          <p:cNvPr id="35" name="Rectangle 34"/>
          <p:cNvSpPr/>
          <p:nvPr/>
        </p:nvSpPr>
        <p:spPr>
          <a:xfrm>
            <a:off x="2505456" y="5577840"/>
            <a:ext cx="136251"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6" name="TextBox 35"/>
          <p:cNvSpPr txBox="1"/>
          <p:nvPr/>
        </p:nvSpPr>
        <p:spPr>
          <a:xfrm>
            <a:off x="5102352" y="5550407"/>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1.594</a:t>
            </a:r>
          </a:p>
        </p:txBody>
      </p:sp>
      <p:sp>
        <p:nvSpPr>
          <p:cNvPr id="37" name="Snip Single Corner Rectangle 36"/>
          <p:cNvSpPr/>
          <p:nvPr/>
        </p:nvSpPr>
        <p:spPr>
          <a:xfrm>
            <a:off x="6181344" y="2944368"/>
            <a:ext cx="5294376" cy="324612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8" name="TextBox 37"/>
          <p:cNvSpPr txBox="1"/>
          <p:nvPr/>
        </p:nvSpPr>
        <p:spPr>
          <a:xfrm>
            <a:off x="6473952" y="3163824"/>
            <a:ext cx="4709160" cy="274320"/>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Venta por familia · unidades</a:t>
            </a:r>
          </a:p>
        </p:txBody>
      </p:sp>
      <p:sp>
        <p:nvSpPr>
          <p:cNvPr id="39" name="TextBox 38"/>
          <p:cNvSpPr txBox="1"/>
          <p:nvPr/>
        </p:nvSpPr>
        <p:spPr>
          <a:xfrm>
            <a:off x="6473952" y="3630168"/>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Mantención</a:t>
            </a:r>
          </a:p>
        </p:txBody>
      </p:sp>
      <p:sp>
        <p:nvSpPr>
          <p:cNvPr id="40" name="Rectangle 39"/>
          <p:cNvSpPr/>
          <p:nvPr/>
        </p:nvSpPr>
        <p:spPr>
          <a:xfrm>
            <a:off x="7964423" y="3657600"/>
            <a:ext cx="2551176" cy="192024"/>
          </a:xfrm>
          <a:prstGeom prst="rect">
            <a:avLst/>
          </a:prstGeom>
          <a:solidFill>
            <a:srgbClr val="F1E51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1" name="TextBox 40"/>
          <p:cNvSpPr txBox="1"/>
          <p:nvPr/>
        </p:nvSpPr>
        <p:spPr>
          <a:xfrm>
            <a:off x="10561320" y="3630168"/>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44.197</a:t>
            </a:r>
          </a:p>
        </p:txBody>
      </p:sp>
      <p:sp>
        <p:nvSpPr>
          <p:cNvPr id="42" name="TextBox 41"/>
          <p:cNvSpPr txBox="1"/>
          <p:nvPr/>
        </p:nvSpPr>
        <p:spPr>
          <a:xfrm>
            <a:off x="6473952" y="4014215"/>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Carrocería</a:t>
            </a:r>
          </a:p>
        </p:txBody>
      </p:sp>
      <p:sp>
        <p:nvSpPr>
          <p:cNvPr id="43" name="Rectangle 42"/>
          <p:cNvSpPr/>
          <p:nvPr/>
        </p:nvSpPr>
        <p:spPr>
          <a:xfrm>
            <a:off x="7964423" y="4041648"/>
            <a:ext cx="1376631" cy="19202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4" name="TextBox 43"/>
          <p:cNvSpPr txBox="1"/>
          <p:nvPr/>
        </p:nvSpPr>
        <p:spPr>
          <a:xfrm>
            <a:off x="10561320" y="4014215"/>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23.849</a:t>
            </a:r>
          </a:p>
        </p:txBody>
      </p:sp>
      <p:sp>
        <p:nvSpPr>
          <p:cNvPr id="45" name="TextBox 44"/>
          <p:cNvSpPr txBox="1"/>
          <p:nvPr/>
        </p:nvSpPr>
        <p:spPr>
          <a:xfrm>
            <a:off x="6473952" y="4398264"/>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Reparación</a:t>
            </a:r>
          </a:p>
        </p:txBody>
      </p:sp>
      <p:sp>
        <p:nvSpPr>
          <p:cNvPr id="46" name="Rectangle 45"/>
          <p:cNvSpPr/>
          <p:nvPr/>
        </p:nvSpPr>
        <p:spPr>
          <a:xfrm>
            <a:off x="7964423" y="4425696"/>
            <a:ext cx="952773" cy="19202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7" name="TextBox 46"/>
          <p:cNvSpPr txBox="1"/>
          <p:nvPr/>
        </p:nvSpPr>
        <p:spPr>
          <a:xfrm>
            <a:off x="10561320" y="4398264"/>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16.506</a:t>
            </a:r>
          </a:p>
        </p:txBody>
      </p:sp>
      <p:sp>
        <p:nvSpPr>
          <p:cNvPr id="48" name="TextBox 47"/>
          <p:cNvSpPr txBox="1"/>
          <p:nvPr/>
        </p:nvSpPr>
        <p:spPr>
          <a:xfrm>
            <a:off x="6473952" y="4782312"/>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Otros</a:t>
            </a:r>
          </a:p>
        </p:txBody>
      </p:sp>
      <p:sp>
        <p:nvSpPr>
          <p:cNvPr id="49" name="Rectangle 48"/>
          <p:cNvSpPr/>
          <p:nvPr/>
        </p:nvSpPr>
        <p:spPr>
          <a:xfrm>
            <a:off x="7964423" y="4809744"/>
            <a:ext cx="365962"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0" name="TextBox 49"/>
          <p:cNvSpPr txBox="1"/>
          <p:nvPr/>
        </p:nvSpPr>
        <p:spPr>
          <a:xfrm>
            <a:off x="10561320" y="4782312"/>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6.340</a:t>
            </a:r>
          </a:p>
        </p:txBody>
      </p:sp>
      <p:sp>
        <p:nvSpPr>
          <p:cNvPr id="51" name="TextBox 50"/>
          <p:cNvSpPr txBox="1"/>
          <p:nvPr/>
        </p:nvSpPr>
        <p:spPr>
          <a:xfrm>
            <a:off x="6473952" y="5166359"/>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Desgaste</a:t>
            </a:r>
          </a:p>
        </p:txBody>
      </p:sp>
      <p:sp>
        <p:nvSpPr>
          <p:cNvPr id="52" name="Rectangle 51"/>
          <p:cNvSpPr/>
          <p:nvPr/>
        </p:nvSpPr>
        <p:spPr>
          <a:xfrm>
            <a:off x="7964423" y="5193792"/>
            <a:ext cx="344836"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3" name="TextBox 52"/>
          <p:cNvSpPr txBox="1"/>
          <p:nvPr/>
        </p:nvSpPr>
        <p:spPr>
          <a:xfrm>
            <a:off x="10561320" y="5166359"/>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5.974</a:t>
            </a:r>
          </a:p>
        </p:txBody>
      </p:sp>
      <p:sp>
        <p:nvSpPr>
          <p:cNvPr id="54" name="TextBox 53"/>
          <p:cNvSpPr txBox="1"/>
          <p:nvPr/>
        </p:nvSpPr>
        <p:spPr>
          <a:xfrm>
            <a:off x="6473952" y="5550407"/>
            <a:ext cx="1463040" cy="237744"/>
          </a:xfrm>
          <a:prstGeom prst="rect">
            <a:avLst/>
          </a:prstGeom>
          <a:noFill/>
        </p:spPr>
        <p:txBody>
          <a:bodyPr wrap="square" lIns="0" tIns="0" rIns="0" bIns="0" anchor="t">
            <a:spAutoFit/>
          </a:bodyPr>
          <a:lstStyle/>
          <a:p>
            <a:pPr algn="l">
              <a:spcBef>
                <a:spcPts val="0"/>
              </a:spcBef>
              <a:spcAft>
                <a:spcPts val="0"/>
              </a:spcAft>
            </a:pPr>
            <a:r>
              <a:rPr sz="1000" b="0" i="0">
                <a:solidFill>
                  <a:srgbClr val="152C47"/>
                </a:solidFill>
                <a:latin typeface="Century Gothic"/>
              </a:rPr>
              <a:t>Accesorios</a:t>
            </a:r>
          </a:p>
        </p:txBody>
      </p:sp>
      <p:sp>
        <p:nvSpPr>
          <p:cNvPr id="55" name="Rectangle 54"/>
          <p:cNvSpPr/>
          <p:nvPr/>
        </p:nvSpPr>
        <p:spPr>
          <a:xfrm>
            <a:off x="7964423" y="5577840"/>
            <a:ext cx="169070" cy="19202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6" name="TextBox 55"/>
          <p:cNvSpPr txBox="1"/>
          <p:nvPr/>
        </p:nvSpPr>
        <p:spPr>
          <a:xfrm>
            <a:off x="10561320" y="5550407"/>
            <a:ext cx="658368" cy="237744"/>
          </a:xfrm>
          <a:prstGeom prst="rect">
            <a:avLst/>
          </a:prstGeom>
          <a:noFill/>
        </p:spPr>
        <p:txBody>
          <a:bodyPr wrap="square" lIns="0" tIns="0" rIns="0" bIns="0" anchor="t">
            <a:spAutoFit/>
          </a:bodyPr>
          <a:lstStyle/>
          <a:p>
            <a:pPr algn="r">
              <a:spcBef>
                <a:spcPts val="0"/>
              </a:spcBef>
              <a:spcAft>
                <a:spcPts val="0"/>
              </a:spcAft>
            </a:pPr>
            <a:r>
              <a:rPr sz="1000" b="1" i="0">
                <a:solidFill>
                  <a:srgbClr val="152C47"/>
                </a:solidFill>
                <a:latin typeface="Century Gothic"/>
              </a:rPr>
              <a:t>2.929</a:t>
            </a:r>
          </a:p>
        </p:txBody>
      </p:sp>
      <p:sp>
        <p:nvSpPr>
          <p:cNvPr id="57" name="TextBox 56"/>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La brecha de fill rate</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5294376" cy="210312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1069848" y="1444752"/>
            <a:ext cx="4206240" cy="274320"/>
          </a:xfrm>
          <a:prstGeom prst="rect">
            <a:avLst/>
          </a:prstGeom>
          <a:noFill/>
        </p:spPr>
        <p:txBody>
          <a:bodyPr wrap="square" lIns="0" tIns="0" rIns="0" bIns="0" anchor="t">
            <a:spAutoFit/>
          </a:bodyPr>
          <a:lstStyle/>
          <a:p>
            <a:pPr algn="l">
              <a:spcBef>
                <a:spcPts val="0"/>
              </a:spcBef>
              <a:spcAft>
                <a:spcPts val="0"/>
              </a:spcAft>
            </a:pPr>
            <a:r>
              <a:rPr sz="950" b="1" i="0">
                <a:solidFill>
                  <a:srgbClr val="19BDE6"/>
                </a:solidFill>
                <a:latin typeface="Century Gothic"/>
              </a:rPr>
              <a:t>FILL RATE CHILE · CIERRE H1 2026</a:t>
            </a:r>
          </a:p>
        </p:txBody>
      </p:sp>
      <p:sp>
        <p:nvSpPr>
          <p:cNvPr id="6" name="TextBox 5"/>
          <p:cNvSpPr txBox="1"/>
          <p:nvPr/>
        </p:nvSpPr>
        <p:spPr>
          <a:xfrm>
            <a:off x="1069848" y="1773936"/>
            <a:ext cx="2377440" cy="868680"/>
          </a:xfrm>
          <a:prstGeom prst="rect">
            <a:avLst/>
          </a:prstGeom>
          <a:noFill/>
        </p:spPr>
        <p:txBody>
          <a:bodyPr wrap="square" lIns="0" tIns="0" rIns="0" bIns="0" anchor="t">
            <a:spAutoFit/>
          </a:bodyPr>
          <a:lstStyle/>
          <a:p>
            <a:pPr algn="l">
              <a:lnSpc>
                <a:spcPct val="95000"/>
              </a:lnSpc>
              <a:spcAft>
                <a:spcPts val="0"/>
              </a:spcAft>
            </a:pPr>
            <a:r>
              <a:rPr sz="5600" b="1">
                <a:solidFill>
                  <a:srgbClr val="FFFFFF"/>
                </a:solidFill>
                <a:latin typeface="Century Gothic"/>
              </a:rPr>
              <a:t>88</a:t>
            </a:r>
            <a:r>
              <a:rPr sz="2800" b="1">
                <a:solidFill>
                  <a:srgbClr val="9FB3C8"/>
                </a:solidFill>
                <a:latin typeface="Century Gothic"/>
              </a:rPr>
              <a:t>%</a:t>
            </a:r>
          </a:p>
        </p:txBody>
      </p:sp>
      <p:sp>
        <p:nvSpPr>
          <p:cNvPr id="7" name="Snip Single Corner Rectangle 6"/>
          <p:cNvSpPr/>
          <p:nvPr/>
        </p:nvSpPr>
        <p:spPr>
          <a:xfrm>
            <a:off x="3465576" y="2029968"/>
            <a:ext cx="1645920" cy="512064"/>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300" b="1" i="0">
                <a:solidFill>
                  <a:srgbClr val="001A41"/>
                </a:solidFill>
                <a:latin typeface="Century Gothic"/>
              </a:rPr>
              <a:t>META 90%</a:t>
            </a:r>
          </a:p>
        </p:txBody>
      </p:sp>
      <p:sp>
        <p:nvSpPr>
          <p:cNvPr id="8" name="TextBox 7"/>
          <p:cNvSpPr txBox="1"/>
          <p:nvPr/>
        </p:nvSpPr>
        <p:spPr>
          <a:xfrm>
            <a:off x="1069848" y="2779776"/>
            <a:ext cx="4663440" cy="411480"/>
          </a:xfrm>
          <a:prstGeom prst="rect">
            <a:avLst/>
          </a:prstGeom>
          <a:noFill/>
        </p:spPr>
        <p:txBody>
          <a:bodyPr wrap="square" lIns="0" tIns="0" rIns="0" bIns="0" anchor="t">
            <a:spAutoFit/>
          </a:bodyPr>
          <a:lstStyle/>
          <a:p>
            <a:pPr algn="l">
              <a:lnSpc>
                <a:spcPct val="115000"/>
              </a:lnSpc>
              <a:spcBef>
                <a:spcPts val="0"/>
              </a:spcBef>
              <a:spcAft>
                <a:spcPts val="0"/>
              </a:spcAft>
            </a:pPr>
            <a:r>
              <a:rPr sz="1050" b="0" i="0">
                <a:solidFill>
                  <a:srgbClr val="9FB3C8"/>
                </a:solidFill>
                <a:latin typeface="Century Gothic"/>
              </a:rPr>
              <a:t>Dos puntos porcentuales de brecha, con plazo de cierre en diciembre de 2026.</a:t>
            </a:r>
          </a:p>
        </p:txBody>
      </p:sp>
      <p:sp>
        <p:nvSpPr>
          <p:cNvPr id="9" name="Snip Single Corner Rectangle 8"/>
          <p:cNvSpPr/>
          <p:nvPr/>
        </p:nvSpPr>
        <p:spPr>
          <a:xfrm>
            <a:off x="722376" y="3456432"/>
            <a:ext cx="5294376" cy="27432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TextBox 9"/>
          <p:cNvSpPr txBox="1"/>
          <p:nvPr/>
        </p:nvSpPr>
        <p:spPr>
          <a:xfrm>
            <a:off x="1033272" y="3639312"/>
            <a:ext cx="4672584" cy="274320"/>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Qué ocurre cuando el pedido no se atiende</a:t>
            </a:r>
          </a:p>
        </p:txBody>
      </p:sp>
      <p:sp>
        <p:nvSpPr>
          <p:cNvPr id="11" name="Oval 10"/>
          <p:cNvSpPr/>
          <p:nvPr/>
        </p:nvSpPr>
        <p:spPr>
          <a:xfrm>
            <a:off x="1051560" y="4160520"/>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TextBox 11"/>
          <p:cNvSpPr txBox="1"/>
          <p:nvPr/>
        </p:nvSpPr>
        <p:spPr>
          <a:xfrm>
            <a:off x="1289304" y="4078224"/>
            <a:ext cx="4379976" cy="603504"/>
          </a:xfrm>
          <a:prstGeom prst="rect">
            <a:avLst/>
          </a:prstGeom>
          <a:noFill/>
        </p:spPr>
        <p:txBody>
          <a:bodyPr wrap="square" lIns="0" tIns="0" rIns="0" bIns="0" anchor="t">
            <a:spAutoFit/>
          </a:bodyPr>
          <a:lstStyle/>
          <a:p>
            <a:pPr algn="l">
              <a:spcBef>
                <a:spcPts val="0"/>
              </a:spcBef>
              <a:spcAft>
                <a:spcPts val="100"/>
              </a:spcAft>
            </a:pPr>
            <a:r>
              <a:rPr sz="1100" b="1" i="0">
                <a:solidFill>
                  <a:srgbClr val="001A41"/>
                </a:solidFill>
                <a:latin typeface="Century Gothic"/>
              </a:rPr>
              <a:t>Vehículo detenido (VOR)</a:t>
            </a:r>
          </a:p>
          <a:p>
            <a:pPr algn="l">
              <a:lnSpc>
                <a:spcPct val="110000"/>
              </a:lnSpc>
              <a:spcBef>
                <a:spcPts val="0"/>
              </a:spcBef>
              <a:spcAft>
                <a:spcPts val="0"/>
              </a:spcAft>
            </a:pPr>
            <a:r>
              <a:rPr sz="1000" b="0" i="0">
                <a:solidFill>
                  <a:srgbClr val="39464F"/>
                </a:solidFill>
                <a:latin typeface="Century Gothic"/>
              </a:rPr>
              <a:t>El cliente queda sin auto a la espera de la pieza.</a:t>
            </a:r>
          </a:p>
        </p:txBody>
      </p:sp>
      <p:sp>
        <p:nvSpPr>
          <p:cNvPr id="13" name="Oval 12"/>
          <p:cNvSpPr/>
          <p:nvPr/>
        </p:nvSpPr>
        <p:spPr>
          <a:xfrm>
            <a:off x="1051560" y="4855464"/>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4" name="TextBox 13"/>
          <p:cNvSpPr txBox="1"/>
          <p:nvPr/>
        </p:nvSpPr>
        <p:spPr>
          <a:xfrm>
            <a:off x="1289304" y="4773168"/>
            <a:ext cx="4379976" cy="603504"/>
          </a:xfrm>
          <a:prstGeom prst="rect">
            <a:avLst/>
          </a:prstGeom>
          <a:noFill/>
        </p:spPr>
        <p:txBody>
          <a:bodyPr wrap="square" lIns="0" tIns="0" rIns="0" bIns="0" anchor="t">
            <a:spAutoFit/>
          </a:bodyPr>
          <a:lstStyle/>
          <a:p>
            <a:pPr algn="l">
              <a:spcBef>
                <a:spcPts val="0"/>
              </a:spcBef>
              <a:spcAft>
                <a:spcPts val="100"/>
              </a:spcAft>
            </a:pPr>
            <a:r>
              <a:rPr sz="1100" b="1" i="0">
                <a:solidFill>
                  <a:srgbClr val="001A41"/>
                </a:solidFill>
                <a:latin typeface="Century Gothic"/>
              </a:rPr>
              <a:t>Venta perdida</a:t>
            </a:r>
          </a:p>
          <a:p>
            <a:pPr algn="l">
              <a:lnSpc>
                <a:spcPct val="110000"/>
              </a:lnSpc>
              <a:spcBef>
                <a:spcPts val="0"/>
              </a:spcBef>
              <a:spcAft>
                <a:spcPts val="0"/>
              </a:spcAft>
            </a:pPr>
            <a:r>
              <a:rPr sz="1000" b="0" i="0">
                <a:solidFill>
                  <a:srgbClr val="39464F"/>
                </a:solidFill>
                <a:latin typeface="Century Gothic"/>
              </a:rPr>
              <a:t>El taller o el cliente resuelve con la competencia.</a:t>
            </a:r>
          </a:p>
        </p:txBody>
      </p:sp>
      <p:sp>
        <p:nvSpPr>
          <p:cNvPr id="15" name="Oval 14"/>
          <p:cNvSpPr/>
          <p:nvPr/>
        </p:nvSpPr>
        <p:spPr>
          <a:xfrm>
            <a:off x="1051560" y="5550408"/>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TextBox 15"/>
          <p:cNvSpPr txBox="1"/>
          <p:nvPr/>
        </p:nvSpPr>
        <p:spPr>
          <a:xfrm>
            <a:off x="1289304" y="5468112"/>
            <a:ext cx="4379976" cy="603504"/>
          </a:xfrm>
          <a:prstGeom prst="rect">
            <a:avLst/>
          </a:prstGeom>
          <a:noFill/>
        </p:spPr>
        <p:txBody>
          <a:bodyPr wrap="square" lIns="0" tIns="0" rIns="0" bIns="0" anchor="t">
            <a:spAutoFit/>
          </a:bodyPr>
          <a:lstStyle/>
          <a:p>
            <a:pPr algn="l">
              <a:spcBef>
                <a:spcPts val="0"/>
              </a:spcBef>
              <a:spcAft>
                <a:spcPts val="100"/>
              </a:spcAft>
            </a:pPr>
            <a:r>
              <a:rPr sz="1100" b="1" i="0">
                <a:solidFill>
                  <a:srgbClr val="001A41"/>
                </a:solidFill>
                <a:latin typeface="Century Gothic"/>
              </a:rPr>
              <a:t>Sobrecosto logístico</a:t>
            </a:r>
          </a:p>
          <a:p>
            <a:pPr algn="l">
              <a:lnSpc>
                <a:spcPct val="110000"/>
              </a:lnSpc>
              <a:spcBef>
                <a:spcPts val="0"/>
              </a:spcBef>
              <a:spcAft>
                <a:spcPts val="0"/>
              </a:spcAft>
            </a:pPr>
            <a:r>
              <a:rPr sz="1000" b="0" i="0">
                <a:solidFill>
                  <a:srgbClr val="39464F"/>
                </a:solidFill>
                <a:latin typeface="Century Gothic"/>
              </a:rPr>
              <a:t>Se compensa con embarques aéreos de emergencia.</a:t>
            </a:r>
          </a:p>
        </p:txBody>
      </p:sp>
      <p:sp>
        <p:nvSpPr>
          <p:cNvPr id="17" name="Snip Single Corner Rectangle 16"/>
          <p:cNvSpPr/>
          <p:nvPr/>
        </p:nvSpPr>
        <p:spPr>
          <a:xfrm>
            <a:off x="6181344" y="1207008"/>
            <a:ext cx="5294376" cy="499262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8" name="TextBox 17"/>
          <p:cNvSpPr txBox="1"/>
          <p:nvPr/>
        </p:nvSpPr>
        <p:spPr>
          <a:xfrm>
            <a:off x="6492240" y="1426464"/>
            <a:ext cx="467258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Fill rate por país de la región</a:t>
            </a:r>
          </a:p>
        </p:txBody>
      </p:sp>
      <p:sp>
        <p:nvSpPr>
          <p:cNvPr id="19" name="Rectangle 18"/>
          <p:cNvSpPr/>
          <p:nvPr/>
        </p:nvSpPr>
        <p:spPr>
          <a:xfrm>
            <a:off x="6684264" y="3575304"/>
            <a:ext cx="4197096" cy="12801"/>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TextBox 19"/>
          <p:cNvSpPr txBox="1"/>
          <p:nvPr/>
        </p:nvSpPr>
        <p:spPr>
          <a:xfrm>
            <a:off x="6684264" y="3319272"/>
            <a:ext cx="1828800" cy="219456"/>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Meta 90%</a:t>
            </a:r>
          </a:p>
        </p:txBody>
      </p:sp>
      <p:sp>
        <p:nvSpPr>
          <p:cNvPr id="21" name="Rectangle 20"/>
          <p:cNvSpPr/>
          <p:nvPr/>
        </p:nvSpPr>
        <p:spPr>
          <a:xfrm>
            <a:off x="6775703" y="4197096"/>
            <a:ext cx="786384" cy="124358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2" name="TextBox 21"/>
          <p:cNvSpPr txBox="1"/>
          <p:nvPr/>
        </p:nvSpPr>
        <p:spPr>
          <a:xfrm>
            <a:off x="6592823" y="3867911"/>
            <a:ext cx="1152144" cy="292608"/>
          </a:xfrm>
          <a:prstGeom prst="rect">
            <a:avLst/>
          </a:prstGeom>
          <a:noFill/>
        </p:spPr>
        <p:txBody>
          <a:bodyPr wrap="square" lIns="0" tIns="0" rIns="0" bIns="0" anchor="t">
            <a:spAutoFit/>
          </a:bodyPr>
          <a:lstStyle/>
          <a:p>
            <a:pPr algn="ctr">
              <a:spcBef>
                <a:spcPts val="0"/>
              </a:spcBef>
              <a:spcAft>
                <a:spcPts val="0"/>
              </a:spcAft>
            </a:pPr>
            <a:r>
              <a:rPr sz="1500" b="1" i="0">
                <a:solidFill>
                  <a:srgbClr val="001A41"/>
                </a:solidFill>
                <a:latin typeface="Century Gothic"/>
              </a:rPr>
              <a:t>88%</a:t>
            </a:r>
          </a:p>
        </p:txBody>
      </p:sp>
      <p:sp>
        <p:nvSpPr>
          <p:cNvPr id="23" name="TextBox 22"/>
          <p:cNvSpPr txBox="1"/>
          <p:nvPr/>
        </p:nvSpPr>
        <p:spPr>
          <a:xfrm>
            <a:off x="6547103" y="5550408"/>
            <a:ext cx="1243584" cy="256032"/>
          </a:xfrm>
          <a:prstGeom prst="rect">
            <a:avLst/>
          </a:prstGeom>
          <a:noFill/>
        </p:spPr>
        <p:txBody>
          <a:bodyPr wrap="square" lIns="0" tIns="0" rIns="0" bIns="0" anchor="t">
            <a:spAutoFit/>
          </a:bodyPr>
          <a:lstStyle/>
          <a:p>
            <a:pPr algn="ctr">
              <a:spcBef>
                <a:spcPts val="0"/>
              </a:spcBef>
              <a:spcAft>
                <a:spcPts val="0"/>
              </a:spcAft>
            </a:pPr>
            <a:r>
              <a:rPr sz="1000" b="1" i="0">
                <a:solidFill>
                  <a:srgbClr val="001A41"/>
                </a:solidFill>
                <a:latin typeface="Century Gothic"/>
              </a:rPr>
              <a:t>Chile</a:t>
            </a:r>
          </a:p>
        </p:txBody>
      </p:sp>
      <p:sp>
        <p:nvSpPr>
          <p:cNvPr id="24" name="Rectangle 23"/>
          <p:cNvSpPr/>
          <p:nvPr/>
        </p:nvSpPr>
        <p:spPr>
          <a:xfrm>
            <a:off x="7912607" y="2953511"/>
            <a:ext cx="786384" cy="2487168"/>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TextBox 24"/>
          <p:cNvSpPr txBox="1"/>
          <p:nvPr/>
        </p:nvSpPr>
        <p:spPr>
          <a:xfrm>
            <a:off x="7729728" y="2624327"/>
            <a:ext cx="1152144" cy="292608"/>
          </a:xfrm>
          <a:prstGeom prst="rect">
            <a:avLst/>
          </a:prstGeom>
          <a:noFill/>
        </p:spPr>
        <p:txBody>
          <a:bodyPr wrap="square" lIns="0" tIns="0" rIns="0" bIns="0" anchor="t">
            <a:spAutoFit/>
          </a:bodyPr>
          <a:lstStyle/>
          <a:p>
            <a:pPr algn="ctr">
              <a:spcBef>
                <a:spcPts val="0"/>
              </a:spcBef>
              <a:spcAft>
                <a:spcPts val="0"/>
              </a:spcAft>
            </a:pPr>
            <a:r>
              <a:rPr sz="1500" b="1" i="0">
                <a:solidFill>
                  <a:srgbClr val="19BDE6"/>
                </a:solidFill>
                <a:latin typeface="Century Gothic"/>
              </a:rPr>
              <a:t>92%</a:t>
            </a:r>
          </a:p>
        </p:txBody>
      </p:sp>
      <p:sp>
        <p:nvSpPr>
          <p:cNvPr id="26" name="TextBox 25"/>
          <p:cNvSpPr txBox="1"/>
          <p:nvPr/>
        </p:nvSpPr>
        <p:spPr>
          <a:xfrm>
            <a:off x="7684007" y="5550408"/>
            <a:ext cx="1243584" cy="256032"/>
          </a:xfrm>
          <a:prstGeom prst="rect">
            <a:avLst/>
          </a:prstGeom>
          <a:noFill/>
        </p:spPr>
        <p:txBody>
          <a:bodyPr wrap="square" lIns="0" tIns="0" rIns="0" bIns="0" anchor="t">
            <a:spAutoFit/>
          </a:bodyPr>
          <a:lstStyle/>
          <a:p>
            <a:pPr algn="ctr">
              <a:spcBef>
                <a:spcPts val="0"/>
              </a:spcBef>
              <a:spcAft>
                <a:spcPts val="0"/>
              </a:spcAft>
            </a:pPr>
            <a:r>
              <a:rPr sz="1000" b="0" i="0">
                <a:solidFill>
                  <a:srgbClr val="858A8C"/>
                </a:solidFill>
                <a:latin typeface="Century Gothic"/>
              </a:rPr>
              <a:t>Colombia</a:t>
            </a:r>
          </a:p>
        </p:txBody>
      </p:sp>
      <p:sp>
        <p:nvSpPr>
          <p:cNvPr id="27" name="Rectangle 26"/>
          <p:cNvSpPr/>
          <p:nvPr/>
        </p:nvSpPr>
        <p:spPr>
          <a:xfrm>
            <a:off x="9049511" y="4197096"/>
            <a:ext cx="786384" cy="124358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8" name="TextBox 27"/>
          <p:cNvSpPr txBox="1"/>
          <p:nvPr/>
        </p:nvSpPr>
        <p:spPr>
          <a:xfrm>
            <a:off x="8866631" y="3867911"/>
            <a:ext cx="1152144" cy="292608"/>
          </a:xfrm>
          <a:prstGeom prst="rect">
            <a:avLst/>
          </a:prstGeom>
          <a:noFill/>
        </p:spPr>
        <p:txBody>
          <a:bodyPr wrap="square" lIns="0" tIns="0" rIns="0" bIns="0" anchor="t">
            <a:spAutoFit/>
          </a:bodyPr>
          <a:lstStyle/>
          <a:p>
            <a:pPr algn="ctr">
              <a:spcBef>
                <a:spcPts val="0"/>
              </a:spcBef>
              <a:spcAft>
                <a:spcPts val="0"/>
              </a:spcAft>
            </a:pPr>
            <a:r>
              <a:rPr sz="1500" b="1" i="0">
                <a:solidFill>
                  <a:srgbClr val="858A8C"/>
                </a:solidFill>
                <a:latin typeface="Century Gothic"/>
              </a:rPr>
              <a:t>88%</a:t>
            </a:r>
          </a:p>
        </p:txBody>
      </p:sp>
      <p:sp>
        <p:nvSpPr>
          <p:cNvPr id="29" name="TextBox 28"/>
          <p:cNvSpPr txBox="1"/>
          <p:nvPr/>
        </p:nvSpPr>
        <p:spPr>
          <a:xfrm>
            <a:off x="8820911" y="5550408"/>
            <a:ext cx="1243584" cy="256032"/>
          </a:xfrm>
          <a:prstGeom prst="rect">
            <a:avLst/>
          </a:prstGeom>
          <a:noFill/>
        </p:spPr>
        <p:txBody>
          <a:bodyPr wrap="square" lIns="0" tIns="0" rIns="0" bIns="0" anchor="t">
            <a:spAutoFit/>
          </a:bodyPr>
          <a:lstStyle/>
          <a:p>
            <a:pPr algn="ctr">
              <a:spcBef>
                <a:spcPts val="0"/>
              </a:spcBef>
              <a:spcAft>
                <a:spcPts val="0"/>
              </a:spcAft>
            </a:pPr>
            <a:r>
              <a:rPr sz="1000" b="0" i="0">
                <a:solidFill>
                  <a:srgbClr val="858A8C"/>
                </a:solidFill>
                <a:latin typeface="Century Gothic"/>
              </a:rPr>
              <a:t>Perú</a:t>
            </a:r>
          </a:p>
        </p:txBody>
      </p:sp>
      <p:sp>
        <p:nvSpPr>
          <p:cNvPr id="30" name="Rectangle 29"/>
          <p:cNvSpPr/>
          <p:nvPr/>
        </p:nvSpPr>
        <p:spPr>
          <a:xfrm>
            <a:off x="10186415" y="4197096"/>
            <a:ext cx="786384" cy="1243584"/>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1" name="TextBox 30"/>
          <p:cNvSpPr txBox="1"/>
          <p:nvPr/>
        </p:nvSpPr>
        <p:spPr>
          <a:xfrm>
            <a:off x="10003535" y="3867911"/>
            <a:ext cx="1152144" cy="292608"/>
          </a:xfrm>
          <a:prstGeom prst="rect">
            <a:avLst/>
          </a:prstGeom>
          <a:noFill/>
        </p:spPr>
        <p:txBody>
          <a:bodyPr wrap="square" lIns="0" tIns="0" rIns="0" bIns="0" anchor="t">
            <a:spAutoFit/>
          </a:bodyPr>
          <a:lstStyle/>
          <a:p>
            <a:pPr algn="ctr">
              <a:spcBef>
                <a:spcPts val="0"/>
              </a:spcBef>
              <a:spcAft>
                <a:spcPts val="0"/>
              </a:spcAft>
            </a:pPr>
            <a:r>
              <a:rPr sz="1500" b="1" i="0">
                <a:solidFill>
                  <a:srgbClr val="858A8C"/>
                </a:solidFill>
                <a:latin typeface="Century Gothic"/>
              </a:rPr>
              <a:t>88%</a:t>
            </a:r>
          </a:p>
        </p:txBody>
      </p:sp>
      <p:sp>
        <p:nvSpPr>
          <p:cNvPr id="32" name="TextBox 31"/>
          <p:cNvSpPr txBox="1"/>
          <p:nvPr/>
        </p:nvSpPr>
        <p:spPr>
          <a:xfrm>
            <a:off x="9957815" y="5550408"/>
            <a:ext cx="1243584" cy="256032"/>
          </a:xfrm>
          <a:prstGeom prst="rect">
            <a:avLst/>
          </a:prstGeom>
          <a:noFill/>
        </p:spPr>
        <p:txBody>
          <a:bodyPr wrap="square" lIns="0" tIns="0" rIns="0" bIns="0" anchor="t">
            <a:spAutoFit/>
          </a:bodyPr>
          <a:lstStyle/>
          <a:p>
            <a:pPr algn="ctr">
              <a:spcBef>
                <a:spcPts val="0"/>
              </a:spcBef>
              <a:spcAft>
                <a:spcPts val="0"/>
              </a:spcAft>
            </a:pPr>
            <a:r>
              <a:rPr sz="1000" b="0" i="0">
                <a:solidFill>
                  <a:srgbClr val="858A8C"/>
                </a:solidFill>
                <a:latin typeface="Century Gothic"/>
              </a:rPr>
              <a:t>Bolivia</a:t>
            </a:r>
          </a:p>
        </p:txBody>
      </p:sp>
      <p:sp>
        <p:nvSpPr>
          <p:cNvPr id="33" name="Rectangle 32"/>
          <p:cNvSpPr/>
          <p:nvPr/>
        </p:nvSpPr>
        <p:spPr>
          <a:xfrm>
            <a:off x="6684264" y="5440680"/>
            <a:ext cx="4197096" cy="10972"/>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4" name="TextBox 33"/>
          <p:cNvSpPr txBox="1"/>
          <p:nvPr/>
        </p:nvSpPr>
        <p:spPr>
          <a:xfrm>
            <a:off x="6492240" y="5852160"/>
            <a:ext cx="4672584" cy="237744"/>
          </a:xfrm>
          <a:prstGeom prst="rect">
            <a:avLst/>
          </a:prstGeom>
          <a:noFill/>
        </p:spPr>
        <p:txBody>
          <a:bodyPr wrap="square" lIns="0" tIns="0" rIns="0" bIns="0" anchor="t">
            <a:spAutoFit/>
          </a:bodyPr>
          <a:lstStyle/>
          <a:p>
            <a:pPr algn="l">
              <a:spcBef>
                <a:spcPts val="0"/>
              </a:spcBef>
              <a:spcAft>
                <a:spcPts val="0"/>
              </a:spcAft>
            </a:pPr>
            <a:r>
              <a:rPr sz="800" b="0" i="1">
                <a:solidFill>
                  <a:srgbClr val="858A8C"/>
                </a:solidFill>
                <a:latin typeface="Century Gothic"/>
              </a:rPr>
              <a:t>Antecedentes internos de la operación · cierre H1 2026.</a:t>
            </a:r>
          </a:p>
        </p:txBody>
      </p:sp>
      <p:sp>
        <p:nvSpPr>
          <p:cNvPr id="35" name="TextBox 3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Medición del fill rate</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rutinas productivas de Planificación y Compras Chile: FillRateCliente.py y fc_error_oem.py.</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Snip Single Corner Rectangle 4"/>
          <p:cNvSpPr/>
          <p:nvPr/>
        </p:nvSpPr>
        <p:spPr>
          <a:xfrm>
            <a:off x="722376" y="1207008"/>
            <a:ext cx="10753344" cy="118872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TextBox 5"/>
          <p:cNvSpPr txBox="1"/>
          <p:nvPr/>
        </p:nvSpPr>
        <p:spPr>
          <a:xfrm>
            <a:off x="1069848" y="1389888"/>
            <a:ext cx="4023360" cy="256032"/>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DEFINICIÓN OPERATIVA</a:t>
            </a:r>
          </a:p>
        </p:txBody>
      </p:sp>
      <p:sp>
        <p:nvSpPr>
          <p:cNvPr id="7" name="TextBox 6"/>
          <p:cNvSpPr txBox="1"/>
          <p:nvPr/>
        </p:nvSpPr>
        <p:spPr>
          <a:xfrm>
            <a:off x="1069848" y="1700784"/>
            <a:ext cx="10058400" cy="594360"/>
          </a:xfrm>
          <a:prstGeom prst="rect">
            <a:avLst/>
          </a:prstGeom>
          <a:noFill/>
        </p:spPr>
        <p:txBody>
          <a:bodyPr wrap="square" lIns="0" tIns="0" rIns="0" bIns="0" anchor="t">
            <a:spAutoFit/>
          </a:bodyPr>
          <a:lstStyle/>
          <a:p>
            <a:pPr algn="l">
              <a:lnSpc>
                <a:spcPct val="110000"/>
              </a:lnSpc>
              <a:spcAft>
                <a:spcPts val="300"/>
              </a:spcAft>
            </a:pPr>
            <a:r>
              <a:rPr sz="1600" b="1">
                <a:solidFill>
                  <a:srgbClr val="FFFFFF"/>
                </a:solidFill>
                <a:latin typeface="Century Gothic"/>
              </a:rPr>
              <a:t>Fill Rate = </a:t>
            </a:r>
            <a:r>
              <a:rPr sz="1500" b="1">
                <a:solidFill>
                  <a:srgbClr val="19BDE6"/>
                </a:solidFill>
                <a:latin typeface="Century Gothic"/>
              </a:rPr>
              <a:t>Σ Línea OK</a:t>
            </a:r>
            <a:r>
              <a:rPr sz="1500" b="0">
                <a:solidFill>
                  <a:srgbClr val="9FB3C8"/>
                </a:solidFill>
                <a:latin typeface="Century Gothic"/>
              </a:rPr>
              <a:t>  /  </a:t>
            </a:r>
            <a:r>
              <a:rPr sz="1500" b="1">
                <a:solidFill>
                  <a:srgbClr val="FFFFFF"/>
                </a:solidFill>
                <a:latin typeface="Century Gothic"/>
              </a:rPr>
              <a:t>Σ Línea Totales</a:t>
            </a:r>
            <a:r>
              <a:rPr sz="1200" b="0">
                <a:solidFill>
                  <a:srgbClr val="9FB3C8"/>
                </a:solidFill>
                <a:latin typeface="Century Gothic"/>
              </a:rPr>
              <a:t>          </a:t>
            </a:r>
            <a:r>
              <a:rPr sz="1300" b="1">
                <a:solidFill>
                  <a:srgbClr val="FFFFFF"/>
                </a:solidFill>
                <a:latin typeface="Century Gothic"/>
              </a:rPr>
              <a:t>Fill Rate Qty = </a:t>
            </a:r>
            <a:r>
              <a:rPr sz="1200" b="1">
                <a:solidFill>
                  <a:srgbClr val="19BDE6"/>
                </a:solidFill>
                <a:latin typeface="Century Gothic"/>
              </a:rPr>
              <a:t>Σ Qty Venta</a:t>
            </a:r>
            <a:r>
              <a:rPr sz="1200" b="0">
                <a:solidFill>
                  <a:srgbClr val="9FB3C8"/>
                </a:solidFill>
                <a:latin typeface="Century Gothic"/>
              </a:rPr>
              <a:t>  /  </a:t>
            </a:r>
            <a:r>
              <a:rPr sz="1200" b="1">
                <a:solidFill>
                  <a:srgbClr val="FFFFFF"/>
                </a:solidFill>
                <a:latin typeface="Century Gothic"/>
              </a:rPr>
              <a:t>Σ Qty Total</a:t>
            </a:r>
          </a:p>
          <a:p>
            <a:pPr algn="l">
              <a:spcBef>
                <a:spcPts val="0"/>
              </a:spcBef>
              <a:spcAft>
                <a:spcPts val="0"/>
              </a:spcAft>
            </a:pPr>
            <a:r>
              <a:rPr sz="950" b="0" i="0">
                <a:solidFill>
                  <a:srgbClr val="9FB3C8"/>
                </a:solidFill>
                <a:latin typeface="Century Gothic"/>
              </a:rPr>
              <a:t>Cada posición de pedido cuenta como una línea. Se mide en líneas y en unidades.</a:t>
            </a:r>
          </a:p>
        </p:txBody>
      </p:sp>
      <p:sp>
        <p:nvSpPr>
          <p:cNvPr id="8" name="TextBox 7"/>
          <p:cNvSpPr txBox="1"/>
          <p:nvPr/>
        </p:nvSpPr>
        <p:spPr>
          <a:xfrm>
            <a:off x="722376" y="2615184"/>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La clase de documento de venta de SAP define si la línea es OK o VOR</a:t>
            </a:r>
          </a:p>
        </p:txBody>
      </p:sp>
      <p:sp>
        <p:nvSpPr>
          <p:cNvPr id="9" name="Snip Single Corner Rectangle 8"/>
          <p:cNvSpPr/>
          <p:nvPr/>
        </p:nvSpPr>
        <p:spPr>
          <a:xfrm>
            <a:off x="722376" y="3017520"/>
            <a:ext cx="2564892" cy="148132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Snip Single Corner Rectangle 9"/>
          <p:cNvSpPr/>
          <p:nvPr/>
        </p:nvSpPr>
        <p:spPr>
          <a:xfrm>
            <a:off x="941832" y="3236976"/>
            <a:ext cx="786384"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001A41"/>
                </a:solidFill>
                <a:latin typeface="Century Gothic"/>
              </a:rPr>
              <a:t>ZRDP</a:t>
            </a:r>
          </a:p>
        </p:txBody>
      </p:sp>
      <p:sp>
        <p:nvSpPr>
          <p:cNvPr id="11" name="TextBox 10"/>
          <p:cNvSpPr txBox="1"/>
          <p:nvPr/>
        </p:nvSpPr>
        <p:spPr>
          <a:xfrm>
            <a:off x="941832" y="3639312"/>
            <a:ext cx="2125980"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Línea OK · Derco</a:t>
            </a:r>
          </a:p>
        </p:txBody>
      </p:sp>
      <p:sp>
        <p:nvSpPr>
          <p:cNvPr id="12" name="TextBox 11"/>
          <p:cNvSpPr txBox="1"/>
          <p:nvPr/>
        </p:nvSpPr>
        <p:spPr>
          <a:xfrm>
            <a:off x="941832" y="3968496"/>
            <a:ext cx="2125980" cy="475488"/>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Pedido normal atendido desde stock disponible.</a:t>
            </a:r>
          </a:p>
        </p:txBody>
      </p:sp>
      <p:sp>
        <p:nvSpPr>
          <p:cNvPr id="13" name="Snip Single Corner Rectangle 12"/>
          <p:cNvSpPr/>
          <p:nvPr/>
        </p:nvSpPr>
        <p:spPr>
          <a:xfrm>
            <a:off x="3451860" y="3017520"/>
            <a:ext cx="2564892" cy="1481328"/>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4" name="Snip Single Corner Rectangle 13"/>
          <p:cNvSpPr/>
          <p:nvPr/>
        </p:nvSpPr>
        <p:spPr>
          <a:xfrm>
            <a:off x="3671315" y="3236976"/>
            <a:ext cx="786384"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FFFFFF"/>
                </a:solidFill>
                <a:latin typeface="Century Gothic"/>
              </a:rPr>
              <a:t>ZVDP</a:t>
            </a:r>
          </a:p>
        </p:txBody>
      </p:sp>
      <p:sp>
        <p:nvSpPr>
          <p:cNvPr id="15" name="TextBox 14"/>
          <p:cNvSpPr txBox="1"/>
          <p:nvPr/>
        </p:nvSpPr>
        <p:spPr>
          <a:xfrm>
            <a:off x="3671315" y="3639312"/>
            <a:ext cx="2125980"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Línea VOR · Derco</a:t>
            </a:r>
          </a:p>
        </p:txBody>
      </p:sp>
      <p:sp>
        <p:nvSpPr>
          <p:cNvPr id="16" name="TextBox 15"/>
          <p:cNvSpPr txBox="1"/>
          <p:nvPr/>
        </p:nvSpPr>
        <p:spPr>
          <a:xfrm>
            <a:off x="3671315" y="3968496"/>
            <a:ext cx="2125980" cy="475488"/>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Vehículo detenido: la pieza no estaba disponible.</a:t>
            </a:r>
          </a:p>
        </p:txBody>
      </p:sp>
      <p:sp>
        <p:nvSpPr>
          <p:cNvPr id="17" name="Snip Single Corner Rectangle 16"/>
          <p:cNvSpPr/>
          <p:nvPr/>
        </p:nvSpPr>
        <p:spPr>
          <a:xfrm>
            <a:off x="6181344" y="3017520"/>
            <a:ext cx="2564892" cy="148132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8" name="Snip Single Corner Rectangle 17"/>
          <p:cNvSpPr/>
          <p:nvPr/>
        </p:nvSpPr>
        <p:spPr>
          <a:xfrm>
            <a:off x="6400800" y="3236976"/>
            <a:ext cx="786384"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001A41"/>
                </a:solidFill>
                <a:latin typeface="Century Gothic"/>
              </a:rPr>
              <a:t>Z300</a:t>
            </a:r>
          </a:p>
        </p:txBody>
      </p:sp>
      <p:sp>
        <p:nvSpPr>
          <p:cNvPr id="19" name="TextBox 18"/>
          <p:cNvSpPr txBox="1"/>
          <p:nvPr/>
        </p:nvSpPr>
        <p:spPr>
          <a:xfrm>
            <a:off x="6400800" y="3639312"/>
            <a:ext cx="2125980"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Línea OK · Inchcape</a:t>
            </a:r>
          </a:p>
        </p:txBody>
      </p:sp>
      <p:sp>
        <p:nvSpPr>
          <p:cNvPr id="20" name="TextBox 19"/>
          <p:cNvSpPr txBox="1"/>
          <p:nvPr/>
        </p:nvSpPr>
        <p:spPr>
          <a:xfrm>
            <a:off x="6400800" y="3968496"/>
            <a:ext cx="2125980" cy="475488"/>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Pedido normal en la operación Subaru (centro 1335).</a:t>
            </a:r>
          </a:p>
        </p:txBody>
      </p:sp>
      <p:sp>
        <p:nvSpPr>
          <p:cNvPr id="21" name="Snip Single Corner Rectangle 20"/>
          <p:cNvSpPr/>
          <p:nvPr/>
        </p:nvSpPr>
        <p:spPr>
          <a:xfrm>
            <a:off x="8910828" y="3017520"/>
            <a:ext cx="2564892" cy="1481328"/>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2" name="Snip Single Corner Rectangle 21"/>
          <p:cNvSpPr/>
          <p:nvPr/>
        </p:nvSpPr>
        <p:spPr>
          <a:xfrm>
            <a:off x="9130284" y="3236976"/>
            <a:ext cx="786384"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FFFFFF"/>
                </a:solidFill>
                <a:latin typeface="Century Gothic"/>
              </a:rPr>
              <a:t>ZVOR</a:t>
            </a:r>
          </a:p>
        </p:txBody>
      </p:sp>
      <p:sp>
        <p:nvSpPr>
          <p:cNvPr id="23" name="TextBox 22"/>
          <p:cNvSpPr txBox="1"/>
          <p:nvPr/>
        </p:nvSpPr>
        <p:spPr>
          <a:xfrm>
            <a:off x="9130284" y="3639312"/>
            <a:ext cx="2125980"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Línea VOR · Inchcape</a:t>
            </a:r>
          </a:p>
        </p:txBody>
      </p:sp>
      <p:sp>
        <p:nvSpPr>
          <p:cNvPr id="24" name="TextBox 23"/>
          <p:cNvSpPr txBox="1"/>
          <p:nvPr/>
        </p:nvSpPr>
        <p:spPr>
          <a:xfrm>
            <a:off x="9130284" y="3968496"/>
            <a:ext cx="2125980" cy="475488"/>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Urgencia con vehículo detenido en Subaru.</a:t>
            </a:r>
          </a:p>
        </p:txBody>
      </p:sp>
      <p:sp>
        <p:nvSpPr>
          <p:cNvPr id="25" name="Snip Single Corner Rectangle 24"/>
          <p:cNvSpPr/>
          <p:nvPr/>
        </p:nvSpPr>
        <p:spPr>
          <a:xfrm>
            <a:off x="722376" y="4681728"/>
            <a:ext cx="10753344" cy="13716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TextBox 25"/>
          <p:cNvSpPr txBox="1"/>
          <p:nvPr/>
        </p:nvSpPr>
        <p:spPr>
          <a:xfrm>
            <a:off x="1033272" y="4864608"/>
            <a:ext cx="10113264"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Dimensiones por las que se abre el indicador</a:t>
            </a:r>
          </a:p>
        </p:txBody>
      </p:sp>
      <p:sp>
        <p:nvSpPr>
          <p:cNvPr id="27" name="Oval 26"/>
          <p:cNvSpPr/>
          <p:nvPr/>
        </p:nvSpPr>
        <p:spPr>
          <a:xfrm>
            <a:off x="1033272" y="5285231"/>
            <a:ext cx="91440" cy="9144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8" name="TextBox 27"/>
          <p:cNvSpPr txBox="1"/>
          <p:nvPr/>
        </p:nvSpPr>
        <p:spPr>
          <a:xfrm>
            <a:off x="1234440" y="5212080"/>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Marca y equipo (Mainstream 1 / 2)</a:t>
            </a:r>
          </a:p>
        </p:txBody>
      </p:sp>
      <p:sp>
        <p:nvSpPr>
          <p:cNvPr id="29" name="Oval 28"/>
          <p:cNvSpPr/>
          <p:nvPr/>
        </p:nvSpPr>
        <p:spPr>
          <a:xfrm>
            <a:off x="4553712" y="5285231"/>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0" name="TextBox 29"/>
          <p:cNvSpPr txBox="1"/>
          <p:nvPr/>
        </p:nvSpPr>
        <p:spPr>
          <a:xfrm>
            <a:off x="4754880" y="5212080"/>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Modelo y familia de producto</a:t>
            </a:r>
          </a:p>
        </p:txBody>
      </p:sp>
      <p:sp>
        <p:nvSpPr>
          <p:cNvPr id="31" name="Oval 30"/>
          <p:cNvSpPr/>
          <p:nvPr/>
        </p:nvSpPr>
        <p:spPr>
          <a:xfrm>
            <a:off x="8074152" y="5285231"/>
            <a:ext cx="91440" cy="9144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2" name="TextBox 31"/>
          <p:cNvSpPr txBox="1"/>
          <p:nvPr/>
        </p:nvSpPr>
        <p:spPr>
          <a:xfrm>
            <a:off x="8275320" y="5212080"/>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Apertura Parque: Vigente / No Vigente / Nuevo</a:t>
            </a:r>
          </a:p>
        </p:txBody>
      </p:sp>
      <p:sp>
        <p:nvSpPr>
          <p:cNvPr id="33" name="Oval 32"/>
          <p:cNvSpPr/>
          <p:nvPr/>
        </p:nvSpPr>
        <p:spPr>
          <a:xfrm>
            <a:off x="1033272" y="5632703"/>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4" name="TextBox 33"/>
          <p:cNvSpPr txBox="1"/>
          <p:nvPr/>
        </p:nvSpPr>
        <p:spPr>
          <a:xfrm>
            <a:off x="1234440" y="5559552"/>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Flag IPL y códigos estratégicos</a:t>
            </a:r>
          </a:p>
        </p:txBody>
      </p:sp>
      <p:sp>
        <p:nvSpPr>
          <p:cNvPr id="35" name="Oval 34"/>
          <p:cNvSpPr/>
          <p:nvPr/>
        </p:nvSpPr>
        <p:spPr>
          <a:xfrm>
            <a:off x="4553712" y="5632703"/>
            <a:ext cx="91440" cy="9144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6" name="TextBox 35"/>
          <p:cNvSpPr txBox="1"/>
          <p:nvPr/>
        </p:nvSpPr>
        <p:spPr>
          <a:xfrm>
            <a:off x="4754880" y="5559552"/>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Plan de mantención</a:t>
            </a:r>
          </a:p>
        </p:txBody>
      </p:sp>
      <p:sp>
        <p:nvSpPr>
          <p:cNvPr id="37" name="Oval 36"/>
          <p:cNvSpPr/>
          <p:nvPr/>
        </p:nvSpPr>
        <p:spPr>
          <a:xfrm>
            <a:off x="8074152" y="5632703"/>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8" name="TextBox 37"/>
          <p:cNvSpPr txBox="1"/>
          <p:nvPr/>
        </p:nvSpPr>
        <p:spPr>
          <a:xfrm>
            <a:off x="8275320" y="5559552"/>
            <a:ext cx="3246120" cy="256032"/>
          </a:xfrm>
          <a:prstGeom prst="rect">
            <a:avLst/>
          </a:prstGeom>
          <a:noFill/>
        </p:spPr>
        <p:txBody>
          <a:bodyPr wrap="square" lIns="0" tIns="0" rIns="0" bIns="0" anchor="t">
            <a:spAutoFit/>
          </a:bodyPr>
          <a:lstStyle/>
          <a:p>
            <a:pPr algn="l">
              <a:spcBef>
                <a:spcPts val="0"/>
              </a:spcBef>
              <a:spcAft>
                <a:spcPts val="0"/>
              </a:spcAft>
            </a:pPr>
            <a:r>
              <a:rPr sz="950" b="0" i="0">
                <a:solidFill>
                  <a:srgbClr val="39464F"/>
                </a:solidFill>
                <a:latin typeface="Century Gothic"/>
              </a:rPr>
              <a:t>Semana, mes y año</a:t>
            </a:r>
          </a:p>
        </p:txBody>
      </p:sp>
      <p:sp>
        <p:nvSpPr>
          <p:cNvPr id="39" name="TextBox 38"/>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Medición del error de proyección</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rutinas productivas de Planificación y Compras Chile: FillRateCliente.py y fc_error_oem.py.</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TextBox 4"/>
          <p:cNvSpPr txBox="1"/>
          <p:nvPr/>
        </p:nvSpPr>
        <p:spPr>
          <a:xfrm>
            <a:off x="722376" y="1207008"/>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Tres versiones del forecast conviven en el mismo ciclo S&amp;OP</a:t>
            </a:r>
          </a:p>
        </p:txBody>
      </p:sp>
      <p:sp>
        <p:nvSpPr>
          <p:cNvPr id="6" name="Snip Single Corner Rectangle 5"/>
          <p:cNvSpPr/>
          <p:nvPr/>
        </p:nvSpPr>
        <p:spPr>
          <a:xfrm>
            <a:off x="722376" y="1591056"/>
            <a:ext cx="3511296" cy="1389888"/>
          </a:xfrm>
          <a:prstGeom prst="snip1Rect">
            <a:avLst>
              <a:gd name="adj" fmla="val 9000"/>
            </a:avLst>
          </a:prstGeom>
          <a:solidFill>
            <a:srgbClr val="FFFFFF"/>
          </a:solidFill>
          <a:ln w="15875">
            <a:solidFill>
              <a:srgbClr val="858A8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7" name="Snip Single Corner Rectangle 6"/>
          <p:cNvSpPr/>
          <p:nvPr/>
        </p:nvSpPr>
        <p:spPr>
          <a:xfrm>
            <a:off x="960120" y="1810512"/>
            <a:ext cx="960120" cy="256032"/>
          </a:xfrm>
          <a:prstGeom prst="snip1Rect">
            <a:avLst>
              <a:gd name="adj" fmla="val 22000"/>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FFFFFF"/>
                </a:solidFill>
                <a:latin typeface="Century Gothic"/>
              </a:rPr>
              <a:t>fc_std</a:t>
            </a:r>
          </a:p>
        </p:txBody>
      </p:sp>
      <p:sp>
        <p:nvSpPr>
          <p:cNvPr id="8" name="TextBox 7"/>
          <p:cNvSpPr txBox="1"/>
          <p:nvPr/>
        </p:nvSpPr>
        <p:spPr>
          <a:xfrm>
            <a:off x="960120" y="2194560"/>
            <a:ext cx="3035808" cy="274320"/>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Forecast estadístico</a:t>
            </a:r>
          </a:p>
        </p:txBody>
      </p:sp>
      <p:sp>
        <p:nvSpPr>
          <p:cNvPr id="9" name="TextBox 8"/>
          <p:cNvSpPr txBox="1"/>
          <p:nvPr/>
        </p:nvSpPr>
        <p:spPr>
          <a:xfrm>
            <a:off x="960120" y="2523744"/>
            <a:ext cx="3035808" cy="402336"/>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Lo que produce el modelo del sistema, sin intervención.</a:t>
            </a:r>
          </a:p>
        </p:txBody>
      </p:sp>
      <p:sp>
        <p:nvSpPr>
          <p:cNvPr id="10" name="Snip Single Corner Rectangle 9"/>
          <p:cNvSpPr/>
          <p:nvPr/>
        </p:nvSpPr>
        <p:spPr>
          <a:xfrm>
            <a:off x="4398264" y="1591056"/>
            <a:ext cx="3511296" cy="1389888"/>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Snip Single Corner Rectangle 10"/>
          <p:cNvSpPr/>
          <p:nvPr/>
        </p:nvSpPr>
        <p:spPr>
          <a:xfrm>
            <a:off x="4636007" y="1810512"/>
            <a:ext cx="960120"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FFFFFF"/>
                </a:solidFill>
                <a:latin typeface="Century Gothic"/>
              </a:rPr>
              <a:t>fc_anas</a:t>
            </a:r>
          </a:p>
        </p:txBody>
      </p:sp>
      <p:sp>
        <p:nvSpPr>
          <p:cNvPr id="12" name="TextBox 11"/>
          <p:cNvSpPr txBox="1"/>
          <p:nvPr/>
        </p:nvSpPr>
        <p:spPr>
          <a:xfrm>
            <a:off x="4636007" y="2194560"/>
            <a:ext cx="3035808" cy="274320"/>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Forecast base</a:t>
            </a:r>
          </a:p>
        </p:txBody>
      </p:sp>
      <p:sp>
        <p:nvSpPr>
          <p:cNvPr id="13" name="TextBox 12"/>
          <p:cNvSpPr txBox="1"/>
          <p:nvPr/>
        </p:nvSpPr>
        <p:spPr>
          <a:xfrm>
            <a:off x="4636007" y="2523744"/>
            <a:ext cx="3035808" cy="402336"/>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La línea base que entrega la herramienta de planificación.</a:t>
            </a:r>
          </a:p>
        </p:txBody>
      </p:sp>
      <p:sp>
        <p:nvSpPr>
          <p:cNvPr id="14" name="Snip Single Corner Rectangle 13"/>
          <p:cNvSpPr/>
          <p:nvPr/>
        </p:nvSpPr>
        <p:spPr>
          <a:xfrm>
            <a:off x="8065008" y="1591056"/>
            <a:ext cx="3511296" cy="138988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Snip Single Corner Rectangle 14"/>
          <p:cNvSpPr/>
          <p:nvPr/>
        </p:nvSpPr>
        <p:spPr>
          <a:xfrm>
            <a:off x="8302752" y="1810512"/>
            <a:ext cx="960120"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900" b="1" i="0">
                <a:solidFill>
                  <a:srgbClr val="001A41"/>
                </a:solidFill>
                <a:latin typeface="Century Gothic"/>
              </a:rPr>
              <a:t>fc</a:t>
            </a:r>
          </a:p>
        </p:txBody>
      </p:sp>
      <p:sp>
        <p:nvSpPr>
          <p:cNvPr id="16" name="TextBox 15"/>
          <p:cNvSpPr txBox="1"/>
          <p:nvPr/>
        </p:nvSpPr>
        <p:spPr>
          <a:xfrm>
            <a:off x="8302752" y="2194560"/>
            <a:ext cx="3035808" cy="274320"/>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Forecast colaborado</a:t>
            </a:r>
          </a:p>
        </p:txBody>
      </p:sp>
      <p:sp>
        <p:nvSpPr>
          <p:cNvPr id="17" name="TextBox 16"/>
          <p:cNvSpPr txBox="1"/>
          <p:nvPr/>
        </p:nvSpPr>
        <p:spPr>
          <a:xfrm>
            <a:off x="8302752" y="2523744"/>
            <a:ext cx="3035808" cy="402336"/>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El número final, ajustado en la reunión de demanda.</a:t>
            </a:r>
          </a:p>
        </p:txBody>
      </p:sp>
      <p:sp>
        <p:nvSpPr>
          <p:cNvPr id="18" name="Snip Single Corner Rectangle 17"/>
          <p:cNvSpPr/>
          <p:nvPr/>
        </p:nvSpPr>
        <p:spPr>
          <a:xfrm>
            <a:off x="722376" y="3127248"/>
            <a:ext cx="5294376" cy="1481328"/>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9" name="TextBox 18"/>
          <p:cNvSpPr txBox="1"/>
          <p:nvPr/>
        </p:nvSpPr>
        <p:spPr>
          <a:xfrm>
            <a:off x="1033272" y="3310128"/>
            <a:ext cx="4654296" cy="274320"/>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DOS HORIZONTES DE MEDICIÓN</a:t>
            </a:r>
          </a:p>
        </p:txBody>
      </p:sp>
      <p:sp>
        <p:nvSpPr>
          <p:cNvPr id="20" name="TextBox 19"/>
          <p:cNvSpPr txBox="1"/>
          <p:nvPr/>
        </p:nvSpPr>
        <p:spPr>
          <a:xfrm>
            <a:off x="1033272" y="3657600"/>
            <a:ext cx="4654296" cy="841248"/>
          </a:xfrm>
          <a:prstGeom prst="rect">
            <a:avLst/>
          </a:prstGeom>
          <a:noFill/>
        </p:spPr>
        <p:txBody>
          <a:bodyPr wrap="square" lIns="0" tIns="0" rIns="0" bIns="0" anchor="t">
            <a:spAutoFit/>
          </a:bodyPr>
          <a:lstStyle/>
          <a:p>
            <a:pPr algn="l">
              <a:lnSpc>
                <a:spcPct val="110000"/>
              </a:lnSpc>
              <a:spcAft>
                <a:spcPts val="600"/>
              </a:spcAft>
            </a:pPr>
            <a:r>
              <a:rPr sz="1400" b="1">
                <a:solidFill>
                  <a:srgbClr val="19BDE6"/>
                </a:solidFill>
                <a:latin typeface="Century Gothic"/>
              </a:rPr>
              <a:t>N-1  </a:t>
            </a:r>
            <a:r>
              <a:rPr sz="1050" b="0">
                <a:solidFill>
                  <a:srgbClr val="FFFFFF"/>
                </a:solidFill>
                <a:latin typeface="Century Gothic"/>
              </a:rPr>
              <a:t>proyección hecha un ciclo antes del mes vendido.</a:t>
            </a:r>
          </a:p>
          <a:p>
            <a:pPr algn="l">
              <a:lnSpc>
                <a:spcPct val="110000"/>
              </a:lnSpc>
              <a:spcAft>
                <a:spcPts val="0"/>
              </a:spcAft>
            </a:pPr>
            <a:r>
              <a:rPr sz="1400" b="1">
                <a:solidFill>
                  <a:srgbClr val="19BDE6"/>
                </a:solidFill>
                <a:latin typeface="Century Gothic"/>
              </a:rPr>
              <a:t>N-4  </a:t>
            </a:r>
            <a:r>
              <a:rPr sz="1050" b="0">
                <a:solidFill>
                  <a:srgbClr val="FFFFFF"/>
                </a:solidFill>
                <a:latin typeface="Century Gothic"/>
              </a:rPr>
              <a:t>cuatro ciclos antes: es la que condiciona la compra de importación.</a:t>
            </a:r>
          </a:p>
        </p:txBody>
      </p:sp>
      <p:sp>
        <p:nvSpPr>
          <p:cNvPr id="21" name="Snip Single Corner Rectangle 20"/>
          <p:cNvSpPr/>
          <p:nvPr/>
        </p:nvSpPr>
        <p:spPr>
          <a:xfrm>
            <a:off x="6181344" y="3127248"/>
            <a:ext cx="5294376" cy="148132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2" name="TextBox 21"/>
          <p:cNvSpPr txBox="1"/>
          <p:nvPr/>
        </p:nvSpPr>
        <p:spPr>
          <a:xfrm>
            <a:off x="6492240" y="3310128"/>
            <a:ext cx="4654296"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Métricas que produce la rutina</a:t>
            </a:r>
          </a:p>
        </p:txBody>
      </p:sp>
      <p:sp>
        <p:nvSpPr>
          <p:cNvPr id="23" name="TextBox 22"/>
          <p:cNvSpPr txBox="1"/>
          <p:nvPr/>
        </p:nvSpPr>
        <p:spPr>
          <a:xfrm>
            <a:off x="6492240" y="3657600"/>
            <a:ext cx="4654296" cy="868680"/>
          </a:xfrm>
          <a:prstGeom prst="rect">
            <a:avLst/>
          </a:prstGeom>
          <a:noFill/>
        </p:spPr>
        <p:txBody>
          <a:bodyPr wrap="square" lIns="0" tIns="0" rIns="0" bIns="0" anchor="t">
            <a:spAutoFit/>
          </a:bodyPr>
          <a:lstStyle/>
          <a:p>
            <a:pPr algn="l">
              <a:spcAft>
                <a:spcPts val="500"/>
              </a:spcAft>
            </a:pPr>
            <a:r>
              <a:rPr sz="1050" b="1">
                <a:solidFill>
                  <a:srgbClr val="001A41"/>
                </a:solidFill>
                <a:latin typeface="Century Gothic"/>
              </a:rPr>
              <a:t>MAPE = |Venta − FC|      WMAPE = MAPE / Venta</a:t>
            </a:r>
          </a:p>
          <a:p>
            <a:pPr algn="l">
              <a:spcAft>
                <a:spcPts val="300"/>
              </a:spcAft>
            </a:pPr>
            <a:r>
              <a:rPr sz="1050" b="1">
                <a:solidFill>
                  <a:srgbClr val="858A8C"/>
                </a:solidFill>
                <a:latin typeface="Century Gothic"/>
              </a:rPr>
              <a:t>ERP = max(FC − Venta, 0)</a:t>
            </a:r>
            <a:r>
              <a:rPr sz="950" b="0">
                <a:solidFill>
                  <a:srgbClr val="39464F"/>
                </a:solidFill>
                <a:latin typeface="Century Gothic"/>
              </a:rPr>
              <a:t>   sobre-proyección</a:t>
            </a:r>
          </a:p>
          <a:p>
            <a:pPr algn="l">
              <a:spcAft>
                <a:spcPts val="0"/>
              </a:spcAft>
            </a:pPr>
            <a:r>
              <a:rPr sz="1050" b="1">
                <a:solidFill>
                  <a:srgbClr val="19BDE6"/>
                </a:solidFill>
                <a:latin typeface="Century Gothic"/>
              </a:rPr>
              <a:t>ERN = max(Venta − FC, 0)</a:t>
            </a:r>
            <a:r>
              <a:rPr sz="950" b="0">
                <a:solidFill>
                  <a:srgbClr val="39464F"/>
                </a:solidFill>
                <a:latin typeface="Century Gothic"/>
              </a:rPr>
              <a:t>   sub-proyección</a:t>
            </a:r>
          </a:p>
        </p:txBody>
      </p:sp>
      <p:sp>
        <p:nvSpPr>
          <p:cNvPr id="24" name="Snip Single Corner Rectangle 23"/>
          <p:cNvSpPr/>
          <p:nvPr/>
        </p:nvSpPr>
        <p:spPr>
          <a:xfrm>
            <a:off x="722376" y="4791456"/>
            <a:ext cx="10753344" cy="1298448"/>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TextBox 24"/>
          <p:cNvSpPr txBox="1"/>
          <p:nvPr/>
        </p:nvSpPr>
        <p:spPr>
          <a:xfrm>
            <a:off x="1033272" y="4992624"/>
            <a:ext cx="10113264"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Por qué esta apertura importa para el fill rate</a:t>
            </a:r>
          </a:p>
        </p:txBody>
      </p:sp>
      <p:sp>
        <p:nvSpPr>
          <p:cNvPr id="26" name="TextBox 25"/>
          <p:cNvSpPr txBox="1"/>
          <p:nvPr/>
        </p:nvSpPr>
        <p:spPr>
          <a:xfrm>
            <a:off x="1033272" y="5321808"/>
            <a:ext cx="10113264" cy="658368"/>
          </a:xfrm>
          <a:prstGeom prst="rect">
            <a:avLst/>
          </a:prstGeom>
          <a:noFill/>
        </p:spPr>
        <p:txBody>
          <a:bodyPr wrap="square" lIns="0" tIns="0" rIns="0" bIns="0" anchor="t">
            <a:spAutoFit/>
          </a:bodyPr>
          <a:lstStyle/>
          <a:p>
            <a:pPr algn="l">
              <a:lnSpc>
                <a:spcPct val="120000"/>
              </a:lnSpc>
              <a:spcAft>
                <a:spcPts val="0"/>
              </a:spcAft>
            </a:pPr>
            <a:r>
              <a:rPr sz="1050" b="0">
                <a:solidFill>
                  <a:srgbClr val="39464F"/>
                </a:solidFill>
                <a:latin typeface="Century Gothic"/>
              </a:rPr>
              <a:t>Para el nivel de servicio no es lo mismo sobrar que faltar. </a:t>
            </a:r>
            <a:r>
              <a:rPr sz="1050" b="1">
                <a:solidFill>
                  <a:srgbClr val="001A41"/>
                </a:solidFill>
                <a:latin typeface="Century Gothic"/>
              </a:rPr>
              <a:t>El ERN —lo que se vendió por encima de lo proyectado— es el que produce el quiebre y castiga el fill rate</a:t>
            </a:r>
            <a:r>
              <a:rPr sz="1050" b="0">
                <a:solidFill>
                  <a:srgbClr val="39464F"/>
                </a:solidFill>
                <a:latin typeface="Century Gothic"/>
              </a:rPr>
              <a:t>; el ERP solo inmoviliza capital. El proyecto se optimiza contra el ERN sin disparar el ERP.</a:t>
            </a:r>
          </a:p>
        </p:txBody>
      </p:sp>
      <p:sp>
        <p:nvSpPr>
          <p:cNvPr id="27" name="TextBox 26"/>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Del problema a la solución</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07.2026 S&amp;OP Forecast Colaborado OEM Mainstream, ciclo ago-2026, hoja «Magnitud Ajustes». Datos internos de Inchcape Chile.</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TextBox 4"/>
          <p:cNvSpPr txBox="1"/>
          <p:nvPr/>
        </p:nvSpPr>
        <p:spPr>
          <a:xfrm>
            <a:off x="722376" y="1188720"/>
            <a:ext cx="5120640" cy="274320"/>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LA CADENA QUE PRODUCE LA BRECHA</a:t>
            </a:r>
          </a:p>
        </p:txBody>
      </p:sp>
      <p:sp>
        <p:nvSpPr>
          <p:cNvPr id="6" name="TextBox 5"/>
          <p:cNvSpPr txBox="1"/>
          <p:nvPr/>
        </p:nvSpPr>
        <p:spPr>
          <a:xfrm>
            <a:off x="6355080" y="1188720"/>
            <a:ext cx="5120640" cy="274320"/>
          </a:xfrm>
          <a:prstGeom prst="rect">
            <a:avLst/>
          </a:prstGeom>
          <a:noFill/>
        </p:spPr>
        <p:txBody>
          <a:bodyPr wrap="square" lIns="0" tIns="0" rIns="0" bIns="0" anchor="t">
            <a:spAutoFit/>
          </a:bodyPr>
          <a:lstStyle/>
          <a:p>
            <a:pPr algn="l">
              <a:spcBef>
                <a:spcPts val="0"/>
              </a:spcBef>
              <a:spcAft>
                <a:spcPts val="0"/>
              </a:spcAft>
            </a:pPr>
            <a:r>
              <a:rPr sz="1250" b="1" i="0">
                <a:solidFill>
                  <a:srgbClr val="19BDE6"/>
                </a:solidFill>
                <a:latin typeface="Century Gothic"/>
              </a:rPr>
              <a:t>QUÉ ATACA LA SOLUCIÓN EN CADA ESLABÓN</a:t>
            </a:r>
          </a:p>
        </p:txBody>
      </p:sp>
      <p:sp>
        <p:nvSpPr>
          <p:cNvPr id="7" name="Snip Single Corner Rectangle 6"/>
          <p:cNvSpPr/>
          <p:nvPr/>
        </p:nvSpPr>
        <p:spPr>
          <a:xfrm>
            <a:off x="722376" y="1591056"/>
            <a:ext cx="5120640" cy="10607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Oval 7"/>
          <p:cNvSpPr/>
          <p:nvPr/>
        </p:nvSpPr>
        <p:spPr>
          <a:xfrm>
            <a:off x="960120" y="1865376"/>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1</a:t>
            </a:r>
          </a:p>
        </p:txBody>
      </p:sp>
      <p:sp>
        <p:nvSpPr>
          <p:cNvPr id="9" name="TextBox 8"/>
          <p:cNvSpPr txBox="1"/>
          <p:nvPr/>
        </p:nvSpPr>
        <p:spPr>
          <a:xfrm>
            <a:off x="1545336" y="1755648"/>
            <a:ext cx="4114800" cy="292608"/>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La proyección se desvía</a:t>
            </a:r>
          </a:p>
        </p:txBody>
      </p:sp>
      <p:sp>
        <p:nvSpPr>
          <p:cNvPr id="10" name="TextBox 9"/>
          <p:cNvSpPr txBox="1"/>
          <p:nvPr/>
        </p:nvSpPr>
        <p:spPr>
          <a:xfrm>
            <a:off x="1545336" y="2084832"/>
            <a:ext cx="4114800" cy="512064"/>
          </a:xfrm>
          <a:prstGeom prst="rect">
            <a:avLst/>
          </a:prstGeom>
          <a:noFill/>
        </p:spPr>
        <p:txBody>
          <a:bodyPr wrap="square" lIns="0" tIns="0" rIns="0" bIns="0" anchor="t">
            <a:spAutoFit/>
          </a:bodyPr>
          <a:lstStyle/>
          <a:p>
            <a:pPr algn="l">
              <a:lnSpc>
                <a:spcPct val="112000"/>
              </a:lnSpc>
              <a:spcBef>
                <a:spcPts val="0"/>
              </a:spcBef>
              <a:spcAft>
                <a:spcPts val="0"/>
              </a:spcAft>
            </a:pPr>
            <a:r>
              <a:rPr sz="900" b="0" i="0">
                <a:solidFill>
                  <a:srgbClr val="39464F"/>
                </a:solidFill>
                <a:latin typeface="Century Gothic"/>
              </a:rPr>
              <a:t>El error del forecast ronda el 50% y solo 6.280 de 225.264 códigos reciben revisión de un planificador: el 2,8% del catálogo.</a:t>
            </a:r>
          </a:p>
        </p:txBody>
      </p:sp>
      <p:sp>
        <p:nvSpPr>
          <p:cNvPr id="11" name="Isosceles Triangle 10"/>
          <p:cNvSpPr/>
          <p:nvPr/>
        </p:nvSpPr>
        <p:spPr>
          <a:xfrm rot="5400000">
            <a:off x="5989320" y="2029967"/>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nip Single Corner Rectangle 11"/>
          <p:cNvSpPr/>
          <p:nvPr/>
        </p:nvSpPr>
        <p:spPr>
          <a:xfrm>
            <a:off x="6355080" y="1591056"/>
            <a:ext cx="5120640" cy="1060704"/>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TextBox 12"/>
          <p:cNvSpPr txBox="1"/>
          <p:nvPr/>
        </p:nvSpPr>
        <p:spPr>
          <a:xfrm>
            <a:off x="6629400" y="1810512"/>
            <a:ext cx="4572000" cy="658368"/>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152C47"/>
                </a:solidFill>
                <a:latin typeface="Century Gothic"/>
              </a:rPr>
              <a:t>Modelos que proyectan los 225.264 códigos, no los 6.280 que alcanza a revisar una persona.</a:t>
            </a:r>
          </a:p>
        </p:txBody>
      </p:sp>
      <p:sp>
        <p:nvSpPr>
          <p:cNvPr id="14" name="Snip Single Corner Rectangle 13"/>
          <p:cNvSpPr/>
          <p:nvPr/>
        </p:nvSpPr>
        <p:spPr>
          <a:xfrm>
            <a:off x="722376" y="2743200"/>
            <a:ext cx="5120640" cy="10607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Oval 14"/>
          <p:cNvSpPr/>
          <p:nvPr/>
        </p:nvSpPr>
        <p:spPr>
          <a:xfrm>
            <a:off x="960120" y="3017520"/>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2</a:t>
            </a:r>
          </a:p>
        </p:txBody>
      </p:sp>
      <p:sp>
        <p:nvSpPr>
          <p:cNvPr id="16" name="TextBox 15"/>
          <p:cNvSpPr txBox="1"/>
          <p:nvPr/>
        </p:nvSpPr>
        <p:spPr>
          <a:xfrm>
            <a:off x="1545336" y="2907792"/>
            <a:ext cx="4114800" cy="292608"/>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Se compra menos de lo que el mercado pide</a:t>
            </a:r>
          </a:p>
        </p:txBody>
      </p:sp>
      <p:sp>
        <p:nvSpPr>
          <p:cNvPr id="17" name="TextBox 16"/>
          <p:cNvSpPr txBox="1"/>
          <p:nvPr/>
        </p:nvSpPr>
        <p:spPr>
          <a:xfrm>
            <a:off x="1545336" y="3236976"/>
            <a:ext cx="4114800" cy="512064"/>
          </a:xfrm>
          <a:prstGeom prst="rect">
            <a:avLst/>
          </a:prstGeom>
          <a:noFill/>
        </p:spPr>
        <p:txBody>
          <a:bodyPr wrap="square" lIns="0" tIns="0" rIns="0" bIns="0" anchor="t">
            <a:spAutoFit/>
          </a:bodyPr>
          <a:lstStyle/>
          <a:p>
            <a:pPr algn="l">
              <a:lnSpc>
                <a:spcPct val="112000"/>
              </a:lnSpc>
              <a:spcBef>
                <a:spcPts val="0"/>
              </a:spcBef>
              <a:spcAft>
                <a:spcPts val="0"/>
              </a:spcAft>
            </a:pPr>
            <a:r>
              <a:rPr sz="900" b="0" i="0">
                <a:solidFill>
                  <a:srgbClr val="39464F"/>
                </a:solidFill>
                <a:latin typeface="Century Gothic"/>
              </a:rPr>
              <a:t>La sub-proyección (ERN) se traslada directamente a la orden de compra de importación, con cuatro meses de anticipación.</a:t>
            </a:r>
          </a:p>
        </p:txBody>
      </p:sp>
      <p:sp>
        <p:nvSpPr>
          <p:cNvPr id="18" name="Isosceles Triangle 17"/>
          <p:cNvSpPr/>
          <p:nvPr/>
        </p:nvSpPr>
        <p:spPr>
          <a:xfrm rot="5400000">
            <a:off x="5989320" y="3182112"/>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nip Single Corner Rectangle 18"/>
          <p:cNvSpPr/>
          <p:nvPr/>
        </p:nvSpPr>
        <p:spPr>
          <a:xfrm>
            <a:off x="6355080" y="2743200"/>
            <a:ext cx="5120640" cy="1060704"/>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TextBox 19"/>
          <p:cNvSpPr txBox="1"/>
          <p:nvPr/>
        </p:nvSpPr>
        <p:spPr>
          <a:xfrm>
            <a:off x="6629400" y="2962656"/>
            <a:ext cx="4572000" cy="658368"/>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152C47"/>
                </a:solidFill>
                <a:latin typeface="Century Gothic"/>
              </a:rPr>
              <a:t>Proyección con su distribución de error, para dimensionar cobertura por nivel de servicio objetivo y no por un número puntual.</a:t>
            </a:r>
          </a:p>
        </p:txBody>
      </p:sp>
      <p:sp>
        <p:nvSpPr>
          <p:cNvPr id="21" name="Snip Single Corner Rectangle 20"/>
          <p:cNvSpPr/>
          <p:nvPr/>
        </p:nvSpPr>
        <p:spPr>
          <a:xfrm>
            <a:off x="722376" y="3895344"/>
            <a:ext cx="5120640" cy="10607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2" name="Oval 21"/>
          <p:cNvSpPr/>
          <p:nvPr/>
        </p:nvSpPr>
        <p:spPr>
          <a:xfrm>
            <a:off x="960120" y="4169663"/>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3</a:t>
            </a:r>
          </a:p>
        </p:txBody>
      </p:sp>
      <p:sp>
        <p:nvSpPr>
          <p:cNvPr id="23" name="TextBox 22"/>
          <p:cNvSpPr txBox="1"/>
          <p:nvPr/>
        </p:nvSpPr>
        <p:spPr>
          <a:xfrm>
            <a:off x="1545336" y="4059935"/>
            <a:ext cx="4114800" cy="292608"/>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El pedido llega y no hay stock</a:t>
            </a:r>
          </a:p>
        </p:txBody>
      </p:sp>
      <p:sp>
        <p:nvSpPr>
          <p:cNvPr id="24" name="TextBox 23"/>
          <p:cNvSpPr txBox="1"/>
          <p:nvPr/>
        </p:nvSpPr>
        <p:spPr>
          <a:xfrm>
            <a:off x="1545336" y="4389120"/>
            <a:ext cx="4114800" cy="512064"/>
          </a:xfrm>
          <a:prstGeom prst="rect">
            <a:avLst/>
          </a:prstGeom>
          <a:noFill/>
        </p:spPr>
        <p:txBody>
          <a:bodyPr wrap="square" lIns="0" tIns="0" rIns="0" bIns="0" anchor="t">
            <a:spAutoFit/>
          </a:bodyPr>
          <a:lstStyle/>
          <a:p>
            <a:pPr algn="l">
              <a:lnSpc>
                <a:spcPct val="112000"/>
              </a:lnSpc>
              <a:spcBef>
                <a:spcPts val="0"/>
              </a:spcBef>
              <a:spcAft>
                <a:spcPts val="0"/>
              </a:spcAft>
            </a:pPr>
            <a:r>
              <a:rPr sz="900" b="0" i="0">
                <a:solidFill>
                  <a:srgbClr val="39464F"/>
                </a:solidFill>
                <a:latin typeface="Century Gothic"/>
              </a:rPr>
              <a:t>La línea se marca como VOR: vehículo detenido esperando la pieza.</a:t>
            </a:r>
          </a:p>
        </p:txBody>
      </p:sp>
      <p:sp>
        <p:nvSpPr>
          <p:cNvPr id="25" name="Isosceles Triangle 24"/>
          <p:cNvSpPr/>
          <p:nvPr/>
        </p:nvSpPr>
        <p:spPr>
          <a:xfrm rot="5400000">
            <a:off x="5989320" y="4334256"/>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nip Single Corner Rectangle 25"/>
          <p:cNvSpPr/>
          <p:nvPr/>
        </p:nvSpPr>
        <p:spPr>
          <a:xfrm>
            <a:off x="6355080" y="3895344"/>
            <a:ext cx="5120640" cy="1060704"/>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7" name="TextBox 26"/>
          <p:cNvSpPr txBox="1"/>
          <p:nvPr/>
        </p:nvSpPr>
        <p:spPr>
          <a:xfrm>
            <a:off x="6629400" y="4114800"/>
            <a:ext cx="4572000" cy="658368"/>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152C47"/>
                </a:solidFill>
                <a:latin typeface="Century Gothic"/>
              </a:rPr>
              <a:t>Priorización de compra por criticidad antes de que se produzca el quiebre.</a:t>
            </a:r>
          </a:p>
        </p:txBody>
      </p:sp>
      <p:sp>
        <p:nvSpPr>
          <p:cNvPr id="28" name="Snip Single Corner Rectangle 27"/>
          <p:cNvSpPr/>
          <p:nvPr/>
        </p:nvSpPr>
        <p:spPr>
          <a:xfrm>
            <a:off x="722376" y="5047488"/>
            <a:ext cx="5120640" cy="10607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9" name="Oval 28"/>
          <p:cNvSpPr/>
          <p:nvPr/>
        </p:nvSpPr>
        <p:spPr>
          <a:xfrm>
            <a:off x="960120" y="5321807"/>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4</a:t>
            </a:r>
          </a:p>
        </p:txBody>
      </p:sp>
      <p:sp>
        <p:nvSpPr>
          <p:cNvPr id="30" name="TextBox 29"/>
          <p:cNvSpPr txBox="1"/>
          <p:nvPr/>
        </p:nvSpPr>
        <p:spPr>
          <a:xfrm>
            <a:off x="1545336" y="5212079"/>
            <a:ext cx="4114800" cy="292608"/>
          </a:xfrm>
          <a:prstGeom prst="rect">
            <a:avLst/>
          </a:prstGeom>
          <a:noFill/>
        </p:spPr>
        <p:txBody>
          <a:bodyPr wrap="square" lIns="0" tIns="0" rIns="0" bIns="0" anchor="t">
            <a:spAutoFit/>
          </a:bodyPr>
          <a:lstStyle/>
          <a:p>
            <a:pPr algn="l">
              <a:spcBef>
                <a:spcPts val="0"/>
              </a:spcBef>
              <a:spcAft>
                <a:spcPts val="0"/>
              </a:spcAft>
            </a:pPr>
            <a:r>
              <a:rPr sz="1150" b="1" i="0">
                <a:solidFill>
                  <a:srgbClr val="001A41"/>
                </a:solidFill>
                <a:latin typeface="Century Gothic"/>
              </a:rPr>
              <a:t>El fill rate cierra en 88%</a:t>
            </a:r>
          </a:p>
        </p:txBody>
      </p:sp>
      <p:sp>
        <p:nvSpPr>
          <p:cNvPr id="31" name="TextBox 30"/>
          <p:cNvSpPr txBox="1"/>
          <p:nvPr/>
        </p:nvSpPr>
        <p:spPr>
          <a:xfrm>
            <a:off x="1545336" y="5541264"/>
            <a:ext cx="4114800" cy="512064"/>
          </a:xfrm>
          <a:prstGeom prst="rect">
            <a:avLst/>
          </a:prstGeom>
          <a:noFill/>
        </p:spPr>
        <p:txBody>
          <a:bodyPr wrap="square" lIns="0" tIns="0" rIns="0" bIns="0" anchor="t">
            <a:spAutoFit/>
          </a:bodyPr>
          <a:lstStyle/>
          <a:p>
            <a:pPr algn="l">
              <a:lnSpc>
                <a:spcPct val="112000"/>
              </a:lnSpc>
              <a:spcBef>
                <a:spcPts val="0"/>
              </a:spcBef>
              <a:spcAft>
                <a:spcPts val="0"/>
              </a:spcAft>
            </a:pPr>
            <a:r>
              <a:rPr sz="900" b="0" i="0">
                <a:solidFill>
                  <a:srgbClr val="39464F"/>
                </a:solidFill>
                <a:latin typeface="Century Gothic"/>
              </a:rPr>
              <a:t>Dos puntos bajo la meta comprometida con la casa matriz.</a:t>
            </a:r>
          </a:p>
        </p:txBody>
      </p:sp>
      <p:sp>
        <p:nvSpPr>
          <p:cNvPr id="32" name="Isosceles Triangle 31"/>
          <p:cNvSpPr/>
          <p:nvPr/>
        </p:nvSpPr>
        <p:spPr>
          <a:xfrm rot="5400000">
            <a:off x="5989320" y="5486400"/>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nip Single Corner Rectangle 32"/>
          <p:cNvSpPr/>
          <p:nvPr/>
        </p:nvSpPr>
        <p:spPr>
          <a:xfrm>
            <a:off x="6355080" y="5047488"/>
            <a:ext cx="5120640" cy="1060704"/>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4" name="TextBox 33"/>
          <p:cNvSpPr txBox="1"/>
          <p:nvPr/>
        </p:nvSpPr>
        <p:spPr>
          <a:xfrm>
            <a:off x="6629400" y="5266944"/>
            <a:ext cx="4572000" cy="658368"/>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152C47"/>
                </a:solidFill>
                <a:latin typeface="Century Gothic"/>
              </a:rPr>
              <a:t>Simulación del impacto sobre el fill rate antes de comprometer la compra.</a:t>
            </a:r>
          </a:p>
        </p:txBody>
      </p:sp>
      <p:sp>
        <p:nvSpPr>
          <p:cNvPr id="35" name="TextBox 3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Objetivos del negocio</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353312"/>
            <a:ext cx="10753344" cy="111556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Oval 4"/>
          <p:cNvSpPr/>
          <p:nvPr/>
        </p:nvSpPr>
        <p:spPr>
          <a:xfrm>
            <a:off x="1014984" y="1664208"/>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01</a:t>
            </a:r>
          </a:p>
        </p:txBody>
      </p:sp>
      <p:sp>
        <p:nvSpPr>
          <p:cNvPr id="6" name="TextBox 5"/>
          <p:cNvSpPr txBox="1"/>
          <p:nvPr/>
        </p:nvSpPr>
        <p:spPr>
          <a:xfrm>
            <a:off x="1691640" y="1591056"/>
            <a:ext cx="3200400" cy="603504"/>
          </a:xfrm>
          <a:prstGeom prst="rect">
            <a:avLst/>
          </a:prstGeom>
          <a:noFill/>
        </p:spPr>
        <p:txBody>
          <a:bodyPr wrap="square" lIns="0" tIns="0" rIns="0" bIns="0" anchor="t">
            <a:spAutoFit/>
          </a:bodyPr>
          <a:lstStyle/>
          <a:p>
            <a:pPr algn="l">
              <a:lnSpc>
                <a:spcPct val="105000"/>
              </a:lnSpc>
              <a:spcBef>
                <a:spcPts val="0"/>
              </a:spcBef>
              <a:spcAft>
                <a:spcPts val="0"/>
              </a:spcAft>
            </a:pPr>
            <a:r>
              <a:rPr sz="1300" b="1" i="0">
                <a:solidFill>
                  <a:srgbClr val="001A41"/>
                </a:solidFill>
                <a:latin typeface="Century Gothic"/>
              </a:rPr>
              <a:t>Alcanzar 90% de fill rate</a:t>
            </a:r>
          </a:p>
        </p:txBody>
      </p:sp>
      <p:sp>
        <p:nvSpPr>
          <p:cNvPr id="7" name="TextBox 6"/>
          <p:cNvSpPr txBox="1"/>
          <p:nvPr/>
        </p:nvSpPr>
        <p:spPr>
          <a:xfrm>
            <a:off x="5111496" y="1609344"/>
            <a:ext cx="3291840" cy="685800"/>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39464F"/>
                </a:solidFill>
                <a:latin typeface="Century Gothic"/>
              </a:rPr>
              <a:t>Cerrar diciembre de 2026 en la meta comprometida.</a:t>
            </a:r>
          </a:p>
        </p:txBody>
      </p:sp>
      <p:sp>
        <p:nvSpPr>
          <p:cNvPr id="8" name="Rectangle 7"/>
          <p:cNvSpPr/>
          <p:nvPr/>
        </p:nvSpPr>
        <p:spPr>
          <a:xfrm>
            <a:off x="8631936" y="1591056"/>
            <a:ext cx="18288" cy="65836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TextBox 8"/>
          <p:cNvSpPr txBox="1"/>
          <p:nvPr/>
        </p:nvSpPr>
        <p:spPr>
          <a:xfrm>
            <a:off x="8860536" y="1591056"/>
            <a:ext cx="2377440" cy="685800"/>
          </a:xfrm>
          <a:prstGeom prst="rect">
            <a:avLst/>
          </a:prstGeom>
          <a:noFill/>
        </p:spPr>
        <p:txBody>
          <a:bodyPr wrap="square" lIns="0" tIns="0" rIns="0" bIns="0" anchor="t">
            <a:spAutoFit/>
          </a:bodyPr>
          <a:lstStyle/>
          <a:p>
            <a:pPr algn="l">
              <a:spcBef>
                <a:spcPts val="0"/>
              </a:spcBef>
              <a:spcAft>
                <a:spcPts val="200"/>
              </a:spcAft>
            </a:pPr>
            <a:r>
              <a:rPr sz="800" b="1" i="0">
                <a:solidFill>
                  <a:srgbClr val="858A8C"/>
                </a:solidFill>
                <a:latin typeface="Century Gothic"/>
              </a:rPr>
              <a:t>INDICADOR</a:t>
            </a:r>
          </a:p>
          <a:p>
            <a:pPr algn="l">
              <a:lnSpc>
                <a:spcPct val="110000"/>
              </a:lnSpc>
              <a:spcBef>
                <a:spcPts val="0"/>
              </a:spcBef>
              <a:spcAft>
                <a:spcPts val="0"/>
              </a:spcAft>
            </a:pPr>
            <a:r>
              <a:rPr sz="900" b="0" i="0">
                <a:solidFill>
                  <a:srgbClr val="39464F"/>
                </a:solidFill>
                <a:latin typeface="Century Gothic"/>
              </a:rPr>
              <a:t>Fill rate mensual desde SAP, por segmento.</a:t>
            </a:r>
          </a:p>
        </p:txBody>
      </p:sp>
      <p:sp>
        <p:nvSpPr>
          <p:cNvPr id="10" name="Snip Single Corner Rectangle 9"/>
          <p:cNvSpPr/>
          <p:nvPr/>
        </p:nvSpPr>
        <p:spPr>
          <a:xfrm>
            <a:off x="722376" y="2578608"/>
            <a:ext cx="10753344" cy="111556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Oval 10"/>
          <p:cNvSpPr/>
          <p:nvPr/>
        </p:nvSpPr>
        <p:spPr>
          <a:xfrm>
            <a:off x="1014984" y="2889504"/>
            <a:ext cx="493776" cy="493776"/>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02</a:t>
            </a:r>
          </a:p>
        </p:txBody>
      </p:sp>
      <p:sp>
        <p:nvSpPr>
          <p:cNvPr id="12" name="TextBox 11"/>
          <p:cNvSpPr txBox="1"/>
          <p:nvPr/>
        </p:nvSpPr>
        <p:spPr>
          <a:xfrm>
            <a:off x="1691640" y="2816352"/>
            <a:ext cx="3200400" cy="603504"/>
          </a:xfrm>
          <a:prstGeom prst="rect">
            <a:avLst/>
          </a:prstGeom>
          <a:noFill/>
        </p:spPr>
        <p:txBody>
          <a:bodyPr wrap="square" lIns="0" tIns="0" rIns="0" bIns="0" anchor="t">
            <a:spAutoFit/>
          </a:bodyPr>
          <a:lstStyle/>
          <a:p>
            <a:pPr algn="l">
              <a:lnSpc>
                <a:spcPct val="105000"/>
              </a:lnSpc>
              <a:spcBef>
                <a:spcPts val="0"/>
              </a:spcBef>
              <a:spcAft>
                <a:spcPts val="0"/>
              </a:spcAft>
            </a:pPr>
            <a:r>
              <a:rPr sz="1300" b="1" i="0">
                <a:solidFill>
                  <a:srgbClr val="001A41"/>
                </a:solidFill>
                <a:latin typeface="Century Gothic"/>
              </a:rPr>
              <a:t>Reducir el error de proyección</a:t>
            </a:r>
          </a:p>
        </p:txBody>
      </p:sp>
      <p:sp>
        <p:nvSpPr>
          <p:cNvPr id="13" name="TextBox 12"/>
          <p:cNvSpPr txBox="1"/>
          <p:nvPr/>
        </p:nvSpPr>
        <p:spPr>
          <a:xfrm>
            <a:off x="5111496" y="2834640"/>
            <a:ext cx="3291840" cy="685800"/>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39464F"/>
                </a:solidFill>
                <a:latin typeface="Century Gothic"/>
              </a:rPr>
              <a:t>Mejorar el WMAPE frente al forecast vigente.</a:t>
            </a:r>
          </a:p>
        </p:txBody>
      </p:sp>
      <p:sp>
        <p:nvSpPr>
          <p:cNvPr id="14" name="Rectangle 13"/>
          <p:cNvSpPr/>
          <p:nvPr/>
        </p:nvSpPr>
        <p:spPr>
          <a:xfrm>
            <a:off x="8631936" y="2816352"/>
            <a:ext cx="18288" cy="65836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TextBox 14"/>
          <p:cNvSpPr txBox="1"/>
          <p:nvPr/>
        </p:nvSpPr>
        <p:spPr>
          <a:xfrm>
            <a:off x="8860536" y="2816352"/>
            <a:ext cx="2377440" cy="685800"/>
          </a:xfrm>
          <a:prstGeom prst="rect">
            <a:avLst/>
          </a:prstGeom>
          <a:noFill/>
        </p:spPr>
        <p:txBody>
          <a:bodyPr wrap="square" lIns="0" tIns="0" rIns="0" bIns="0" anchor="t">
            <a:spAutoFit/>
          </a:bodyPr>
          <a:lstStyle/>
          <a:p>
            <a:pPr algn="l">
              <a:spcBef>
                <a:spcPts val="0"/>
              </a:spcBef>
              <a:spcAft>
                <a:spcPts val="200"/>
              </a:spcAft>
            </a:pPr>
            <a:r>
              <a:rPr sz="800" b="1" i="0">
                <a:solidFill>
                  <a:srgbClr val="858A8C"/>
                </a:solidFill>
                <a:latin typeface="Century Gothic"/>
              </a:rPr>
              <a:t>INDICADOR</a:t>
            </a:r>
          </a:p>
          <a:p>
            <a:pPr algn="l">
              <a:lnSpc>
                <a:spcPct val="110000"/>
              </a:lnSpc>
              <a:spcBef>
                <a:spcPts val="0"/>
              </a:spcBef>
              <a:spcAft>
                <a:spcPts val="0"/>
              </a:spcAft>
            </a:pPr>
            <a:r>
              <a:rPr sz="900" b="0" i="0">
                <a:solidFill>
                  <a:srgbClr val="39464F"/>
                </a:solidFill>
                <a:latin typeface="Century Gothic"/>
              </a:rPr>
              <a:t>WMAPE N-1 y N-4 contra la línea base.</a:t>
            </a:r>
          </a:p>
        </p:txBody>
      </p:sp>
      <p:sp>
        <p:nvSpPr>
          <p:cNvPr id="16" name="Snip Single Corner Rectangle 15"/>
          <p:cNvSpPr/>
          <p:nvPr/>
        </p:nvSpPr>
        <p:spPr>
          <a:xfrm>
            <a:off x="722376" y="3803904"/>
            <a:ext cx="10753344" cy="111556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Oval 16"/>
          <p:cNvSpPr/>
          <p:nvPr/>
        </p:nvSpPr>
        <p:spPr>
          <a:xfrm>
            <a:off x="1014984" y="4114800"/>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03</a:t>
            </a:r>
          </a:p>
        </p:txBody>
      </p:sp>
      <p:sp>
        <p:nvSpPr>
          <p:cNvPr id="18" name="TextBox 17"/>
          <p:cNvSpPr txBox="1"/>
          <p:nvPr/>
        </p:nvSpPr>
        <p:spPr>
          <a:xfrm>
            <a:off x="1691640" y="4041648"/>
            <a:ext cx="3200400" cy="603504"/>
          </a:xfrm>
          <a:prstGeom prst="rect">
            <a:avLst/>
          </a:prstGeom>
          <a:noFill/>
        </p:spPr>
        <p:txBody>
          <a:bodyPr wrap="square" lIns="0" tIns="0" rIns="0" bIns="0" anchor="t">
            <a:spAutoFit/>
          </a:bodyPr>
          <a:lstStyle/>
          <a:p>
            <a:pPr algn="l">
              <a:lnSpc>
                <a:spcPct val="105000"/>
              </a:lnSpc>
              <a:spcBef>
                <a:spcPts val="0"/>
              </a:spcBef>
              <a:spcAft>
                <a:spcPts val="0"/>
              </a:spcAft>
            </a:pPr>
            <a:r>
              <a:rPr sz="1300" b="1" i="0">
                <a:solidFill>
                  <a:srgbClr val="001A41"/>
                </a:solidFill>
                <a:latin typeface="Century Gothic"/>
              </a:rPr>
              <a:t>Cubrir el catálogo completo</a:t>
            </a:r>
          </a:p>
        </p:txBody>
      </p:sp>
      <p:sp>
        <p:nvSpPr>
          <p:cNvPr id="19" name="TextBox 18"/>
          <p:cNvSpPr txBox="1"/>
          <p:nvPr/>
        </p:nvSpPr>
        <p:spPr>
          <a:xfrm>
            <a:off x="5111496" y="4059936"/>
            <a:ext cx="3291840" cy="685800"/>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39464F"/>
                </a:solidFill>
                <a:latin typeface="Century Gothic"/>
              </a:rPr>
              <a:t>Que los 225 mil códigos reciban proyección, no solo los 6.280 revisados.</a:t>
            </a:r>
          </a:p>
        </p:txBody>
      </p:sp>
      <p:sp>
        <p:nvSpPr>
          <p:cNvPr id="20" name="Rectangle 19"/>
          <p:cNvSpPr/>
          <p:nvPr/>
        </p:nvSpPr>
        <p:spPr>
          <a:xfrm>
            <a:off x="8631936" y="4041648"/>
            <a:ext cx="18288" cy="65836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8860536" y="4041648"/>
            <a:ext cx="2377440" cy="685800"/>
          </a:xfrm>
          <a:prstGeom prst="rect">
            <a:avLst/>
          </a:prstGeom>
          <a:noFill/>
        </p:spPr>
        <p:txBody>
          <a:bodyPr wrap="square" lIns="0" tIns="0" rIns="0" bIns="0" anchor="t">
            <a:spAutoFit/>
          </a:bodyPr>
          <a:lstStyle/>
          <a:p>
            <a:pPr algn="l">
              <a:spcBef>
                <a:spcPts val="0"/>
              </a:spcBef>
              <a:spcAft>
                <a:spcPts val="200"/>
              </a:spcAft>
            </a:pPr>
            <a:r>
              <a:rPr sz="800" b="1" i="0">
                <a:solidFill>
                  <a:srgbClr val="858A8C"/>
                </a:solidFill>
                <a:latin typeface="Century Gothic"/>
              </a:rPr>
              <a:t>INDICADOR</a:t>
            </a:r>
          </a:p>
          <a:p>
            <a:pPr algn="l">
              <a:lnSpc>
                <a:spcPct val="110000"/>
              </a:lnSpc>
              <a:spcBef>
                <a:spcPts val="0"/>
              </a:spcBef>
              <a:spcAft>
                <a:spcPts val="0"/>
              </a:spcAft>
            </a:pPr>
            <a:r>
              <a:rPr sz="900" b="0" i="0">
                <a:solidFill>
                  <a:srgbClr val="39464F"/>
                </a:solidFill>
                <a:latin typeface="Century Gothic"/>
              </a:rPr>
              <a:t>% de códigos activos con proyección.</a:t>
            </a:r>
          </a:p>
        </p:txBody>
      </p:sp>
      <p:sp>
        <p:nvSpPr>
          <p:cNvPr id="22" name="Snip Single Corner Rectangle 21"/>
          <p:cNvSpPr/>
          <p:nvPr/>
        </p:nvSpPr>
        <p:spPr>
          <a:xfrm>
            <a:off x="722376" y="5029200"/>
            <a:ext cx="10753344" cy="111556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3" name="Oval 22"/>
          <p:cNvSpPr/>
          <p:nvPr/>
        </p:nvSpPr>
        <p:spPr>
          <a:xfrm>
            <a:off x="1014984" y="5340096"/>
            <a:ext cx="493776" cy="493776"/>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04</a:t>
            </a:r>
          </a:p>
        </p:txBody>
      </p:sp>
      <p:sp>
        <p:nvSpPr>
          <p:cNvPr id="24" name="TextBox 23"/>
          <p:cNvSpPr txBox="1"/>
          <p:nvPr/>
        </p:nvSpPr>
        <p:spPr>
          <a:xfrm>
            <a:off x="1691640" y="5266944"/>
            <a:ext cx="3200400" cy="603504"/>
          </a:xfrm>
          <a:prstGeom prst="rect">
            <a:avLst/>
          </a:prstGeom>
          <a:noFill/>
        </p:spPr>
        <p:txBody>
          <a:bodyPr wrap="square" lIns="0" tIns="0" rIns="0" bIns="0" anchor="t">
            <a:spAutoFit/>
          </a:bodyPr>
          <a:lstStyle/>
          <a:p>
            <a:pPr algn="l">
              <a:lnSpc>
                <a:spcPct val="105000"/>
              </a:lnSpc>
              <a:spcBef>
                <a:spcPts val="0"/>
              </a:spcBef>
              <a:spcAft>
                <a:spcPts val="0"/>
              </a:spcAft>
            </a:pPr>
            <a:r>
              <a:rPr sz="1300" b="1" i="0">
                <a:solidFill>
                  <a:srgbClr val="001A41"/>
                </a:solidFill>
                <a:latin typeface="Century Gothic"/>
              </a:rPr>
              <a:t>Autonomía del usuario</a:t>
            </a:r>
          </a:p>
        </p:txBody>
      </p:sp>
      <p:sp>
        <p:nvSpPr>
          <p:cNvPr id="25" name="TextBox 24"/>
          <p:cNvSpPr txBox="1"/>
          <p:nvPr/>
        </p:nvSpPr>
        <p:spPr>
          <a:xfrm>
            <a:off x="5111496" y="5285232"/>
            <a:ext cx="3291840" cy="685800"/>
          </a:xfrm>
          <a:prstGeom prst="rect">
            <a:avLst/>
          </a:prstGeom>
          <a:noFill/>
        </p:spPr>
        <p:txBody>
          <a:bodyPr wrap="square" lIns="0" tIns="0" rIns="0" bIns="0" anchor="t">
            <a:spAutoFit/>
          </a:bodyPr>
          <a:lstStyle/>
          <a:p>
            <a:pPr algn="l">
              <a:lnSpc>
                <a:spcPct val="115000"/>
              </a:lnSpc>
              <a:spcBef>
                <a:spcPts val="0"/>
              </a:spcBef>
              <a:spcAft>
                <a:spcPts val="0"/>
              </a:spcAft>
            </a:pPr>
            <a:r>
              <a:rPr sz="1000" b="0" i="0">
                <a:solidFill>
                  <a:srgbClr val="39464F"/>
                </a:solidFill>
                <a:latin typeface="Century Gothic"/>
              </a:rPr>
              <a:t>Que planificación y compras operen la herramienta sin apoyo técnico.</a:t>
            </a:r>
          </a:p>
        </p:txBody>
      </p:sp>
      <p:sp>
        <p:nvSpPr>
          <p:cNvPr id="26" name="Rectangle 25"/>
          <p:cNvSpPr/>
          <p:nvPr/>
        </p:nvSpPr>
        <p:spPr>
          <a:xfrm>
            <a:off x="8631936" y="5266944"/>
            <a:ext cx="18288" cy="65836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7" name="TextBox 26"/>
          <p:cNvSpPr txBox="1"/>
          <p:nvPr/>
        </p:nvSpPr>
        <p:spPr>
          <a:xfrm>
            <a:off x="8860536" y="5266944"/>
            <a:ext cx="2377440" cy="685800"/>
          </a:xfrm>
          <a:prstGeom prst="rect">
            <a:avLst/>
          </a:prstGeom>
          <a:noFill/>
        </p:spPr>
        <p:txBody>
          <a:bodyPr wrap="square" lIns="0" tIns="0" rIns="0" bIns="0" anchor="t">
            <a:spAutoFit/>
          </a:bodyPr>
          <a:lstStyle/>
          <a:p>
            <a:pPr algn="l">
              <a:spcBef>
                <a:spcPts val="0"/>
              </a:spcBef>
              <a:spcAft>
                <a:spcPts val="200"/>
              </a:spcAft>
            </a:pPr>
            <a:r>
              <a:rPr sz="800" b="1" i="0">
                <a:solidFill>
                  <a:srgbClr val="858A8C"/>
                </a:solidFill>
                <a:latin typeface="Century Gothic"/>
              </a:rPr>
              <a:t>INDICADOR</a:t>
            </a:r>
          </a:p>
          <a:p>
            <a:pPr algn="l">
              <a:lnSpc>
                <a:spcPct val="110000"/>
              </a:lnSpc>
              <a:spcBef>
                <a:spcPts val="0"/>
              </a:spcBef>
              <a:spcAft>
                <a:spcPts val="0"/>
              </a:spcAft>
            </a:pPr>
            <a:r>
              <a:rPr sz="900" b="0" i="0">
                <a:solidFill>
                  <a:srgbClr val="39464F"/>
                </a:solidFill>
                <a:latin typeface="Century Gothic"/>
              </a:rPr>
              <a:t>Consultas y descargas hechas por el negocio.</a:t>
            </a:r>
          </a:p>
        </p:txBody>
      </p:sp>
      <p:sp>
        <p:nvSpPr>
          <p:cNvPr id="28" name="TextBox 27"/>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783080"/>
            <a:ext cx="7863840" cy="320040"/>
          </a:xfrm>
          <a:prstGeom prst="rect">
            <a:avLst/>
          </a:prstGeom>
          <a:noFill/>
        </p:spPr>
        <p:txBody>
          <a:bodyPr wrap="square" lIns="0" tIns="0" rIns="0" bIns="0" anchor="t">
            <a:spAutoFit/>
          </a:bodyPr>
          <a:lstStyle/>
          <a:p>
            <a:pPr algn="l">
              <a:spcBef>
                <a:spcPts val="0"/>
              </a:spcBef>
              <a:spcAft>
                <a:spcPts val="0"/>
              </a:spcAft>
            </a:pPr>
            <a:r>
              <a:rPr sz="1200" b="1" i="0">
                <a:solidFill>
                  <a:srgbClr val="19BDE6"/>
                </a:solidFill>
                <a:latin typeface="Century Gothic"/>
              </a:rPr>
              <a:t>02</a:t>
            </a:r>
          </a:p>
        </p:txBody>
      </p:sp>
      <p:sp>
        <p:nvSpPr>
          <p:cNvPr id="3" name="TextBox 2"/>
          <p:cNvSpPr txBox="1"/>
          <p:nvPr/>
        </p:nvSpPr>
        <p:spPr>
          <a:xfrm>
            <a:off x="722376" y="2240280"/>
            <a:ext cx="8595360" cy="2103120"/>
          </a:xfrm>
          <a:prstGeom prst="rect">
            <a:avLst/>
          </a:prstGeom>
          <a:noFill/>
        </p:spPr>
        <p:txBody>
          <a:bodyPr wrap="square" lIns="0" tIns="0" rIns="0" bIns="0" anchor="t">
            <a:spAutoFit/>
          </a:bodyPr>
          <a:lstStyle/>
          <a:p>
            <a:pPr algn="l">
              <a:lnSpc>
                <a:spcPct val="100000"/>
              </a:lnSpc>
              <a:spcBef>
                <a:spcPts val="0"/>
              </a:spcBef>
              <a:spcAft>
                <a:spcPts val="0"/>
              </a:spcAft>
            </a:pPr>
            <a:r>
              <a:rPr sz="3800" b="1" i="0">
                <a:solidFill>
                  <a:srgbClr val="FFFFFF"/>
                </a:solidFill>
                <a:latin typeface="Century Gothic"/>
              </a:rPr>
              <a:t>CLIENTE</a:t>
            </a:r>
          </a:p>
          <a:p>
            <a:pPr algn="l">
              <a:lnSpc>
                <a:spcPct val="100000"/>
              </a:lnSpc>
              <a:spcBef>
                <a:spcPts val="0"/>
              </a:spcBef>
              <a:spcAft>
                <a:spcPts val="0"/>
              </a:spcAft>
            </a:pPr>
            <a:r>
              <a:rPr sz="3800" b="1" i="0">
                <a:solidFill>
                  <a:srgbClr val="FFFFFF"/>
                </a:solidFill>
                <a:latin typeface="Century Gothic"/>
              </a:rPr>
              <a:t>Y PROYECTO</a:t>
            </a:r>
          </a:p>
        </p:txBody>
      </p:sp>
      <p:sp>
        <p:nvSpPr>
          <p:cNvPr id="4" name="TextBox 3"/>
          <p:cNvSpPr txBox="1"/>
          <p:nvPr/>
        </p:nvSpPr>
        <p:spPr>
          <a:xfrm>
            <a:off x="722376" y="4709160"/>
            <a:ext cx="7680960" cy="82296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19BDE6"/>
                </a:solidFill>
                <a:latin typeface="Century Gothic"/>
              </a:rPr>
              <a:t>Quién paga la herramienta, quién la usa y qué vamos a construir.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Cliente y usuarios</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3511296" cy="214884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996696" y="1426464"/>
            <a:ext cx="2962656" cy="274320"/>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CLIENTE / SPONSOR</a:t>
            </a:r>
          </a:p>
        </p:txBody>
      </p:sp>
      <p:sp>
        <p:nvSpPr>
          <p:cNvPr id="6" name="TextBox 5"/>
          <p:cNvSpPr txBox="1"/>
          <p:nvPr/>
        </p:nvSpPr>
        <p:spPr>
          <a:xfrm>
            <a:off x="996696" y="1755648"/>
            <a:ext cx="2962656" cy="453907"/>
          </a:xfrm>
          <a:prstGeom prst="rect">
            <a:avLst/>
          </a:prstGeom>
          <a:noFill/>
        </p:spPr>
        <p:txBody>
          <a:bodyPr wrap="square" lIns="0" tIns="0" rIns="0" bIns="0" anchor="t">
            <a:spAutoFit/>
          </a:bodyPr>
          <a:lstStyle/>
          <a:p>
            <a:pPr algn="l">
              <a:lnSpc>
                <a:spcPct val="110000"/>
              </a:lnSpc>
              <a:spcBef>
                <a:spcPts val="0"/>
              </a:spcBef>
              <a:spcAft>
                <a:spcPts val="0"/>
              </a:spcAft>
            </a:pPr>
            <a:r>
              <a:rPr sz="1400" b="1" i="0" dirty="0" err="1">
                <a:solidFill>
                  <a:srgbClr val="FFFFFF"/>
                </a:solidFill>
                <a:latin typeface="Century Gothic"/>
              </a:rPr>
              <a:t>Gerencia</a:t>
            </a:r>
            <a:r>
              <a:rPr sz="1400" b="1" i="0" dirty="0">
                <a:solidFill>
                  <a:srgbClr val="FFFFFF"/>
                </a:solidFill>
                <a:latin typeface="Century Gothic"/>
              </a:rPr>
              <a:t> de </a:t>
            </a:r>
            <a:r>
              <a:rPr lang="es-CL" sz="1400" b="1" i="0" dirty="0">
                <a:solidFill>
                  <a:srgbClr val="FFFFFF"/>
                </a:solidFill>
                <a:latin typeface="Century Gothic"/>
              </a:rPr>
              <a:t>Panificación</a:t>
            </a:r>
            <a:r>
              <a:rPr sz="1400" b="1" i="0" dirty="0">
                <a:solidFill>
                  <a:srgbClr val="FFFFFF"/>
                </a:solidFill>
                <a:latin typeface="Century Gothic"/>
              </a:rPr>
              <a:t>
y </a:t>
            </a:r>
            <a:r>
              <a:rPr lang="es-CL" sz="1400" b="1" dirty="0">
                <a:solidFill>
                  <a:srgbClr val="FFFFFF"/>
                </a:solidFill>
                <a:latin typeface="Century Gothic"/>
              </a:rPr>
              <a:t>Demanda</a:t>
            </a:r>
            <a:endParaRPr sz="1400" b="1" i="0" dirty="0">
              <a:solidFill>
                <a:srgbClr val="FFFFFF"/>
              </a:solidFill>
              <a:latin typeface="Century Gothic"/>
            </a:endParaRPr>
          </a:p>
        </p:txBody>
      </p:sp>
      <p:sp>
        <p:nvSpPr>
          <p:cNvPr id="7" name="TextBox 6"/>
          <p:cNvSpPr txBox="1"/>
          <p:nvPr/>
        </p:nvSpPr>
        <p:spPr>
          <a:xfrm>
            <a:off x="996696" y="2414016"/>
            <a:ext cx="2962656"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9FB3C8"/>
                </a:solidFill>
                <a:latin typeface="Century Gothic"/>
              </a:rPr>
              <a:t>Es quien tiene comprometida la meta de 90% con la casa matriz, quien autoriza el acceso a los datos y quien absorbe el costo de operar la herramienta.</a:t>
            </a:r>
          </a:p>
        </p:txBody>
      </p:sp>
      <p:sp>
        <p:nvSpPr>
          <p:cNvPr id="9" name="TextBox 8"/>
          <p:cNvSpPr txBox="1"/>
          <p:nvPr/>
        </p:nvSpPr>
        <p:spPr>
          <a:xfrm>
            <a:off x="4672583" y="1426464"/>
            <a:ext cx="2962656" cy="274320"/>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USUARIOS DE LA HERRAMIENTA</a:t>
            </a:r>
          </a:p>
        </p:txBody>
      </p:sp>
      <p:sp>
        <p:nvSpPr>
          <p:cNvPr id="10" name="Oval 9"/>
          <p:cNvSpPr/>
          <p:nvPr/>
        </p:nvSpPr>
        <p:spPr>
          <a:xfrm>
            <a:off x="4672583" y="1828800"/>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TextBox 10"/>
          <p:cNvSpPr txBox="1"/>
          <p:nvPr/>
        </p:nvSpPr>
        <p:spPr>
          <a:xfrm>
            <a:off x="4873752" y="1755648"/>
            <a:ext cx="2734056" cy="548640"/>
          </a:xfrm>
          <a:prstGeom prst="rect">
            <a:avLst/>
          </a:prstGeom>
          <a:noFill/>
        </p:spPr>
        <p:txBody>
          <a:bodyPr wrap="square" lIns="0" tIns="0" rIns="0" bIns="0" anchor="t">
            <a:spAutoFit/>
          </a:bodyPr>
          <a:lstStyle/>
          <a:p>
            <a:pPr algn="l">
              <a:spcBef>
                <a:spcPts val="0"/>
              </a:spcBef>
              <a:spcAft>
                <a:spcPts val="100"/>
              </a:spcAft>
            </a:pPr>
            <a:r>
              <a:rPr sz="1050" b="1" i="0">
                <a:solidFill>
                  <a:srgbClr val="001A41"/>
                </a:solidFill>
                <a:latin typeface="Century Gothic"/>
              </a:rPr>
              <a:t>Planificador de repuestos</a:t>
            </a:r>
          </a:p>
          <a:p>
            <a:pPr algn="l">
              <a:lnSpc>
                <a:spcPct val="110000"/>
              </a:lnSpc>
              <a:spcBef>
                <a:spcPts val="0"/>
              </a:spcBef>
              <a:spcAft>
                <a:spcPts val="0"/>
              </a:spcAft>
            </a:pPr>
            <a:r>
              <a:rPr sz="900" b="0" i="0">
                <a:solidFill>
                  <a:srgbClr val="39464F"/>
                </a:solidFill>
                <a:latin typeface="Century Gothic"/>
              </a:rPr>
              <a:t>Uso principal: ejecuta la carga y revisa la proyección.</a:t>
            </a:r>
          </a:p>
        </p:txBody>
      </p:sp>
      <p:sp>
        <p:nvSpPr>
          <p:cNvPr id="14" name="Oval 13"/>
          <p:cNvSpPr/>
          <p:nvPr/>
        </p:nvSpPr>
        <p:spPr>
          <a:xfrm>
            <a:off x="4672583" y="2538803"/>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TextBox 14"/>
          <p:cNvSpPr txBox="1"/>
          <p:nvPr/>
        </p:nvSpPr>
        <p:spPr>
          <a:xfrm>
            <a:off x="4873752" y="2465651"/>
            <a:ext cx="2734056" cy="548640"/>
          </a:xfrm>
          <a:prstGeom prst="rect">
            <a:avLst/>
          </a:prstGeom>
          <a:noFill/>
        </p:spPr>
        <p:txBody>
          <a:bodyPr wrap="square" lIns="0" tIns="0" rIns="0" bIns="0" anchor="t">
            <a:spAutoFit/>
          </a:bodyPr>
          <a:lstStyle/>
          <a:p>
            <a:pPr algn="l">
              <a:spcBef>
                <a:spcPts val="0"/>
              </a:spcBef>
              <a:spcAft>
                <a:spcPts val="100"/>
              </a:spcAft>
            </a:pPr>
            <a:r>
              <a:rPr sz="1050" b="1" i="0">
                <a:solidFill>
                  <a:srgbClr val="001A41"/>
                </a:solidFill>
                <a:latin typeface="Century Gothic"/>
              </a:rPr>
              <a:t>Jefatura de postventa</a:t>
            </a:r>
          </a:p>
          <a:p>
            <a:pPr algn="l">
              <a:lnSpc>
                <a:spcPct val="110000"/>
              </a:lnSpc>
              <a:spcBef>
                <a:spcPts val="0"/>
              </a:spcBef>
              <a:spcAft>
                <a:spcPts val="0"/>
              </a:spcAft>
            </a:pPr>
            <a:r>
              <a:rPr sz="900" b="0" i="0">
                <a:solidFill>
                  <a:srgbClr val="39464F"/>
                </a:solidFill>
                <a:latin typeface="Century Gothic"/>
              </a:rPr>
              <a:t>Sigue el fill rate y el error del modelo.</a:t>
            </a:r>
          </a:p>
        </p:txBody>
      </p:sp>
      <p:sp>
        <p:nvSpPr>
          <p:cNvPr id="16" name="Snip Single Corner Rectangle 15"/>
          <p:cNvSpPr/>
          <p:nvPr/>
        </p:nvSpPr>
        <p:spPr>
          <a:xfrm>
            <a:off x="8065008" y="1207008"/>
            <a:ext cx="3511296" cy="214884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TextBox 16"/>
          <p:cNvSpPr txBox="1"/>
          <p:nvPr/>
        </p:nvSpPr>
        <p:spPr>
          <a:xfrm>
            <a:off x="8339328" y="1426464"/>
            <a:ext cx="2962656" cy="274320"/>
          </a:xfrm>
          <a:prstGeom prst="rect">
            <a:avLst/>
          </a:prstGeom>
          <a:noFill/>
        </p:spPr>
        <p:txBody>
          <a:bodyPr wrap="square" lIns="0" tIns="0" rIns="0" bIns="0" anchor="t">
            <a:spAutoFit/>
          </a:bodyPr>
          <a:lstStyle/>
          <a:p>
            <a:pPr algn="l">
              <a:spcBef>
                <a:spcPts val="0"/>
              </a:spcBef>
              <a:spcAft>
                <a:spcPts val="0"/>
              </a:spcAft>
            </a:pPr>
            <a:r>
              <a:rPr sz="900" b="1" i="0">
                <a:solidFill>
                  <a:srgbClr val="858A8C"/>
                </a:solidFill>
                <a:latin typeface="Century Gothic"/>
              </a:rPr>
              <a:t>BENEFICIARIO FINAL</a:t>
            </a:r>
          </a:p>
        </p:txBody>
      </p:sp>
      <p:sp>
        <p:nvSpPr>
          <p:cNvPr id="18" name="TextBox 17"/>
          <p:cNvSpPr txBox="1"/>
          <p:nvPr/>
        </p:nvSpPr>
        <p:spPr>
          <a:xfrm>
            <a:off x="8339328" y="1773936"/>
            <a:ext cx="2962656" cy="1463040"/>
          </a:xfrm>
          <a:prstGeom prst="rect">
            <a:avLst/>
          </a:prstGeom>
          <a:noFill/>
        </p:spPr>
        <p:txBody>
          <a:bodyPr wrap="square" lIns="0" tIns="0" rIns="0" bIns="0" anchor="t">
            <a:spAutoFit/>
          </a:bodyPr>
          <a:lstStyle/>
          <a:p>
            <a:pPr algn="l">
              <a:lnSpc>
                <a:spcPct val="115000"/>
              </a:lnSpc>
              <a:spcBef>
                <a:spcPts val="0"/>
              </a:spcBef>
              <a:spcAft>
                <a:spcPts val="800"/>
              </a:spcAft>
            </a:pPr>
            <a:r>
              <a:rPr sz="950" b="0" i="0">
                <a:solidFill>
                  <a:srgbClr val="39464F"/>
                </a:solidFill>
                <a:latin typeface="Century Gothic"/>
              </a:rPr>
              <a:t>La red de talleres y concesionarios, que recupera capacidad de atención, y el cliente final con el vehículo detenido, que es quien hoy asume la espera.</a:t>
            </a:r>
          </a:p>
          <a:p>
            <a:pPr algn="l">
              <a:lnSpc>
                <a:spcPct val="115000"/>
              </a:lnSpc>
              <a:spcBef>
                <a:spcPts val="0"/>
              </a:spcBef>
              <a:spcAft>
                <a:spcPts val="0"/>
              </a:spcAft>
            </a:pPr>
            <a:r>
              <a:rPr sz="900" b="0" i="1">
                <a:solidFill>
                  <a:srgbClr val="858A8C"/>
                </a:solidFill>
                <a:latin typeface="Century Gothic"/>
              </a:rPr>
              <a:t>No usan la herramienta, pero son quienes perciben el resultado.</a:t>
            </a:r>
          </a:p>
        </p:txBody>
      </p:sp>
      <p:sp>
        <p:nvSpPr>
          <p:cNvPr id="19" name="TextBox 18"/>
          <p:cNvSpPr txBox="1"/>
          <p:nvPr/>
        </p:nvSpPr>
        <p:spPr>
          <a:xfrm>
            <a:off x="722376" y="3675887"/>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Quién paga la herramienta</a:t>
            </a:r>
          </a:p>
        </p:txBody>
      </p:sp>
      <p:sp>
        <p:nvSpPr>
          <p:cNvPr id="20" name="Snip Single Corner Rectangle 19"/>
          <p:cNvSpPr/>
          <p:nvPr/>
        </p:nvSpPr>
        <p:spPr>
          <a:xfrm>
            <a:off x="722376" y="4059936"/>
            <a:ext cx="2564892" cy="137160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960120" y="4242816"/>
            <a:ext cx="2107692" cy="256032"/>
          </a:xfrm>
          <a:prstGeom prst="rect">
            <a:avLst/>
          </a:prstGeom>
          <a:noFill/>
        </p:spPr>
        <p:txBody>
          <a:bodyPr wrap="square" lIns="0" tIns="0" rIns="0" bIns="0" anchor="t">
            <a:spAutoFit/>
          </a:bodyPr>
          <a:lstStyle/>
          <a:p>
            <a:pPr algn="l">
              <a:spcBef>
                <a:spcPts val="0"/>
              </a:spcBef>
              <a:spcAft>
                <a:spcPts val="0"/>
              </a:spcAft>
            </a:pPr>
            <a:r>
              <a:rPr sz="1000" b="1" i="0">
                <a:solidFill>
                  <a:srgbClr val="858A8C"/>
                </a:solidFill>
                <a:latin typeface="Century Gothic"/>
              </a:rPr>
              <a:t>DESARROLLO</a:t>
            </a:r>
          </a:p>
        </p:txBody>
      </p:sp>
      <p:sp>
        <p:nvSpPr>
          <p:cNvPr id="22" name="TextBox 21"/>
          <p:cNvSpPr txBox="1"/>
          <p:nvPr/>
        </p:nvSpPr>
        <p:spPr>
          <a:xfrm>
            <a:off x="960120" y="4535424"/>
            <a:ext cx="2107692" cy="347472"/>
          </a:xfrm>
          <a:prstGeom prst="rect">
            <a:avLst/>
          </a:prstGeom>
          <a:noFill/>
        </p:spPr>
        <p:txBody>
          <a:bodyPr wrap="square" lIns="0" tIns="0" rIns="0" bIns="0" anchor="t">
            <a:spAutoFit/>
          </a:bodyPr>
          <a:lstStyle/>
          <a:p>
            <a:pPr algn="l">
              <a:lnSpc>
                <a:spcPct val="100000"/>
              </a:lnSpc>
              <a:spcBef>
                <a:spcPts val="0"/>
              </a:spcBef>
              <a:spcAft>
                <a:spcPts val="0"/>
              </a:spcAft>
            </a:pPr>
            <a:r>
              <a:rPr sz="1900" b="1" i="0">
                <a:solidFill>
                  <a:srgbClr val="001A41"/>
                </a:solidFill>
                <a:latin typeface="Century Gothic"/>
              </a:rPr>
              <a:t>$0</a:t>
            </a:r>
          </a:p>
        </p:txBody>
      </p:sp>
      <p:sp>
        <p:nvSpPr>
          <p:cNvPr id="23" name="TextBox 22"/>
          <p:cNvSpPr txBox="1"/>
          <p:nvPr/>
        </p:nvSpPr>
        <p:spPr>
          <a:xfrm>
            <a:off x="960120" y="4956048"/>
            <a:ext cx="2107692" cy="420624"/>
          </a:xfrm>
          <a:prstGeom prst="rect">
            <a:avLst/>
          </a:prstGeom>
          <a:noFill/>
        </p:spPr>
        <p:txBody>
          <a:bodyPr wrap="square" lIns="0" tIns="0" rIns="0" bIns="0" anchor="t">
            <a:spAutoFit/>
          </a:bodyPr>
          <a:lstStyle/>
          <a:p>
            <a:pPr algn="l">
              <a:lnSpc>
                <a:spcPct val="112000"/>
              </a:lnSpc>
              <a:spcBef>
                <a:spcPts val="0"/>
              </a:spcBef>
              <a:spcAft>
                <a:spcPts val="0"/>
              </a:spcAft>
            </a:pPr>
            <a:r>
              <a:rPr sz="850" b="0" i="0">
                <a:solidFill>
                  <a:srgbClr val="39464F"/>
                </a:solidFill>
                <a:latin typeface="Century Gothic"/>
              </a:rPr>
              <a:t>Se ejecuta como Proyecto APT dentro de la asignatura.</a:t>
            </a:r>
          </a:p>
        </p:txBody>
      </p:sp>
      <p:sp>
        <p:nvSpPr>
          <p:cNvPr id="24" name="Snip Single Corner Rectangle 23"/>
          <p:cNvSpPr/>
          <p:nvPr/>
        </p:nvSpPr>
        <p:spPr>
          <a:xfrm>
            <a:off x="3451860" y="4059936"/>
            <a:ext cx="2564892" cy="13716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TextBox 24"/>
          <p:cNvSpPr txBox="1"/>
          <p:nvPr/>
        </p:nvSpPr>
        <p:spPr>
          <a:xfrm>
            <a:off x="3689604" y="4242816"/>
            <a:ext cx="2107692" cy="256032"/>
          </a:xfrm>
          <a:prstGeom prst="rect">
            <a:avLst/>
          </a:prstGeom>
          <a:noFill/>
        </p:spPr>
        <p:txBody>
          <a:bodyPr wrap="square" lIns="0" tIns="0" rIns="0" bIns="0" anchor="t">
            <a:spAutoFit/>
          </a:bodyPr>
          <a:lstStyle/>
          <a:p>
            <a:pPr algn="l">
              <a:spcBef>
                <a:spcPts val="0"/>
              </a:spcBef>
              <a:spcAft>
                <a:spcPts val="0"/>
              </a:spcAft>
            </a:pPr>
            <a:r>
              <a:rPr sz="1000" b="1" i="0">
                <a:solidFill>
                  <a:srgbClr val="858A8C"/>
                </a:solidFill>
                <a:latin typeface="Century Gothic"/>
              </a:rPr>
              <a:t>LICENCIAS</a:t>
            </a:r>
          </a:p>
        </p:txBody>
      </p:sp>
      <p:sp>
        <p:nvSpPr>
          <p:cNvPr id="26" name="TextBox 25"/>
          <p:cNvSpPr txBox="1"/>
          <p:nvPr/>
        </p:nvSpPr>
        <p:spPr>
          <a:xfrm>
            <a:off x="3689604" y="4535424"/>
            <a:ext cx="2107692" cy="347472"/>
          </a:xfrm>
          <a:prstGeom prst="rect">
            <a:avLst/>
          </a:prstGeom>
          <a:noFill/>
        </p:spPr>
        <p:txBody>
          <a:bodyPr wrap="square" lIns="0" tIns="0" rIns="0" bIns="0" anchor="t">
            <a:spAutoFit/>
          </a:bodyPr>
          <a:lstStyle/>
          <a:p>
            <a:pPr algn="l">
              <a:lnSpc>
                <a:spcPct val="100000"/>
              </a:lnSpc>
              <a:spcBef>
                <a:spcPts val="0"/>
              </a:spcBef>
              <a:spcAft>
                <a:spcPts val="0"/>
              </a:spcAft>
            </a:pPr>
            <a:r>
              <a:rPr sz="1900" b="1" i="0">
                <a:solidFill>
                  <a:srgbClr val="19BDE6"/>
                </a:solidFill>
                <a:latin typeface="Century Gothic"/>
              </a:rPr>
              <a:t>$0</a:t>
            </a:r>
          </a:p>
        </p:txBody>
      </p:sp>
      <p:sp>
        <p:nvSpPr>
          <p:cNvPr id="27" name="TextBox 26"/>
          <p:cNvSpPr txBox="1"/>
          <p:nvPr/>
        </p:nvSpPr>
        <p:spPr>
          <a:xfrm>
            <a:off x="3689604" y="4956048"/>
            <a:ext cx="2107692" cy="420624"/>
          </a:xfrm>
          <a:prstGeom prst="rect">
            <a:avLst/>
          </a:prstGeom>
          <a:noFill/>
        </p:spPr>
        <p:txBody>
          <a:bodyPr wrap="square" lIns="0" tIns="0" rIns="0" bIns="0" anchor="t">
            <a:spAutoFit/>
          </a:bodyPr>
          <a:lstStyle/>
          <a:p>
            <a:pPr algn="l">
              <a:lnSpc>
                <a:spcPct val="112000"/>
              </a:lnSpc>
              <a:spcBef>
                <a:spcPts val="0"/>
              </a:spcBef>
              <a:spcAft>
                <a:spcPts val="0"/>
              </a:spcAft>
            </a:pPr>
            <a:r>
              <a:rPr sz="850" b="0" i="0">
                <a:solidFill>
                  <a:srgbClr val="39464F"/>
                </a:solidFill>
                <a:latin typeface="Century Gothic"/>
              </a:rPr>
              <a:t>Python, Streamlit y librerías de código abierto.</a:t>
            </a:r>
          </a:p>
        </p:txBody>
      </p:sp>
      <p:sp>
        <p:nvSpPr>
          <p:cNvPr id="28" name="Snip Single Corner Rectangle 27"/>
          <p:cNvSpPr/>
          <p:nvPr/>
        </p:nvSpPr>
        <p:spPr>
          <a:xfrm>
            <a:off x="6181344" y="4059936"/>
            <a:ext cx="2564892" cy="137160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9" name="TextBox 28"/>
          <p:cNvSpPr txBox="1"/>
          <p:nvPr/>
        </p:nvSpPr>
        <p:spPr>
          <a:xfrm>
            <a:off x="6419088" y="4242816"/>
            <a:ext cx="2107692" cy="256032"/>
          </a:xfrm>
          <a:prstGeom prst="rect">
            <a:avLst/>
          </a:prstGeom>
          <a:noFill/>
        </p:spPr>
        <p:txBody>
          <a:bodyPr wrap="square" lIns="0" tIns="0" rIns="0" bIns="0" anchor="t">
            <a:spAutoFit/>
          </a:bodyPr>
          <a:lstStyle/>
          <a:p>
            <a:pPr algn="l">
              <a:spcBef>
                <a:spcPts val="0"/>
              </a:spcBef>
              <a:spcAft>
                <a:spcPts val="0"/>
              </a:spcAft>
            </a:pPr>
            <a:r>
              <a:rPr sz="1000" b="1" i="0">
                <a:solidFill>
                  <a:srgbClr val="858A8C"/>
                </a:solidFill>
                <a:latin typeface="Century Gothic"/>
              </a:rPr>
              <a:t>INFRAESTRUCTURA</a:t>
            </a:r>
          </a:p>
        </p:txBody>
      </p:sp>
      <p:sp>
        <p:nvSpPr>
          <p:cNvPr id="30" name="TextBox 29"/>
          <p:cNvSpPr txBox="1"/>
          <p:nvPr/>
        </p:nvSpPr>
        <p:spPr>
          <a:xfrm>
            <a:off x="6419088" y="4535424"/>
            <a:ext cx="2107692" cy="347472"/>
          </a:xfrm>
          <a:prstGeom prst="rect">
            <a:avLst/>
          </a:prstGeom>
          <a:noFill/>
        </p:spPr>
        <p:txBody>
          <a:bodyPr wrap="square" lIns="0" tIns="0" rIns="0" bIns="0" anchor="t">
            <a:spAutoFit/>
          </a:bodyPr>
          <a:lstStyle/>
          <a:p>
            <a:pPr algn="l">
              <a:lnSpc>
                <a:spcPct val="100000"/>
              </a:lnSpc>
              <a:spcBef>
                <a:spcPts val="0"/>
              </a:spcBef>
              <a:spcAft>
                <a:spcPts val="0"/>
              </a:spcAft>
            </a:pPr>
            <a:r>
              <a:rPr sz="1900" b="1" i="0">
                <a:solidFill>
                  <a:srgbClr val="001A41"/>
                </a:solidFill>
                <a:latin typeface="Century Gothic"/>
              </a:rPr>
              <a:t>$0</a:t>
            </a:r>
          </a:p>
        </p:txBody>
      </p:sp>
      <p:sp>
        <p:nvSpPr>
          <p:cNvPr id="31" name="TextBox 30"/>
          <p:cNvSpPr txBox="1"/>
          <p:nvPr/>
        </p:nvSpPr>
        <p:spPr>
          <a:xfrm>
            <a:off x="6419088" y="4956048"/>
            <a:ext cx="2107692" cy="420624"/>
          </a:xfrm>
          <a:prstGeom prst="rect">
            <a:avLst/>
          </a:prstGeom>
          <a:noFill/>
        </p:spPr>
        <p:txBody>
          <a:bodyPr wrap="square" lIns="0" tIns="0" rIns="0" bIns="0" anchor="t">
            <a:spAutoFit/>
          </a:bodyPr>
          <a:lstStyle/>
          <a:p>
            <a:pPr algn="l">
              <a:lnSpc>
                <a:spcPct val="112000"/>
              </a:lnSpc>
              <a:spcBef>
                <a:spcPts val="0"/>
              </a:spcBef>
              <a:spcAft>
                <a:spcPts val="0"/>
              </a:spcAft>
            </a:pPr>
            <a:r>
              <a:rPr sz="850" b="0" i="0">
                <a:solidFill>
                  <a:srgbClr val="39464F"/>
                </a:solidFill>
                <a:latin typeface="Century Gothic"/>
              </a:rPr>
              <a:t>Se publica en un servidor interno ya existente.</a:t>
            </a:r>
          </a:p>
        </p:txBody>
      </p:sp>
      <p:sp>
        <p:nvSpPr>
          <p:cNvPr id="32" name="Snip Single Corner Rectangle 31"/>
          <p:cNvSpPr/>
          <p:nvPr/>
        </p:nvSpPr>
        <p:spPr>
          <a:xfrm>
            <a:off x="8910828" y="4059936"/>
            <a:ext cx="2564892" cy="13716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3" name="TextBox 32"/>
          <p:cNvSpPr txBox="1"/>
          <p:nvPr/>
        </p:nvSpPr>
        <p:spPr>
          <a:xfrm>
            <a:off x="9148572" y="4242816"/>
            <a:ext cx="2107692" cy="256032"/>
          </a:xfrm>
          <a:prstGeom prst="rect">
            <a:avLst/>
          </a:prstGeom>
          <a:noFill/>
        </p:spPr>
        <p:txBody>
          <a:bodyPr wrap="square" lIns="0" tIns="0" rIns="0" bIns="0" anchor="t">
            <a:spAutoFit/>
          </a:bodyPr>
          <a:lstStyle/>
          <a:p>
            <a:pPr algn="l">
              <a:spcBef>
                <a:spcPts val="0"/>
              </a:spcBef>
              <a:spcAft>
                <a:spcPts val="0"/>
              </a:spcAft>
            </a:pPr>
            <a:r>
              <a:rPr sz="1000" b="1" i="0">
                <a:solidFill>
                  <a:srgbClr val="858A8C"/>
                </a:solidFill>
                <a:latin typeface="Century Gothic"/>
              </a:rPr>
              <a:t>MANTENCIÓN</a:t>
            </a:r>
          </a:p>
        </p:txBody>
      </p:sp>
      <p:sp>
        <p:nvSpPr>
          <p:cNvPr id="34" name="TextBox 33"/>
          <p:cNvSpPr txBox="1"/>
          <p:nvPr/>
        </p:nvSpPr>
        <p:spPr>
          <a:xfrm>
            <a:off x="9148572" y="4535424"/>
            <a:ext cx="2107692" cy="347472"/>
          </a:xfrm>
          <a:prstGeom prst="rect">
            <a:avLst/>
          </a:prstGeom>
          <a:noFill/>
        </p:spPr>
        <p:txBody>
          <a:bodyPr wrap="square" lIns="0" tIns="0" rIns="0" bIns="0" anchor="t">
            <a:spAutoFit/>
          </a:bodyPr>
          <a:lstStyle/>
          <a:p>
            <a:pPr algn="l">
              <a:lnSpc>
                <a:spcPct val="100000"/>
              </a:lnSpc>
              <a:spcBef>
                <a:spcPts val="0"/>
              </a:spcBef>
              <a:spcAft>
                <a:spcPts val="0"/>
              </a:spcAft>
            </a:pPr>
            <a:r>
              <a:rPr sz="1900" b="1" i="0">
                <a:solidFill>
                  <a:srgbClr val="858A8C"/>
                </a:solidFill>
                <a:latin typeface="Century Gothic"/>
              </a:rPr>
              <a:t>Horas</a:t>
            </a:r>
          </a:p>
        </p:txBody>
      </p:sp>
      <p:sp>
        <p:nvSpPr>
          <p:cNvPr id="35" name="TextBox 34"/>
          <p:cNvSpPr txBox="1"/>
          <p:nvPr/>
        </p:nvSpPr>
        <p:spPr>
          <a:xfrm>
            <a:off x="9148572" y="4956048"/>
            <a:ext cx="2107692" cy="420624"/>
          </a:xfrm>
          <a:prstGeom prst="rect">
            <a:avLst/>
          </a:prstGeom>
          <a:noFill/>
        </p:spPr>
        <p:txBody>
          <a:bodyPr wrap="square" lIns="0" tIns="0" rIns="0" bIns="0" anchor="t">
            <a:spAutoFit/>
          </a:bodyPr>
          <a:lstStyle/>
          <a:p>
            <a:pPr algn="l">
              <a:lnSpc>
                <a:spcPct val="112000"/>
              </a:lnSpc>
              <a:spcBef>
                <a:spcPts val="0"/>
              </a:spcBef>
              <a:spcAft>
                <a:spcPts val="0"/>
              </a:spcAft>
            </a:pPr>
            <a:r>
              <a:rPr sz="850" b="0" i="0">
                <a:solidFill>
                  <a:srgbClr val="39464F"/>
                </a:solidFill>
                <a:latin typeface="Century Gothic"/>
              </a:rPr>
              <a:t>Absorbidas por el área de Planificación y Compras.</a:t>
            </a:r>
          </a:p>
        </p:txBody>
      </p:sp>
      <p:sp>
        <p:nvSpPr>
          <p:cNvPr id="36" name="Snip Single Corner Rectangle 35"/>
          <p:cNvSpPr/>
          <p:nvPr/>
        </p:nvSpPr>
        <p:spPr>
          <a:xfrm>
            <a:off x="722376" y="5596128"/>
            <a:ext cx="10753344" cy="566928"/>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7" name="TextBox 36"/>
          <p:cNvSpPr txBox="1"/>
          <p:nvPr/>
        </p:nvSpPr>
        <p:spPr>
          <a:xfrm>
            <a:off x="1033272" y="5724144"/>
            <a:ext cx="10113264" cy="365760"/>
          </a:xfrm>
          <a:prstGeom prst="rect">
            <a:avLst/>
          </a:prstGeom>
          <a:noFill/>
        </p:spPr>
        <p:txBody>
          <a:bodyPr wrap="square" lIns="0" tIns="0" rIns="0" bIns="0" anchor="t">
            <a:spAutoFit/>
          </a:bodyPr>
          <a:lstStyle/>
          <a:p>
            <a:pPr algn="l">
              <a:lnSpc>
                <a:spcPct val="115000"/>
              </a:lnSpc>
              <a:spcAft>
                <a:spcPts val="0"/>
              </a:spcAft>
            </a:pPr>
            <a:r>
              <a:rPr sz="1050" b="1">
                <a:solidFill>
                  <a:srgbClr val="FFFFFF"/>
                </a:solidFill>
                <a:latin typeface="Century Gothic"/>
              </a:rPr>
              <a:t>El retorno esperado son los dos puntos de fill rate. </a:t>
            </a:r>
            <a:r>
              <a:rPr sz="1050" b="0">
                <a:solidFill>
                  <a:srgbClr val="9FB3C8"/>
                </a:solidFill>
                <a:latin typeface="Century Gothic"/>
              </a:rPr>
              <a:t>El proyecto no agrega costo: reemplaza horas de revisión manual por un modelo que cubre el catálogo completo.</a:t>
            </a:r>
          </a:p>
        </p:txBody>
      </p:sp>
      <p:sp>
        <p:nvSpPr>
          <p:cNvPr id="38" name="TextBox 37"/>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Descripción del Proyecto APT</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10753344" cy="105156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1069848" y="1389888"/>
            <a:ext cx="10058400" cy="777240"/>
          </a:xfrm>
          <a:prstGeom prst="rect">
            <a:avLst/>
          </a:prstGeom>
          <a:noFill/>
        </p:spPr>
        <p:txBody>
          <a:bodyPr wrap="square" lIns="0" tIns="0" rIns="0" bIns="0" anchor="t">
            <a:spAutoFit/>
          </a:bodyPr>
          <a:lstStyle/>
          <a:p>
            <a:pPr algn="l">
              <a:spcBef>
                <a:spcPts val="0"/>
              </a:spcBef>
              <a:spcAft>
                <a:spcPts val="400"/>
              </a:spcAft>
            </a:pPr>
            <a:r>
              <a:rPr sz="900" b="1" i="0">
                <a:solidFill>
                  <a:srgbClr val="19BDE6"/>
                </a:solidFill>
                <a:latin typeface="Century Gothic"/>
              </a:rPr>
              <a:t>NOMBRE DEL PROYECTO</a:t>
            </a:r>
          </a:p>
          <a:p>
            <a:pPr algn="l">
              <a:lnSpc>
                <a:spcPct val="110000"/>
              </a:lnSpc>
              <a:spcBef>
                <a:spcPts val="0"/>
              </a:spcBef>
              <a:spcAft>
                <a:spcPts val="0"/>
              </a:spcAft>
            </a:pPr>
            <a:r>
              <a:rPr sz="1500" b="1" i="0">
                <a:solidFill>
                  <a:srgbClr val="FFFFFF"/>
                </a:solidFill>
                <a:latin typeface="Century Gothic"/>
              </a:rPr>
              <a:t>Aplicación web con modelos de machine learning para la proyección de demanda de repuestos y la mejora del fill rate en Inchcape Chile</a:t>
            </a:r>
          </a:p>
        </p:txBody>
      </p:sp>
      <p:sp>
        <p:nvSpPr>
          <p:cNvPr id="6" name="TextBox 5"/>
          <p:cNvSpPr txBox="1"/>
          <p:nvPr/>
        </p:nvSpPr>
        <p:spPr>
          <a:xfrm>
            <a:off x="722376" y="2487168"/>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Tres componentes, construidos en este orden</a:t>
            </a:r>
          </a:p>
        </p:txBody>
      </p:sp>
      <p:sp>
        <p:nvSpPr>
          <p:cNvPr id="7" name="Snip Single Corner Rectangle 6"/>
          <p:cNvSpPr/>
          <p:nvPr/>
        </p:nvSpPr>
        <p:spPr>
          <a:xfrm>
            <a:off x="722376" y="2871216"/>
            <a:ext cx="3511296" cy="196596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Oval 7"/>
          <p:cNvSpPr/>
          <p:nvPr/>
        </p:nvSpPr>
        <p:spPr>
          <a:xfrm>
            <a:off x="978408" y="3108960"/>
            <a:ext cx="512064" cy="512064"/>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400" b="1" i="0">
                <a:solidFill>
                  <a:srgbClr val="001A41"/>
                </a:solidFill>
                <a:latin typeface="Century Gothic"/>
              </a:rPr>
              <a:t>A</a:t>
            </a:r>
          </a:p>
        </p:txBody>
      </p:sp>
      <p:sp>
        <p:nvSpPr>
          <p:cNvPr id="9" name="TextBox 8"/>
          <p:cNvSpPr txBox="1"/>
          <p:nvPr/>
        </p:nvSpPr>
        <p:spPr>
          <a:xfrm>
            <a:off x="1636776" y="3200400"/>
            <a:ext cx="2359152" cy="502920"/>
          </a:xfrm>
          <a:prstGeom prst="rect">
            <a:avLst/>
          </a:prstGeom>
          <a:noFill/>
        </p:spPr>
        <p:txBody>
          <a:bodyPr wrap="square" lIns="0" tIns="0" rIns="0" bIns="0" anchor="t">
            <a:spAutoFit/>
          </a:bodyPr>
          <a:lstStyle/>
          <a:p>
            <a:pPr algn="l">
              <a:lnSpc>
                <a:spcPct val="105000"/>
              </a:lnSpc>
              <a:spcBef>
                <a:spcPts val="0"/>
              </a:spcBef>
              <a:spcAft>
                <a:spcPts val="0"/>
              </a:spcAft>
            </a:pPr>
            <a:r>
              <a:rPr sz="1250" b="1" i="0">
                <a:solidFill>
                  <a:srgbClr val="001A41"/>
                </a:solidFill>
                <a:latin typeface="Century Gothic"/>
              </a:rPr>
              <a:t>Pipeline de carga</a:t>
            </a:r>
          </a:p>
        </p:txBody>
      </p:sp>
      <p:sp>
        <p:nvSpPr>
          <p:cNvPr id="10" name="TextBox 9"/>
          <p:cNvSpPr txBox="1"/>
          <p:nvPr/>
        </p:nvSpPr>
        <p:spPr>
          <a:xfrm>
            <a:off x="978408" y="3877056"/>
            <a:ext cx="2999232"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Extrae desde SAP la venta, los pedidos, el stock, el tránsito y el maestro de materiales; valida, limpia y construye el modelo de datos.</a:t>
            </a:r>
          </a:p>
        </p:txBody>
      </p:sp>
      <p:sp>
        <p:nvSpPr>
          <p:cNvPr id="11" name="Snip Single Corner Rectangle 10"/>
          <p:cNvSpPr/>
          <p:nvPr/>
        </p:nvSpPr>
        <p:spPr>
          <a:xfrm>
            <a:off x="4398264" y="2871216"/>
            <a:ext cx="3511296" cy="196596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Oval 11"/>
          <p:cNvSpPr/>
          <p:nvPr/>
        </p:nvSpPr>
        <p:spPr>
          <a:xfrm>
            <a:off x="4654296" y="3108960"/>
            <a:ext cx="512064" cy="512064"/>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400" b="1" i="0">
                <a:solidFill>
                  <a:srgbClr val="FFFFFF"/>
                </a:solidFill>
                <a:latin typeface="Century Gothic"/>
              </a:rPr>
              <a:t>B</a:t>
            </a:r>
          </a:p>
        </p:txBody>
      </p:sp>
      <p:sp>
        <p:nvSpPr>
          <p:cNvPr id="13" name="TextBox 12"/>
          <p:cNvSpPr txBox="1"/>
          <p:nvPr/>
        </p:nvSpPr>
        <p:spPr>
          <a:xfrm>
            <a:off x="5312664" y="3200400"/>
            <a:ext cx="2359152" cy="502920"/>
          </a:xfrm>
          <a:prstGeom prst="rect">
            <a:avLst/>
          </a:prstGeom>
          <a:noFill/>
        </p:spPr>
        <p:txBody>
          <a:bodyPr wrap="square" lIns="0" tIns="0" rIns="0" bIns="0" anchor="t">
            <a:spAutoFit/>
          </a:bodyPr>
          <a:lstStyle/>
          <a:p>
            <a:pPr algn="l">
              <a:lnSpc>
                <a:spcPct val="105000"/>
              </a:lnSpc>
              <a:spcBef>
                <a:spcPts val="0"/>
              </a:spcBef>
              <a:spcAft>
                <a:spcPts val="0"/>
              </a:spcAft>
            </a:pPr>
            <a:r>
              <a:rPr sz="1250" b="1" i="0">
                <a:solidFill>
                  <a:srgbClr val="001A41"/>
                </a:solidFill>
                <a:latin typeface="Century Gothic"/>
              </a:rPr>
              <a:t>Modelos de machine learning</a:t>
            </a:r>
          </a:p>
        </p:txBody>
      </p:sp>
      <p:sp>
        <p:nvSpPr>
          <p:cNvPr id="14" name="TextBox 13"/>
          <p:cNvSpPr txBox="1"/>
          <p:nvPr/>
        </p:nvSpPr>
        <p:spPr>
          <a:xfrm>
            <a:off x="4654296" y="3877056"/>
            <a:ext cx="2999232"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Entrenados, comparados y validados, con selección diferenciada según el comportamiento del código.</a:t>
            </a:r>
          </a:p>
        </p:txBody>
      </p:sp>
      <p:sp>
        <p:nvSpPr>
          <p:cNvPr id="15" name="Snip Single Corner Rectangle 14"/>
          <p:cNvSpPr/>
          <p:nvPr/>
        </p:nvSpPr>
        <p:spPr>
          <a:xfrm>
            <a:off x="8065008" y="2871216"/>
            <a:ext cx="3511296" cy="196596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Oval 15"/>
          <p:cNvSpPr/>
          <p:nvPr/>
        </p:nvSpPr>
        <p:spPr>
          <a:xfrm>
            <a:off x="8321040" y="3108960"/>
            <a:ext cx="512064" cy="512064"/>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400" b="1" i="0">
                <a:solidFill>
                  <a:srgbClr val="001A41"/>
                </a:solidFill>
                <a:latin typeface="Century Gothic"/>
              </a:rPr>
              <a:t>C</a:t>
            </a:r>
          </a:p>
        </p:txBody>
      </p:sp>
      <p:sp>
        <p:nvSpPr>
          <p:cNvPr id="17" name="TextBox 16"/>
          <p:cNvSpPr txBox="1"/>
          <p:nvPr/>
        </p:nvSpPr>
        <p:spPr>
          <a:xfrm>
            <a:off x="8979408" y="3200400"/>
            <a:ext cx="2359152" cy="502920"/>
          </a:xfrm>
          <a:prstGeom prst="rect">
            <a:avLst/>
          </a:prstGeom>
          <a:noFill/>
        </p:spPr>
        <p:txBody>
          <a:bodyPr wrap="square" lIns="0" tIns="0" rIns="0" bIns="0" anchor="t">
            <a:spAutoFit/>
          </a:bodyPr>
          <a:lstStyle/>
          <a:p>
            <a:pPr algn="l">
              <a:lnSpc>
                <a:spcPct val="105000"/>
              </a:lnSpc>
              <a:spcBef>
                <a:spcPts val="0"/>
              </a:spcBef>
              <a:spcAft>
                <a:spcPts val="0"/>
              </a:spcAft>
            </a:pPr>
            <a:r>
              <a:rPr sz="1250" b="1" i="0">
                <a:solidFill>
                  <a:srgbClr val="001A41"/>
                </a:solidFill>
                <a:latin typeface="Century Gothic"/>
              </a:rPr>
              <a:t>Aplicación en Streamlit</a:t>
            </a:r>
          </a:p>
        </p:txBody>
      </p:sp>
      <p:sp>
        <p:nvSpPr>
          <p:cNvPr id="18" name="TextBox 17"/>
          <p:cNvSpPr txBox="1"/>
          <p:nvPr/>
        </p:nvSpPr>
        <p:spPr>
          <a:xfrm>
            <a:off x="8321040" y="3877056"/>
            <a:ext cx="2999232"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Donde el negocio carga datos, consulta la proyección, monitorea el error y descarga el plan de compra.</a:t>
            </a:r>
          </a:p>
        </p:txBody>
      </p:sp>
      <p:sp>
        <p:nvSpPr>
          <p:cNvPr id="19" name="Snip Single Corner Rectangle 18"/>
          <p:cNvSpPr/>
          <p:nvPr/>
        </p:nvSpPr>
        <p:spPr>
          <a:xfrm>
            <a:off x="722376" y="5010912"/>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TextBox 19"/>
          <p:cNvSpPr txBox="1"/>
          <p:nvPr/>
        </p:nvSpPr>
        <p:spPr>
          <a:xfrm>
            <a:off x="1033272" y="5193792"/>
            <a:ext cx="10113264" cy="822960"/>
          </a:xfrm>
          <a:prstGeom prst="rect">
            <a:avLst/>
          </a:prstGeom>
          <a:noFill/>
        </p:spPr>
        <p:txBody>
          <a:bodyPr wrap="square" lIns="0" tIns="0" rIns="0" bIns="0" anchor="t">
            <a:spAutoFit/>
          </a:bodyPr>
          <a:lstStyle/>
          <a:p>
            <a:pPr algn="l">
              <a:lnSpc>
                <a:spcPct val="115000"/>
              </a:lnSpc>
              <a:spcAft>
                <a:spcPts val="600"/>
              </a:spcAft>
            </a:pPr>
            <a:r>
              <a:rPr sz="1000" b="1">
                <a:solidFill>
                  <a:srgbClr val="001A41"/>
                </a:solidFill>
                <a:latin typeface="Century Gothic"/>
              </a:rPr>
              <a:t>Áreas de desempeño:  </a:t>
            </a:r>
            <a:r>
              <a:rPr sz="1000" b="0">
                <a:solidFill>
                  <a:srgbClr val="39464F"/>
                </a:solidFill>
                <a:latin typeface="Century Gothic"/>
              </a:rPr>
              <a:t>análisis y gestión de datos · desarrollo de soluciones de software · gestión de proyectos informáticos.</a:t>
            </a:r>
          </a:p>
          <a:p>
            <a:pPr algn="l">
              <a:lnSpc>
                <a:spcPct val="115000"/>
              </a:lnSpc>
              <a:spcAft>
                <a:spcPts val="0"/>
              </a:spcAft>
            </a:pPr>
            <a:r>
              <a:rPr sz="1000" b="1">
                <a:solidFill>
                  <a:srgbClr val="001A41"/>
                </a:solidFill>
                <a:latin typeface="Century Gothic"/>
              </a:rPr>
              <a:t>Competencias del perfil de egreso:  </a:t>
            </a:r>
            <a:r>
              <a:rPr sz="1000" b="0">
                <a:solidFill>
                  <a:srgbClr val="39464F"/>
                </a:solidFill>
                <a:latin typeface="Century Gothic"/>
              </a:rPr>
              <a:t>construir modelos de datos · desarrollar una solución de software · realizar pruebas de certificación · gestionar proyectos informáticos.</a:t>
            </a:r>
          </a:p>
        </p:txBody>
      </p:sp>
      <p:sp>
        <p:nvSpPr>
          <p:cNvPr id="21" name="TextBox 20"/>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Objetivos del Proyecto APT</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10753344" cy="109728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1069848" y="1389888"/>
            <a:ext cx="10058400" cy="841248"/>
          </a:xfrm>
          <a:prstGeom prst="rect">
            <a:avLst/>
          </a:prstGeom>
          <a:noFill/>
        </p:spPr>
        <p:txBody>
          <a:bodyPr wrap="square" lIns="0" tIns="0" rIns="0" bIns="0" anchor="t">
            <a:spAutoFit/>
          </a:bodyPr>
          <a:lstStyle/>
          <a:p>
            <a:pPr algn="l">
              <a:spcBef>
                <a:spcPts val="0"/>
              </a:spcBef>
              <a:spcAft>
                <a:spcPts val="400"/>
              </a:spcAft>
            </a:pPr>
            <a:r>
              <a:rPr sz="900" b="1" i="0">
                <a:solidFill>
                  <a:srgbClr val="19BDE6"/>
                </a:solidFill>
                <a:latin typeface="Century Gothic"/>
              </a:rPr>
              <a:t>OBJETIVO GENERAL</a:t>
            </a:r>
          </a:p>
          <a:p>
            <a:pPr algn="l">
              <a:lnSpc>
                <a:spcPct val="115000"/>
              </a:lnSpc>
              <a:spcBef>
                <a:spcPts val="0"/>
              </a:spcBef>
              <a:spcAft>
                <a:spcPts val="0"/>
              </a:spcAft>
            </a:pPr>
            <a:r>
              <a:rPr sz="1200" b="1" i="0">
                <a:solidFill>
                  <a:srgbClr val="FFFFFF"/>
                </a:solidFill>
                <a:latin typeface="Century Gothic"/>
              </a:rPr>
              <a:t>Desarrollar una aplicación web en Streamlit que integre un pipeline de carga de datos y modelos de machine learning para la proyección de demanda de repuestos, con el fin de apoyar el aumento del fill rate de Inchcape Chile desde 88% hasta 90% al cierre de diciembre de 2026.</a:t>
            </a:r>
          </a:p>
        </p:txBody>
      </p:sp>
      <p:sp>
        <p:nvSpPr>
          <p:cNvPr id="6" name="TextBox 5"/>
          <p:cNvSpPr txBox="1"/>
          <p:nvPr/>
        </p:nvSpPr>
        <p:spPr>
          <a:xfrm>
            <a:off x="722376" y="2542032"/>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Objetivos específicos</a:t>
            </a:r>
          </a:p>
        </p:txBody>
      </p:sp>
      <p:sp>
        <p:nvSpPr>
          <p:cNvPr id="7" name="Snip Single Corner Rectangle 6"/>
          <p:cNvSpPr/>
          <p:nvPr/>
        </p:nvSpPr>
        <p:spPr>
          <a:xfrm>
            <a:off x="722376" y="2926080"/>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Oval 7"/>
          <p:cNvSpPr/>
          <p:nvPr/>
        </p:nvSpPr>
        <p:spPr>
          <a:xfrm>
            <a:off x="960120" y="3163824"/>
            <a:ext cx="457200" cy="45720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1</a:t>
            </a:r>
          </a:p>
        </p:txBody>
      </p:sp>
      <p:sp>
        <p:nvSpPr>
          <p:cNvPr id="9" name="TextBox 8"/>
          <p:cNvSpPr txBox="1"/>
          <p:nvPr/>
        </p:nvSpPr>
        <p:spPr>
          <a:xfrm>
            <a:off x="1563624" y="3108960"/>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Analizar el negocio y su problemática, definiendo con la contraparte el cálculo del fill rate y los criterios de éxito.</a:t>
            </a:r>
          </a:p>
        </p:txBody>
      </p:sp>
      <p:sp>
        <p:nvSpPr>
          <p:cNvPr id="10" name="Snip Single Corner Rectangle 9"/>
          <p:cNvSpPr/>
          <p:nvPr/>
        </p:nvSpPr>
        <p:spPr>
          <a:xfrm>
            <a:off x="722376" y="3986784"/>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Oval 10"/>
          <p:cNvSpPr/>
          <p:nvPr/>
        </p:nvSpPr>
        <p:spPr>
          <a:xfrm>
            <a:off x="960120" y="4224528"/>
            <a:ext cx="457200" cy="45720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2</a:t>
            </a:r>
          </a:p>
        </p:txBody>
      </p:sp>
      <p:sp>
        <p:nvSpPr>
          <p:cNvPr id="12" name="TextBox 11"/>
          <p:cNvSpPr txBox="1"/>
          <p:nvPr/>
        </p:nvSpPr>
        <p:spPr>
          <a:xfrm>
            <a:off x="1563624" y="4169664"/>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Construir un pipeline que extraiga, valide e integre los datos de SAP en un modelo de datos reproducible.</a:t>
            </a:r>
          </a:p>
        </p:txBody>
      </p:sp>
      <p:sp>
        <p:nvSpPr>
          <p:cNvPr id="13" name="Snip Single Corner Rectangle 12"/>
          <p:cNvSpPr/>
          <p:nvPr/>
        </p:nvSpPr>
        <p:spPr>
          <a:xfrm>
            <a:off x="722376" y="5047488"/>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4" name="Oval 13"/>
          <p:cNvSpPr/>
          <p:nvPr/>
        </p:nvSpPr>
        <p:spPr>
          <a:xfrm>
            <a:off x="960120" y="5285231"/>
            <a:ext cx="457200" cy="45720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3</a:t>
            </a:r>
          </a:p>
        </p:txBody>
      </p:sp>
      <p:sp>
        <p:nvSpPr>
          <p:cNvPr id="15" name="TextBox 14"/>
          <p:cNvSpPr txBox="1"/>
          <p:nvPr/>
        </p:nvSpPr>
        <p:spPr>
          <a:xfrm>
            <a:off x="1563624" y="5230368"/>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Establecer la variable objetivo y las variables predictoras, incorporando el parque vehicular para los códigos sin historial.</a:t>
            </a:r>
          </a:p>
        </p:txBody>
      </p:sp>
      <p:sp>
        <p:nvSpPr>
          <p:cNvPr id="16" name="Snip Single Corner Rectangle 15"/>
          <p:cNvSpPr/>
          <p:nvPr/>
        </p:nvSpPr>
        <p:spPr>
          <a:xfrm>
            <a:off x="6254496" y="2926080"/>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Oval 16"/>
          <p:cNvSpPr/>
          <p:nvPr/>
        </p:nvSpPr>
        <p:spPr>
          <a:xfrm>
            <a:off x="6492240" y="3163824"/>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4</a:t>
            </a:r>
          </a:p>
        </p:txBody>
      </p:sp>
      <p:sp>
        <p:nvSpPr>
          <p:cNvPr id="18" name="TextBox 17"/>
          <p:cNvSpPr txBox="1"/>
          <p:nvPr/>
        </p:nvSpPr>
        <p:spPr>
          <a:xfrm>
            <a:off x="7095744" y="3108960"/>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Entrenar y comparar modelos de machine learning diferenciados según el comportamiento del código.</a:t>
            </a:r>
          </a:p>
        </p:txBody>
      </p:sp>
      <p:sp>
        <p:nvSpPr>
          <p:cNvPr id="19" name="Snip Single Corner Rectangle 18"/>
          <p:cNvSpPr/>
          <p:nvPr/>
        </p:nvSpPr>
        <p:spPr>
          <a:xfrm>
            <a:off x="6254496" y="3986784"/>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Oval 19"/>
          <p:cNvSpPr/>
          <p:nvPr/>
        </p:nvSpPr>
        <p:spPr>
          <a:xfrm>
            <a:off x="6492240" y="4224528"/>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5</a:t>
            </a:r>
          </a:p>
        </p:txBody>
      </p:sp>
      <p:sp>
        <p:nvSpPr>
          <p:cNvPr id="21" name="TextBox 20"/>
          <p:cNvSpPr txBox="1"/>
          <p:nvPr/>
        </p:nvSpPr>
        <p:spPr>
          <a:xfrm>
            <a:off x="7095744" y="4169664"/>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Validar los modelos mediante backtesting sobre períodos cerrados, con criterios de aceptación por segmento.</a:t>
            </a:r>
          </a:p>
        </p:txBody>
      </p:sp>
      <p:sp>
        <p:nvSpPr>
          <p:cNvPr id="22" name="Snip Single Corner Rectangle 21"/>
          <p:cNvSpPr/>
          <p:nvPr/>
        </p:nvSpPr>
        <p:spPr>
          <a:xfrm>
            <a:off x="6254496" y="5047488"/>
            <a:ext cx="5221224" cy="93268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3" name="Oval 22"/>
          <p:cNvSpPr/>
          <p:nvPr/>
        </p:nvSpPr>
        <p:spPr>
          <a:xfrm>
            <a:off x="6492240" y="5285231"/>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6</a:t>
            </a:r>
          </a:p>
        </p:txBody>
      </p:sp>
      <p:sp>
        <p:nvSpPr>
          <p:cNvPr id="24" name="TextBox 23"/>
          <p:cNvSpPr txBox="1"/>
          <p:nvPr/>
        </p:nvSpPr>
        <p:spPr>
          <a:xfrm>
            <a:off x="7095744" y="5230368"/>
            <a:ext cx="4206240"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152C47"/>
                </a:solidFill>
                <a:latin typeface="Century Gothic"/>
              </a:rPr>
              <a:t>Desplegar los modelos en una aplicación Streamlit operable por el negocio, con monitoreo del error y gestión de versiones.</a:t>
            </a:r>
          </a:p>
        </p:txBody>
      </p:sp>
      <p:sp>
        <p:nvSpPr>
          <p:cNvPr id="25" name="TextBox 2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783080"/>
            <a:ext cx="7863840" cy="320040"/>
          </a:xfrm>
          <a:prstGeom prst="rect">
            <a:avLst/>
          </a:prstGeom>
          <a:noFill/>
        </p:spPr>
        <p:txBody>
          <a:bodyPr wrap="square" lIns="0" tIns="0" rIns="0" bIns="0" anchor="t">
            <a:spAutoFit/>
          </a:bodyPr>
          <a:lstStyle/>
          <a:p>
            <a:pPr algn="l">
              <a:spcBef>
                <a:spcPts val="0"/>
              </a:spcBef>
              <a:spcAft>
                <a:spcPts val="0"/>
              </a:spcAft>
            </a:pPr>
            <a:r>
              <a:rPr sz="1200" b="1" i="0">
                <a:solidFill>
                  <a:srgbClr val="19BDE6"/>
                </a:solidFill>
                <a:latin typeface="Century Gothic"/>
              </a:rPr>
              <a:t>03</a:t>
            </a:r>
          </a:p>
        </p:txBody>
      </p:sp>
      <p:sp>
        <p:nvSpPr>
          <p:cNvPr id="3" name="TextBox 2"/>
          <p:cNvSpPr txBox="1"/>
          <p:nvPr/>
        </p:nvSpPr>
        <p:spPr>
          <a:xfrm>
            <a:off x="722376" y="2240280"/>
            <a:ext cx="8595360" cy="2103120"/>
          </a:xfrm>
          <a:prstGeom prst="rect">
            <a:avLst/>
          </a:prstGeom>
          <a:noFill/>
        </p:spPr>
        <p:txBody>
          <a:bodyPr wrap="square" lIns="0" tIns="0" rIns="0" bIns="0" anchor="t">
            <a:spAutoFit/>
          </a:bodyPr>
          <a:lstStyle/>
          <a:p>
            <a:pPr algn="l">
              <a:lnSpc>
                <a:spcPct val="100000"/>
              </a:lnSpc>
              <a:spcBef>
                <a:spcPts val="0"/>
              </a:spcBef>
              <a:spcAft>
                <a:spcPts val="0"/>
              </a:spcAft>
            </a:pPr>
            <a:r>
              <a:rPr sz="3800" b="1" i="0">
                <a:solidFill>
                  <a:srgbClr val="FFFFFF"/>
                </a:solidFill>
                <a:latin typeface="Century Gothic"/>
              </a:rPr>
              <a:t>SOLUCIÓN</a:t>
            </a:r>
          </a:p>
          <a:p>
            <a:pPr algn="l">
              <a:lnSpc>
                <a:spcPct val="100000"/>
              </a:lnSpc>
              <a:spcBef>
                <a:spcPts val="0"/>
              </a:spcBef>
              <a:spcAft>
                <a:spcPts val="0"/>
              </a:spcAft>
            </a:pPr>
            <a:r>
              <a:rPr sz="3800" b="1" i="0">
                <a:solidFill>
                  <a:srgbClr val="FFFFFF"/>
                </a:solidFill>
                <a:latin typeface="Century Gothic"/>
              </a:rPr>
              <a:t>Y APLICACIÓN</a:t>
            </a:r>
          </a:p>
        </p:txBody>
      </p:sp>
      <p:sp>
        <p:nvSpPr>
          <p:cNvPr id="4" name="TextBox 3"/>
          <p:cNvSpPr txBox="1"/>
          <p:nvPr/>
        </p:nvSpPr>
        <p:spPr>
          <a:xfrm>
            <a:off x="722376" y="4709160"/>
            <a:ext cx="7680960" cy="82296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19BDE6"/>
                </a:solidFill>
                <a:latin typeface="Century Gothic"/>
              </a:rPr>
              <a:t>Datos, modelos y cómo el negocio va a operar la herramienta.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Insumos de datos</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08.2026 Base Venta OEM Sell In PBI, hoja «TD Marca» (cierre jul-2026). Datos internos de Inchcape Chile, uso académico bajo acuerdo de confidencialidad.</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Snip Single Corner Rectangle 4"/>
          <p:cNvSpPr/>
          <p:nvPr/>
        </p:nvSpPr>
        <p:spPr>
          <a:xfrm>
            <a:off x="722376" y="1298448"/>
            <a:ext cx="10753344" cy="1133856"/>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TextBox 5"/>
          <p:cNvSpPr txBox="1"/>
          <p:nvPr/>
        </p:nvSpPr>
        <p:spPr>
          <a:xfrm>
            <a:off x="1033272" y="1517904"/>
            <a:ext cx="3291840"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Base Venta Sell In OEM</a:t>
            </a:r>
          </a:p>
        </p:txBody>
      </p:sp>
      <p:sp>
        <p:nvSpPr>
          <p:cNvPr id="7" name="TextBox 6"/>
          <p:cNvSpPr txBox="1"/>
          <p:nvPr/>
        </p:nvSpPr>
        <p:spPr>
          <a:xfrm>
            <a:off x="1033272" y="1847088"/>
            <a:ext cx="3383280" cy="420624"/>
          </a:xfrm>
          <a:prstGeom prst="rect">
            <a:avLst/>
          </a:prstGeom>
          <a:noFill/>
        </p:spPr>
        <p:txBody>
          <a:bodyPr wrap="square" lIns="0" tIns="0" rIns="0" bIns="0" anchor="t">
            <a:spAutoFit/>
          </a:bodyPr>
          <a:lstStyle/>
          <a:p>
            <a:pPr algn="l">
              <a:lnSpc>
                <a:spcPct val="110000"/>
              </a:lnSpc>
              <a:spcBef>
                <a:spcPts val="0"/>
              </a:spcBef>
              <a:spcAft>
                <a:spcPts val="0"/>
              </a:spcAft>
            </a:pPr>
            <a:r>
              <a:rPr sz="850" b="0" i="0">
                <a:solidFill>
                  <a:srgbClr val="858A8C"/>
                </a:solidFill>
                <a:latin typeface="Century Gothic"/>
              </a:rPr>
              <a:t>108.870 registros · serie mensual desde 2025-04</a:t>
            </a:r>
          </a:p>
        </p:txBody>
      </p:sp>
      <p:sp>
        <p:nvSpPr>
          <p:cNvPr id="8" name="Rectangle 7"/>
          <p:cNvSpPr/>
          <p:nvPr/>
        </p:nvSpPr>
        <p:spPr>
          <a:xfrm>
            <a:off x="4608576" y="1499616"/>
            <a:ext cx="18288" cy="74980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TextBox 8"/>
          <p:cNvSpPr txBox="1"/>
          <p:nvPr/>
        </p:nvSpPr>
        <p:spPr>
          <a:xfrm>
            <a:off x="4837176" y="1572768"/>
            <a:ext cx="6227064"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Último Eslabón, Sector, Familia, Canal, Costo y venta por mes. Es la variable a predecir y la base del histórico.</a:t>
            </a:r>
          </a:p>
        </p:txBody>
      </p:sp>
      <p:sp>
        <p:nvSpPr>
          <p:cNvPr id="10" name="Snip Single Corner Rectangle 9"/>
          <p:cNvSpPr/>
          <p:nvPr/>
        </p:nvSpPr>
        <p:spPr>
          <a:xfrm>
            <a:off x="722376" y="2523744"/>
            <a:ext cx="10753344" cy="1133856"/>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TextBox 10"/>
          <p:cNvSpPr txBox="1"/>
          <p:nvPr/>
        </p:nvSpPr>
        <p:spPr>
          <a:xfrm>
            <a:off x="1033272" y="2743200"/>
            <a:ext cx="3291840"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S&amp;OP Forecast Colaborado</a:t>
            </a:r>
          </a:p>
        </p:txBody>
      </p:sp>
      <p:sp>
        <p:nvSpPr>
          <p:cNvPr id="12" name="TextBox 11"/>
          <p:cNvSpPr txBox="1"/>
          <p:nvPr/>
        </p:nvSpPr>
        <p:spPr>
          <a:xfrm>
            <a:off x="1033272" y="3072384"/>
            <a:ext cx="3383280" cy="420624"/>
          </a:xfrm>
          <a:prstGeom prst="rect">
            <a:avLst/>
          </a:prstGeom>
          <a:noFill/>
        </p:spPr>
        <p:txBody>
          <a:bodyPr wrap="square" lIns="0" tIns="0" rIns="0" bIns="0" anchor="t">
            <a:spAutoFit/>
          </a:bodyPr>
          <a:lstStyle/>
          <a:p>
            <a:pPr algn="l">
              <a:lnSpc>
                <a:spcPct val="110000"/>
              </a:lnSpc>
              <a:spcBef>
                <a:spcPts val="0"/>
              </a:spcBef>
              <a:spcAft>
                <a:spcPts val="0"/>
              </a:spcAft>
            </a:pPr>
            <a:r>
              <a:rPr sz="850" b="0" i="0">
                <a:solidFill>
                  <a:srgbClr val="858A8C"/>
                </a:solidFill>
                <a:latin typeface="Century Gothic"/>
              </a:rPr>
              <a:t>Ciclo ago-2026 · 225.264 SKU</a:t>
            </a:r>
          </a:p>
        </p:txBody>
      </p:sp>
      <p:sp>
        <p:nvSpPr>
          <p:cNvPr id="13" name="Rectangle 12"/>
          <p:cNvSpPr/>
          <p:nvPr/>
        </p:nvSpPr>
        <p:spPr>
          <a:xfrm>
            <a:off x="4608576" y="2724912"/>
            <a:ext cx="18288" cy="74980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4" name="TextBox 13"/>
          <p:cNvSpPr txBox="1"/>
          <p:nvPr/>
        </p:nvSpPr>
        <p:spPr>
          <a:xfrm>
            <a:off x="4837176" y="2798064"/>
            <a:ext cx="6227064"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Forecast estadístico, base y colaborado por material, con Origen, Marca, Costo Promedio Ponderado y Precio de Venta.</a:t>
            </a:r>
          </a:p>
        </p:txBody>
      </p:sp>
      <p:sp>
        <p:nvSpPr>
          <p:cNvPr id="15" name="Snip Single Corner Rectangle 14"/>
          <p:cNvSpPr/>
          <p:nvPr/>
        </p:nvSpPr>
        <p:spPr>
          <a:xfrm>
            <a:off x="722376" y="3749040"/>
            <a:ext cx="10753344" cy="1133856"/>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TextBox 15"/>
          <p:cNvSpPr txBox="1"/>
          <p:nvPr/>
        </p:nvSpPr>
        <p:spPr>
          <a:xfrm>
            <a:off x="1033272" y="3968496"/>
            <a:ext cx="3291840"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Fill Rate Cliente</a:t>
            </a:r>
          </a:p>
        </p:txBody>
      </p:sp>
      <p:sp>
        <p:nvSpPr>
          <p:cNvPr id="17" name="TextBox 16"/>
          <p:cNvSpPr txBox="1"/>
          <p:nvPr/>
        </p:nvSpPr>
        <p:spPr>
          <a:xfrm>
            <a:off x="1033272" y="4297680"/>
            <a:ext cx="3383280" cy="420624"/>
          </a:xfrm>
          <a:prstGeom prst="rect">
            <a:avLst/>
          </a:prstGeom>
          <a:noFill/>
        </p:spPr>
        <p:txBody>
          <a:bodyPr wrap="square" lIns="0" tIns="0" rIns="0" bIns="0" anchor="t">
            <a:spAutoFit/>
          </a:bodyPr>
          <a:lstStyle/>
          <a:p>
            <a:pPr algn="l">
              <a:lnSpc>
                <a:spcPct val="110000"/>
              </a:lnSpc>
              <a:spcBef>
                <a:spcPts val="0"/>
              </a:spcBef>
              <a:spcAft>
                <a:spcPts val="0"/>
              </a:spcAft>
            </a:pPr>
            <a:r>
              <a:rPr sz="850" b="0" i="0">
                <a:solidFill>
                  <a:srgbClr val="858A8C"/>
                </a:solidFill>
                <a:latin typeface="Century Gothic"/>
              </a:rPr>
              <a:t>Pedidos SAP consolidados semanalmente</a:t>
            </a:r>
          </a:p>
        </p:txBody>
      </p:sp>
      <p:sp>
        <p:nvSpPr>
          <p:cNvPr id="18" name="Rectangle 17"/>
          <p:cNvSpPr/>
          <p:nvPr/>
        </p:nvSpPr>
        <p:spPr>
          <a:xfrm>
            <a:off x="4608576" y="3950208"/>
            <a:ext cx="18288" cy="74980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9" name="TextBox 18"/>
          <p:cNvSpPr txBox="1"/>
          <p:nvPr/>
        </p:nvSpPr>
        <p:spPr>
          <a:xfrm>
            <a:off x="4837176" y="4023360"/>
            <a:ext cx="6227064"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Línea OK / VOR, Qty, Apertura Parque, Flag IPL, Estratégicos y Causa Raíz del quiebre.</a:t>
            </a:r>
          </a:p>
        </p:txBody>
      </p:sp>
      <p:sp>
        <p:nvSpPr>
          <p:cNvPr id="20" name="Snip Single Corner Rectangle 19"/>
          <p:cNvSpPr/>
          <p:nvPr/>
        </p:nvSpPr>
        <p:spPr>
          <a:xfrm>
            <a:off x="722376" y="4974336"/>
            <a:ext cx="10753344" cy="1133856"/>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1033272" y="5193792"/>
            <a:ext cx="3291840"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Maestros y cadena de reemplazo</a:t>
            </a:r>
          </a:p>
        </p:txBody>
      </p:sp>
      <p:sp>
        <p:nvSpPr>
          <p:cNvPr id="22" name="TextBox 21"/>
          <p:cNvSpPr txBox="1"/>
          <p:nvPr/>
        </p:nvSpPr>
        <p:spPr>
          <a:xfrm>
            <a:off x="1033272" y="5522976"/>
            <a:ext cx="3383280" cy="420624"/>
          </a:xfrm>
          <a:prstGeom prst="rect">
            <a:avLst/>
          </a:prstGeom>
          <a:noFill/>
        </p:spPr>
        <p:txBody>
          <a:bodyPr wrap="square" lIns="0" tIns="0" rIns="0" bIns="0" anchor="t">
            <a:spAutoFit/>
          </a:bodyPr>
          <a:lstStyle/>
          <a:p>
            <a:pPr algn="l">
              <a:lnSpc>
                <a:spcPct val="110000"/>
              </a:lnSpc>
              <a:spcBef>
                <a:spcPts val="0"/>
              </a:spcBef>
              <a:spcAft>
                <a:spcPts val="0"/>
              </a:spcAft>
            </a:pPr>
            <a:r>
              <a:rPr sz="850" b="0" i="0">
                <a:solidFill>
                  <a:srgbClr val="858A8C"/>
                </a:solidFill>
                <a:latin typeface="Century Gothic"/>
              </a:rPr>
              <a:t>COD_ACTUAL, MARA, Vigencia Grupo Artículo</a:t>
            </a:r>
          </a:p>
        </p:txBody>
      </p:sp>
      <p:sp>
        <p:nvSpPr>
          <p:cNvPr id="23" name="Rectangle 22"/>
          <p:cNvSpPr/>
          <p:nvPr/>
        </p:nvSpPr>
        <p:spPr>
          <a:xfrm>
            <a:off x="4608576" y="5175504"/>
            <a:ext cx="18288" cy="749808"/>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TextBox 23"/>
          <p:cNvSpPr txBox="1"/>
          <p:nvPr/>
        </p:nvSpPr>
        <p:spPr>
          <a:xfrm>
            <a:off x="4837176" y="5248656"/>
            <a:ext cx="6227064" cy="65836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Mapeo de pieza reemplazada a su último eslabón: la llave para tratar los códigos nuevos.</a:t>
            </a:r>
          </a:p>
        </p:txBody>
      </p:sp>
      <p:sp>
        <p:nvSpPr>
          <p:cNvPr id="25" name="TextBox 2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Arquitectura de la solución</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98448"/>
            <a:ext cx="2487168" cy="3383280"/>
          </a:xfrm>
          <a:prstGeom prst="snip1Rect">
            <a:avLst>
              <a:gd name="adj" fmla="val 9000"/>
            </a:avLst>
          </a:prstGeom>
          <a:solidFill>
            <a:srgbClr val="FFFFFF"/>
          </a:solidFill>
          <a:ln w="15875">
            <a:solidFill>
              <a:srgbClr val="858A8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Snip Single Corner Rectangle 4"/>
          <p:cNvSpPr/>
          <p:nvPr/>
        </p:nvSpPr>
        <p:spPr>
          <a:xfrm>
            <a:off x="960120" y="1517904"/>
            <a:ext cx="987552" cy="256032"/>
          </a:xfrm>
          <a:prstGeom prst="snip1Rect">
            <a:avLst>
              <a:gd name="adj" fmla="val 22000"/>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SAP</a:t>
            </a:r>
          </a:p>
        </p:txBody>
      </p:sp>
      <p:sp>
        <p:nvSpPr>
          <p:cNvPr id="6" name="TextBox 5"/>
          <p:cNvSpPr txBox="1"/>
          <p:nvPr/>
        </p:nvSpPr>
        <p:spPr>
          <a:xfrm>
            <a:off x="960120" y="1956816"/>
            <a:ext cx="2011680"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001A41"/>
                </a:solidFill>
                <a:latin typeface="Century Gothic"/>
              </a:rPr>
              <a:t>Origen</a:t>
            </a:r>
          </a:p>
        </p:txBody>
      </p:sp>
      <p:sp>
        <p:nvSpPr>
          <p:cNvPr id="7" name="TextBox 6"/>
          <p:cNvSpPr txBox="1"/>
          <p:nvPr/>
        </p:nvSpPr>
        <p:spPr>
          <a:xfrm>
            <a:off x="960120" y="2432304"/>
            <a:ext cx="2048256" cy="2103120"/>
          </a:xfrm>
          <a:prstGeom prst="rect">
            <a:avLst/>
          </a:prstGeom>
          <a:noFill/>
        </p:spPr>
        <p:txBody>
          <a:bodyPr wrap="square" lIns="0" tIns="0" rIns="0" bIns="0" anchor="t">
            <a:spAutoFit/>
          </a:bodyPr>
          <a:lstStyle/>
          <a:p>
            <a:pPr algn="l">
              <a:lnSpc>
                <a:spcPct val="105000"/>
              </a:lnSpc>
              <a:spcBef>
                <a:spcPts val="0"/>
              </a:spcBef>
              <a:spcAft>
                <a:spcPts val="800"/>
              </a:spcAft>
            </a:pPr>
            <a:r>
              <a:rPr sz="1000" b="0" i="0">
                <a:solidFill>
                  <a:srgbClr val="39464F"/>
                </a:solidFill>
                <a:latin typeface="Century Gothic"/>
              </a:rPr>
              <a:t>· Venta histórica</a:t>
            </a:r>
          </a:p>
          <a:p>
            <a:pPr algn="l">
              <a:lnSpc>
                <a:spcPct val="105000"/>
              </a:lnSpc>
              <a:spcBef>
                <a:spcPts val="0"/>
              </a:spcBef>
              <a:spcAft>
                <a:spcPts val="800"/>
              </a:spcAft>
            </a:pPr>
            <a:r>
              <a:rPr sz="1000" b="0" i="0">
                <a:solidFill>
                  <a:srgbClr val="39464F"/>
                </a:solidFill>
                <a:latin typeface="Century Gothic"/>
              </a:rPr>
              <a:t>· Pedidos y fill rate</a:t>
            </a:r>
          </a:p>
          <a:p>
            <a:pPr algn="l">
              <a:lnSpc>
                <a:spcPct val="105000"/>
              </a:lnSpc>
              <a:spcBef>
                <a:spcPts val="0"/>
              </a:spcBef>
              <a:spcAft>
                <a:spcPts val="800"/>
              </a:spcAft>
            </a:pPr>
            <a:r>
              <a:rPr sz="1000" b="0" i="0">
                <a:solidFill>
                  <a:srgbClr val="39464F"/>
                </a:solidFill>
                <a:latin typeface="Century Gothic"/>
              </a:rPr>
              <a:t>· Stock y tránsito</a:t>
            </a:r>
          </a:p>
          <a:p>
            <a:pPr algn="l">
              <a:lnSpc>
                <a:spcPct val="105000"/>
              </a:lnSpc>
              <a:spcBef>
                <a:spcPts val="0"/>
              </a:spcBef>
              <a:spcAft>
                <a:spcPts val="800"/>
              </a:spcAft>
            </a:pPr>
            <a:r>
              <a:rPr sz="1000" b="0" i="0">
                <a:solidFill>
                  <a:srgbClr val="39464F"/>
                </a:solidFill>
                <a:latin typeface="Century Gothic"/>
              </a:rPr>
              <a:t>· Maestro y reemplazos</a:t>
            </a:r>
          </a:p>
        </p:txBody>
      </p:sp>
      <p:sp>
        <p:nvSpPr>
          <p:cNvPr id="8" name="Isosceles Triangle 7"/>
          <p:cNvSpPr/>
          <p:nvPr/>
        </p:nvSpPr>
        <p:spPr>
          <a:xfrm rot="5400000">
            <a:off x="3243072" y="2898648"/>
            <a:ext cx="201168" cy="237744"/>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nip Single Corner Rectangle 8"/>
          <p:cNvSpPr/>
          <p:nvPr/>
        </p:nvSpPr>
        <p:spPr>
          <a:xfrm>
            <a:off x="3477768" y="1298448"/>
            <a:ext cx="2487168" cy="33832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Snip Single Corner Rectangle 9"/>
          <p:cNvSpPr/>
          <p:nvPr/>
        </p:nvSpPr>
        <p:spPr>
          <a:xfrm>
            <a:off x="3715512" y="1517904"/>
            <a:ext cx="987552"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PIPELINE</a:t>
            </a:r>
          </a:p>
        </p:txBody>
      </p:sp>
      <p:sp>
        <p:nvSpPr>
          <p:cNvPr id="11" name="TextBox 10"/>
          <p:cNvSpPr txBox="1"/>
          <p:nvPr/>
        </p:nvSpPr>
        <p:spPr>
          <a:xfrm>
            <a:off x="3715512" y="1956816"/>
            <a:ext cx="2011680"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001A41"/>
                </a:solidFill>
                <a:latin typeface="Century Gothic"/>
              </a:rPr>
              <a:t>Carga y preparación</a:t>
            </a:r>
          </a:p>
        </p:txBody>
      </p:sp>
      <p:sp>
        <p:nvSpPr>
          <p:cNvPr id="12" name="TextBox 11"/>
          <p:cNvSpPr txBox="1"/>
          <p:nvPr/>
        </p:nvSpPr>
        <p:spPr>
          <a:xfrm>
            <a:off x="3715512" y="2432304"/>
            <a:ext cx="2048256" cy="2103120"/>
          </a:xfrm>
          <a:prstGeom prst="rect">
            <a:avLst/>
          </a:prstGeom>
          <a:noFill/>
        </p:spPr>
        <p:txBody>
          <a:bodyPr wrap="square" lIns="0" tIns="0" rIns="0" bIns="0" anchor="t">
            <a:spAutoFit/>
          </a:bodyPr>
          <a:lstStyle/>
          <a:p>
            <a:pPr algn="l">
              <a:lnSpc>
                <a:spcPct val="105000"/>
              </a:lnSpc>
              <a:spcBef>
                <a:spcPts val="0"/>
              </a:spcBef>
              <a:spcAft>
                <a:spcPts val="800"/>
              </a:spcAft>
            </a:pPr>
            <a:r>
              <a:rPr sz="1000" b="0" i="0">
                <a:solidFill>
                  <a:srgbClr val="39464F"/>
                </a:solidFill>
                <a:latin typeface="Century Gothic"/>
              </a:rPr>
              <a:t>· Extracción programada</a:t>
            </a:r>
          </a:p>
          <a:p>
            <a:pPr algn="l">
              <a:lnSpc>
                <a:spcPct val="105000"/>
              </a:lnSpc>
              <a:spcBef>
                <a:spcPts val="0"/>
              </a:spcBef>
              <a:spcAft>
                <a:spcPts val="800"/>
              </a:spcAft>
            </a:pPr>
            <a:r>
              <a:rPr sz="1000" b="0" i="0">
                <a:solidFill>
                  <a:srgbClr val="39464F"/>
                </a:solidFill>
                <a:latin typeface="Century Gothic"/>
              </a:rPr>
              <a:t>· Validación de calidad</a:t>
            </a:r>
          </a:p>
          <a:p>
            <a:pPr algn="l">
              <a:lnSpc>
                <a:spcPct val="105000"/>
              </a:lnSpc>
              <a:spcBef>
                <a:spcPts val="0"/>
              </a:spcBef>
              <a:spcAft>
                <a:spcPts val="800"/>
              </a:spcAft>
            </a:pPr>
            <a:r>
              <a:rPr sz="1000" b="0" i="0">
                <a:solidFill>
                  <a:srgbClr val="39464F"/>
                </a:solidFill>
                <a:latin typeface="Century Gothic"/>
              </a:rPr>
              <a:t>· Modelo de datos</a:t>
            </a:r>
          </a:p>
          <a:p>
            <a:pPr algn="l">
              <a:lnSpc>
                <a:spcPct val="105000"/>
              </a:lnSpc>
              <a:spcBef>
                <a:spcPts val="0"/>
              </a:spcBef>
              <a:spcAft>
                <a:spcPts val="800"/>
              </a:spcAft>
            </a:pPr>
            <a:r>
              <a:rPr sz="1000" b="0" i="0">
                <a:solidFill>
                  <a:srgbClr val="39464F"/>
                </a:solidFill>
                <a:latin typeface="Century Gothic"/>
              </a:rPr>
              <a:t>· Construcción de variables</a:t>
            </a:r>
          </a:p>
        </p:txBody>
      </p:sp>
      <p:sp>
        <p:nvSpPr>
          <p:cNvPr id="13" name="Isosceles Triangle 12"/>
          <p:cNvSpPr/>
          <p:nvPr/>
        </p:nvSpPr>
        <p:spPr>
          <a:xfrm rot="5400000">
            <a:off x="5998464" y="2898648"/>
            <a:ext cx="201168" cy="237744"/>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nip Single Corner Rectangle 13"/>
          <p:cNvSpPr/>
          <p:nvPr/>
        </p:nvSpPr>
        <p:spPr>
          <a:xfrm>
            <a:off x="6233160" y="1298448"/>
            <a:ext cx="2487168" cy="33832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Snip Single Corner Rectangle 14"/>
          <p:cNvSpPr/>
          <p:nvPr/>
        </p:nvSpPr>
        <p:spPr>
          <a:xfrm>
            <a:off x="6470904" y="1517904"/>
            <a:ext cx="987552"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ML</a:t>
            </a:r>
          </a:p>
        </p:txBody>
      </p:sp>
      <p:sp>
        <p:nvSpPr>
          <p:cNvPr id="16" name="TextBox 15"/>
          <p:cNvSpPr txBox="1"/>
          <p:nvPr/>
        </p:nvSpPr>
        <p:spPr>
          <a:xfrm>
            <a:off x="6470904" y="1956816"/>
            <a:ext cx="2011680"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001A41"/>
                </a:solidFill>
                <a:latin typeface="Century Gothic"/>
              </a:rPr>
              <a:t>Modelos</a:t>
            </a:r>
          </a:p>
        </p:txBody>
      </p:sp>
      <p:sp>
        <p:nvSpPr>
          <p:cNvPr id="17" name="TextBox 16"/>
          <p:cNvSpPr txBox="1"/>
          <p:nvPr/>
        </p:nvSpPr>
        <p:spPr>
          <a:xfrm>
            <a:off x="6470904" y="2432304"/>
            <a:ext cx="2048256" cy="2103120"/>
          </a:xfrm>
          <a:prstGeom prst="rect">
            <a:avLst/>
          </a:prstGeom>
          <a:noFill/>
        </p:spPr>
        <p:txBody>
          <a:bodyPr wrap="square" lIns="0" tIns="0" rIns="0" bIns="0" anchor="t">
            <a:spAutoFit/>
          </a:bodyPr>
          <a:lstStyle/>
          <a:p>
            <a:pPr algn="l">
              <a:lnSpc>
                <a:spcPct val="105000"/>
              </a:lnSpc>
              <a:spcBef>
                <a:spcPts val="0"/>
              </a:spcBef>
              <a:spcAft>
                <a:spcPts val="800"/>
              </a:spcAft>
            </a:pPr>
            <a:r>
              <a:rPr sz="1000" b="0" i="0">
                <a:solidFill>
                  <a:srgbClr val="39464F"/>
                </a:solidFill>
                <a:latin typeface="Century Gothic"/>
              </a:rPr>
              <a:t>· Entrenamiento</a:t>
            </a:r>
          </a:p>
          <a:p>
            <a:pPr algn="l">
              <a:lnSpc>
                <a:spcPct val="105000"/>
              </a:lnSpc>
              <a:spcBef>
                <a:spcPts val="0"/>
              </a:spcBef>
              <a:spcAft>
                <a:spcPts val="800"/>
              </a:spcAft>
            </a:pPr>
            <a:r>
              <a:rPr sz="1000" b="0" i="0">
                <a:solidFill>
                  <a:srgbClr val="39464F"/>
                </a:solidFill>
                <a:latin typeface="Century Gothic"/>
              </a:rPr>
              <a:t>· Backtesting</a:t>
            </a:r>
          </a:p>
          <a:p>
            <a:pPr algn="l">
              <a:lnSpc>
                <a:spcPct val="105000"/>
              </a:lnSpc>
              <a:spcBef>
                <a:spcPts val="0"/>
              </a:spcBef>
              <a:spcAft>
                <a:spcPts val="800"/>
              </a:spcAft>
            </a:pPr>
            <a:r>
              <a:rPr sz="1000" b="0" i="0">
                <a:solidFill>
                  <a:srgbClr val="39464F"/>
                </a:solidFill>
                <a:latin typeface="Century Gothic"/>
              </a:rPr>
              <a:t>· Versionado</a:t>
            </a:r>
          </a:p>
          <a:p>
            <a:pPr algn="l">
              <a:lnSpc>
                <a:spcPct val="105000"/>
              </a:lnSpc>
              <a:spcBef>
                <a:spcPts val="0"/>
              </a:spcBef>
              <a:spcAft>
                <a:spcPts val="800"/>
              </a:spcAft>
            </a:pPr>
            <a:r>
              <a:rPr sz="1000" b="0" i="0">
                <a:solidFill>
                  <a:srgbClr val="39464F"/>
                </a:solidFill>
                <a:latin typeface="Century Gothic"/>
              </a:rPr>
              <a:t>· Registro de métricas</a:t>
            </a:r>
          </a:p>
        </p:txBody>
      </p:sp>
      <p:sp>
        <p:nvSpPr>
          <p:cNvPr id="18" name="Isosceles Triangle 17"/>
          <p:cNvSpPr/>
          <p:nvPr/>
        </p:nvSpPr>
        <p:spPr>
          <a:xfrm rot="5400000">
            <a:off x="8753856" y="2898648"/>
            <a:ext cx="201168" cy="237744"/>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nip Single Corner Rectangle 18"/>
          <p:cNvSpPr/>
          <p:nvPr/>
        </p:nvSpPr>
        <p:spPr>
          <a:xfrm>
            <a:off x="8988552" y="1298448"/>
            <a:ext cx="2487168" cy="33832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Snip Single Corner Rectangle 19"/>
          <p:cNvSpPr/>
          <p:nvPr/>
        </p:nvSpPr>
        <p:spPr>
          <a:xfrm>
            <a:off x="9226296" y="1517904"/>
            <a:ext cx="987552"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APP</a:t>
            </a:r>
          </a:p>
        </p:txBody>
      </p:sp>
      <p:sp>
        <p:nvSpPr>
          <p:cNvPr id="21" name="TextBox 20"/>
          <p:cNvSpPr txBox="1"/>
          <p:nvPr/>
        </p:nvSpPr>
        <p:spPr>
          <a:xfrm>
            <a:off x="9226296" y="1956816"/>
            <a:ext cx="2011680" cy="329184"/>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001A41"/>
                </a:solidFill>
                <a:latin typeface="Century Gothic"/>
              </a:rPr>
              <a:t>Streamlit</a:t>
            </a:r>
          </a:p>
        </p:txBody>
      </p:sp>
      <p:sp>
        <p:nvSpPr>
          <p:cNvPr id="22" name="TextBox 21"/>
          <p:cNvSpPr txBox="1"/>
          <p:nvPr/>
        </p:nvSpPr>
        <p:spPr>
          <a:xfrm>
            <a:off x="9226296" y="2432304"/>
            <a:ext cx="2048256" cy="2103120"/>
          </a:xfrm>
          <a:prstGeom prst="rect">
            <a:avLst/>
          </a:prstGeom>
          <a:noFill/>
        </p:spPr>
        <p:txBody>
          <a:bodyPr wrap="square" lIns="0" tIns="0" rIns="0" bIns="0" anchor="t">
            <a:spAutoFit/>
          </a:bodyPr>
          <a:lstStyle/>
          <a:p>
            <a:pPr algn="l">
              <a:lnSpc>
                <a:spcPct val="105000"/>
              </a:lnSpc>
              <a:spcBef>
                <a:spcPts val="0"/>
              </a:spcBef>
              <a:spcAft>
                <a:spcPts val="800"/>
              </a:spcAft>
            </a:pPr>
            <a:r>
              <a:rPr sz="1000" b="0" i="0">
                <a:solidFill>
                  <a:srgbClr val="39464F"/>
                </a:solidFill>
                <a:latin typeface="Century Gothic"/>
              </a:rPr>
              <a:t>· Consulta del forecast</a:t>
            </a:r>
          </a:p>
          <a:p>
            <a:pPr algn="l">
              <a:lnSpc>
                <a:spcPct val="105000"/>
              </a:lnSpc>
              <a:spcBef>
                <a:spcPts val="0"/>
              </a:spcBef>
              <a:spcAft>
                <a:spcPts val="800"/>
              </a:spcAft>
            </a:pPr>
            <a:r>
              <a:rPr sz="1000" b="0" i="0">
                <a:solidFill>
                  <a:srgbClr val="39464F"/>
                </a:solidFill>
                <a:latin typeface="Century Gothic"/>
              </a:rPr>
              <a:t>· Monitoreo del error</a:t>
            </a:r>
          </a:p>
          <a:p>
            <a:pPr algn="l">
              <a:lnSpc>
                <a:spcPct val="105000"/>
              </a:lnSpc>
              <a:spcBef>
                <a:spcPts val="0"/>
              </a:spcBef>
              <a:spcAft>
                <a:spcPts val="800"/>
              </a:spcAft>
            </a:pPr>
            <a:r>
              <a:rPr sz="1000" b="0" i="0">
                <a:solidFill>
                  <a:srgbClr val="39464F"/>
                </a:solidFill>
                <a:latin typeface="Century Gothic"/>
              </a:rPr>
              <a:t>· Simulación de cobertura</a:t>
            </a:r>
          </a:p>
          <a:p>
            <a:pPr algn="l">
              <a:lnSpc>
                <a:spcPct val="105000"/>
              </a:lnSpc>
              <a:spcBef>
                <a:spcPts val="0"/>
              </a:spcBef>
              <a:spcAft>
                <a:spcPts val="800"/>
              </a:spcAft>
            </a:pPr>
            <a:r>
              <a:rPr sz="1000" b="0" i="0">
                <a:solidFill>
                  <a:srgbClr val="39464F"/>
                </a:solidFill>
                <a:latin typeface="Century Gothic"/>
              </a:rPr>
              <a:t>· Descarga del plan</a:t>
            </a:r>
          </a:p>
        </p:txBody>
      </p:sp>
      <p:sp>
        <p:nvSpPr>
          <p:cNvPr id="23" name="Snip Single Corner Rectangle 22"/>
          <p:cNvSpPr/>
          <p:nvPr/>
        </p:nvSpPr>
        <p:spPr>
          <a:xfrm>
            <a:off x="722376" y="4828032"/>
            <a:ext cx="10753344" cy="65836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TextBox 23"/>
          <p:cNvSpPr txBox="1"/>
          <p:nvPr/>
        </p:nvSpPr>
        <p:spPr>
          <a:xfrm>
            <a:off x="1033272" y="4992624"/>
            <a:ext cx="10113264" cy="365760"/>
          </a:xfrm>
          <a:prstGeom prst="rect">
            <a:avLst/>
          </a:prstGeom>
          <a:noFill/>
        </p:spPr>
        <p:txBody>
          <a:bodyPr wrap="square" lIns="0" tIns="0" rIns="0" bIns="0" anchor="t">
            <a:spAutoFit/>
          </a:bodyPr>
          <a:lstStyle/>
          <a:p>
            <a:pPr algn="l">
              <a:lnSpc>
                <a:spcPct val="115000"/>
              </a:lnSpc>
              <a:spcAft>
                <a:spcPts val="0"/>
              </a:spcAft>
            </a:pPr>
            <a:r>
              <a:rPr sz="1000" b="1">
                <a:solidFill>
                  <a:srgbClr val="001A41"/>
                </a:solidFill>
                <a:latin typeface="Century Gothic"/>
              </a:rPr>
              <a:t>Stack:  </a:t>
            </a:r>
            <a:r>
              <a:rPr sz="1000" b="0">
                <a:solidFill>
                  <a:srgbClr val="39464F"/>
                </a:solidFill>
                <a:latin typeface="Century Gothic"/>
              </a:rPr>
              <a:t>Python · pandas · scikit-learn · statsmodels · Streamlit · SQL · Git y GitHub. Todo de código abierto o ya licenciado en la compañía.</a:t>
            </a:r>
          </a:p>
        </p:txBody>
      </p:sp>
      <p:sp>
        <p:nvSpPr>
          <p:cNvPr id="25" name="Snip Single Corner Rectangle 24"/>
          <p:cNvSpPr/>
          <p:nvPr/>
        </p:nvSpPr>
        <p:spPr>
          <a:xfrm>
            <a:off x="722376" y="5577840"/>
            <a:ext cx="10753344" cy="603504"/>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TextBox 25"/>
          <p:cNvSpPr txBox="1"/>
          <p:nvPr/>
        </p:nvSpPr>
        <p:spPr>
          <a:xfrm>
            <a:off x="1069848" y="5724144"/>
            <a:ext cx="10058400" cy="365760"/>
          </a:xfrm>
          <a:prstGeom prst="rect">
            <a:avLst/>
          </a:prstGeom>
          <a:noFill/>
        </p:spPr>
        <p:txBody>
          <a:bodyPr wrap="square" lIns="0" tIns="0" rIns="0" bIns="0" anchor="t">
            <a:spAutoFit/>
          </a:bodyPr>
          <a:lstStyle/>
          <a:p>
            <a:pPr algn="l">
              <a:lnSpc>
                <a:spcPct val="115000"/>
              </a:lnSpc>
              <a:spcAft>
                <a:spcPts val="0"/>
              </a:spcAft>
            </a:pPr>
            <a:r>
              <a:rPr sz="1050" b="1">
                <a:solidFill>
                  <a:srgbClr val="FFFFFF"/>
                </a:solidFill>
                <a:latin typeface="Century Gothic"/>
              </a:rPr>
              <a:t>El usuario de negocio interactúa únicamente con la última capa. </a:t>
            </a:r>
            <a:r>
              <a:rPr sz="1050" b="0">
                <a:solidFill>
                  <a:srgbClr val="9FB3C8"/>
                </a:solidFill>
                <a:latin typeface="Century Gothic"/>
              </a:rPr>
              <a:t>Todo lo anterior queda automatizado y versionado, sin planillas manuales.</a:t>
            </a:r>
          </a:p>
        </p:txBody>
      </p:sp>
      <p:sp>
        <p:nvSpPr>
          <p:cNvPr id="27" name="TextBox 26"/>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Pipeline de carga de datos</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98448"/>
            <a:ext cx="3511296" cy="1874519"/>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Oval 4"/>
          <p:cNvSpPr/>
          <p:nvPr/>
        </p:nvSpPr>
        <p:spPr>
          <a:xfrm>
            <a:off x="978408" y="1554480"/>
            <a:ext cx="493776" cy="493776"/>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01</a:t>
            </a:r>
          </a:p>
        </p:txBody>
      </p:sp>
      <p:sp>
        <p:nvSpPr>
          <p:cNvPr id="6" name="TextBox 5"/>
          <p:cNvSpPr txBox="1"/>
          <p:nvPr/>
        </p:nvSpPr>
        <p:spPr>
          <a:xfrm>
            <a:off x="1600200" y="1645920"/>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Extracción</a:t>
            </a:r>
          </a:p>
        </p:txBody>
      </p:sp>
      <p:sp>
        <p:nvSpPr>
          <p:cNvPr id="7" name="TextBox 6"/>
          <p:cNvSpPr txBox="1"/>
          <p:nvPr/>
        </p:nvSpPr>
        <p:spPr>
          <a:xfrm>
            <a:off x="978408" y="2231136"/>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Descargas programadas desde SAP de venta, pedidos con su resultado de fill rate, stock, tránsito y maestro de materiales.</a:t>
            </a:r>
          </a:p>
        </p:txBody>
      </p:sp>
      <p:sp>
        <p:nvSpPr>
          <p:cNvPr id="8" name="Snip Single Corner Rectangle 7"/>
          <p:cNvSpPr/>
          <p:nvPr/>
        </p:nvSpPr>
        <p:spPr>
          <a:xfrm>
            <a:off x="4398264" y="1298448"/>
            <a:ext cx="3511296" cy="1874519"/>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Oval 8"/>
          <p:cNvSpPr/>
          <p:nvPr/>
        </p:nvSpPr>
        <p:spPr>
          <a:xfrm>
            <a:off x="4654296" y="1554480"/>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02</a:t>
            </a:r>
          </a:p>
        </p:txBody>
      </p:sp>
      <p:sp>
        <p:nvSpPr>
          <p:cNvPr id="10" name="TextBox 9"/>
          <p:cNvSpPr txBox="1"/>
          <p:nvPr/>
        </p:nvSpPr>
        <p:spPr>
          <a:xfrm>
            <a:off x="5276088" y="1645920"/>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Validación de origen</a:t>
            </a:r>
          </a:p>
        </p:txBody>
      </p:sp>
      <p:sp>
        <p:nvSpPr>
          <p:cNvPr id="11" name="TextBox 10"/>
          <p:cNvSpPr txBox="1"/>
          <p:nvPr/>
        </p:nvSpPr>
        <p:spPr>
          <a:xfrm>
            <a:off x="4654296" y="2231136"/>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Reglas automáticas de calidad: duplicados, registros incompletos, códigos inexistentes y períodos faltantes.</a:t>
            </a:r>
          </a:p>
        </p:txBody>
      </p:sp>
      <p:sp>
        <p:nvSpPr>
          <p:cNvPr id="12" name="Snip Single Corner Rectangle 11"/>
          <p:cNvSpPr/>
          <p:nvPr/>
        </p:nvSpPr>
        <p:spPr>
          <a:xfrm>
            <a:off x="8065008" y="1298448"/>
            <a:ext cx="3511296" cy="1874519"/>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Oval 12"/>
          <p:cNvSpPr/>
          <p:nvPr/>
        </p:nvSpPr>
        <p:spPr>
          <a:xfrm>
            <a:off x="8321040" y="1554480"/>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03</a:t>
            </a:r>
          </a:p>
        </p:txBody>
      </p:sp>
      <p:sp>
        <p:nvSpPr>
          <p:cNvPr id="14" name="TextBox 13"/>
          <p:cNvSpPr txBox="1"/>
          <p:nvPr/>
        </p:nvSpPr>
        <p:spPr>
          <a:xfrm>
            <a:off x="8942832" y="1645920"/>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Normalización</a:t>
            </a:r>
          </a:p>
        </p:txBody>
      </p:sp>
      <p:sp>
        <p:nvSpPr>
          <p:cNvPr id="15" name="TextBox 14"/>
          <p:cNvSpPr txBox="1"/>
          <p:nvPr/>
        </p:nvSpPr>
        <p:spPr>
          <a:xfrm>
            <a:off x="8321040" y="2231136"/>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Unificación del código de material y resolución de la cadena de reemplazo hasta el último eslabón vigente.</a:t>
            </a:r>
          </a:p>
        </p:txBody>
      </p:sp>
      <p:sp>
        <p:nvSpPr>
          <p:cNvPr id="16" name="Snip Single Corner Rectangle 15"/>
          <p:cNvSpPr/>
          <p:nvPr/>
        </p:nvSpPr>
        <p:spPr>
          <a:xfrm>
            <a:off x="722376" y="3383280"/>
            <a:ext cx="3511296" cy="1874519"/>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Oval 16"/>
          <p:cNvSpPr/>
          <p:nvPr/>
        </p:nvSpPr>
        <p:spPr>
          <a:xfrm>
            <a:off x="978408" y="3639312"/>
            <a:ext cx="493776" cy="493776"/>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04</a:t>
            </a:r>
          </a:p>
        </p:txBody>
      </p:sp>
      <p:sp>
        <p:nvSpPr>
          <p:cNvPr id="18" name="TextBox 17"/>
          <p:cNvSpPr txBox="1"/>
          <p:nvPr/>
        </p:nvSpPr>
        <p:spPr>
          <a:xfrm>
            <a:off x="1600200" y="3730752"/>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Modelo de datos</a:t>
            </a:r>
          </a:p>
        </p:txBody>
      </p:sp>
      <p:sp>
        <p:nvSpPr>
          <p:cNvPr id="19" name="TextBox 18"/>
          <p:cNvSpPr txBox="1"/>
          <p:nvPr/>
        </p:nvSpPr>
        <p:spPr>
          <a:xfrm>
            <a:off x="978408" y="4315968"/>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Esquema analítico con dimensiones de fecha, material, marca, familia, segmento y sucursal.</a:t>
            </a:r>
          </a:p>
        </p:txBody>
      </p:sp>
      <p:sp>
        <p:nvSpPr>
          <p:cNvPr id="20" name="Snip Single Corner Rectangle 19"/>
          <p:cNvSpPr/>
          <p:nvPr/>
        </p:nvSpPr>
        <p:spPr>
          <a:xfrm>
            <a:off x="4398264" y="3383280"/>
            <a:ext cx="3511296" cy="1874519"/>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Oval 20"/>
          <p:cNvSpPr/>
          <p:nvPr/>
        </p:nvSpPr>
        <p:spPr>
          <a:xfrm>
            <a:off x="4654296" y="3639312"/>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05</a:t>
            </a:r>
          </a:p>
        </p:txBody>
      </p:sp>
      <p:sp>
        <p:nvSpPr>
          <p:cNvPr id="22" name="TextBox 21"/>
          <p:cNvSpPr txBox="1"/>
          <p:nvPr/>
        </p:nvSpPr>
        <p:spPr>
          <a:xfrm>
            <a:off x="5276088" y="3730752"/>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Construcción de variables</a:t>
            </a:r>
          </a:p>
        </p:txBody>
      </p:sp>
      <p:sp>
        <p:nvSpPr>
          <p:cNvPr id="23" name="TextBox 22"/>
          <p:cNvSpPr txBox="1"/>
          <p:nvPr/>
        </p:nvSpPr>
        <p:spPr>
          <a:xfrm>
            <a:off x="4654296" y="4315968"/>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Generación de los predictores: rezagos, medias móviles, atributos del material y parque vehicular.</a:t>
            </a:r>
          </a:p>
        </p:txBody>
      </p:sp>
      <p:sp>
        <p:nvSpPr>
          <p:cNvPr id="24" name="Snip Single Corner Rectangle 23"/>
          <p:cNvSpPr/>
          <p:nvPr/>
        </p:nvSpPr>
        <p:spPr>
          <a:xfrm>
            <a:off x="8065008" y="3383280"/>
            <a:ext cx="3511296" cy="1874519"/>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Oval 24"/>
          <p:cNvSpPr/>
          <p:nvPr/>
        </p:nvSpPr>
        <p:spPr>
          <a:xfrm>
            <a:off x="8321040" y="3639312"/>
            <a:ext cx="493776" cy="493776"/>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06</a:t>
            </a:r>
          </a:p>
        </p:txBody>
      </p:sp>
      <p:sp>
        <p:nvSpPr>
          <p:cNvPr id="26" name="TextBox 25"/>
          <p:cNvSpPr txBox="1"/>
          <p:nvPr/>
        </p:nvSpPr>
        <p:spPr>
          <a:xfrm>
            <a:off x="8942832" y="3730752"/>
            <a:ext cx="2395728" cy="347472"/>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Set de entrenamiento</a:t>
            </a:r>
          </a:p>
        </p:txBody>
      </p:sp>
      <p:sp>
        <p:nvSpPr>
          <p:cNvPr id="27" name="TextBox 26"/>
          <p:cNvSpPr txBox="1"/>
          <p:nvPr/>
        </p:nvSpPr>
        <p:spPr>
          <a:xfrm>
            <a:off x="8321040" y="4315968"/>
            <a:ext cx="2999232" cy="82296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Tabla por material y período, particionada en entrenamiento y prueba para el backtesting.</a:t>
            </a:r>
          </a:p>
        </p:txBody>
      </p:sp>
      <p:sp>
        <p:nvSpPr>
          <p:cNvPr id="28" name="TextBox 27"/>
          <p:cNvSpPr txBox="1"/>
          <p:nvPr/>
        </p:nvSpPr>
        <p:spPr>
          <a:xfrm>
            <a:off x="722376" y="5742432"/>
            <a:ext cx="10753344" cy="274320"/>
          </a:xfrm>
          <a:prstGeom prst="rect">
            <a:avLst/>
          </a:prstGeom>
          <a:noFill/>
        </p:spPr>
        <p:txBody>
          <a:bodyPr wrap="square" lIns="0" tIns="0" rIns="0" bIns="0" anchor="t">
            <a:spAutoFit/>
          </a:bodyPr>
          <a:lstStyle/>
          <a:p>
            <a:pPr algn="l">
              <a:lnSpc>
                <a:spcPct val="115000"/>
              </a:lnSpc>
              <a:spcAft>
                <a:spcPts val="0"/>
              </a:spcAft>
            </a:pPr>
            <a:r>
              <a:rPr sz="950" b="1">
                <a:solidFill>
                  <a:srgbClr val="001A41"/>
                </a:solidFill>
                <a:latin typeface="Century Gothic"/>
              </a:rPr>
              <a:t>Ejecución:  </a:t>
            </a:r>
            <a:r>
              <a:rPr sz="950" b="0">
                <a:solidFill>
                  <a:srgbClr val="39464F"/>
                </a:solidFill>
                <a:latin typeface="Century Gothic"/>
              </a:rPr>
              <a:t>el pipeline se dispara desde la propia aplicación o de forma programada, dejando registro de la fecha de carga, del volumen procesado y de las validaciones superadas.</a:t>
            </a:r>
          </a:p>
        </p:txBody>
      </p:sp>
      <p:sp>
        <p:nvSpPr>
          <p:cNvPr id="29" name="TextBox 28"/>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Metodología: CRISP-DM</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481328"/>
            <a:ext cx="1673352" cy="32004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Oval 4"/>
          <p:cNvSpPr/>
          <p:nvPr/>
        </p:nvSpPr>
        <p:spPr>
          <a:xfrm>
            <a:off x="1321308" y="1700784"/>
            <a:ext cx="475488" cy="47548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1</a:t>
            </a:r>
          </a:p>
        </p:txBody>
      </p:sp>
      <p:sp>
        <p:nvSpPr>
          <p:cNvPr id="6" name="TextBox 5"/>
          <p:cNvSpPr txBox="1"/>
          <p:nvPr/>
        </p:nvSpPr>
        <p:spPr>
          <a:xfrm>
            <a:off x="832104"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Comprensión</a:t>
            </a:r>
          </a:p>
          <a:p>
            <a:pPr algn="ctr">
              <a:lnSpc>
                <a:spcPct val="105000"/>
              </a:lnSpc>
              <a:spcBef>
                <a:spcPts val="0"/>
              </a:spcBef>
              <a:spcAft>
                <a:spcPts val="0"/>
              </a:spcAft>
            </a:pPr>
            <a:r>
              <a:rPr sz="1100" b="1" i="0">
                <a:solidFill>
                  <a:srgbClr val="001A41"/>
                </a:solidFill>
                <a:latin typeface="Century Gothic"/>
              </a:rPr>
              <a:t>del negocio</a:t>
            </a:r>
          </a:p>
        </p:txBody>
      </p:sp>
      <p:sp>
        <p:nvSpPr>
          <p:cNvPr id="7" name="TextBox 6"/>
          <p:cNvSpPr txBox="1"/>
          <p:nvPr/>
        </p:nvSpPr>
        <p:spPr>
          <a:xfrm>
            <a:off x="832104"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Objetivos, definición del fill rate y criterios de éxito con la contraparte.</a:t>
            </a:r>
          </a:p>
        </p:txBody>
      </p:sp>
      <p:sp>
        <p:nvSpPr>
          <p:cNvPr id="8" name="Snip Single Corner Rectangle 7"/>
          <p:cNvSpPr/>
          <p:nvPr/>
        </p:nvSpPr>
        <p:spPr>
          <a:xfrm>
            <a:off x="1101852"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S1–S4</a:t>
            </a:r>
          </a:p>
        </p:txBody>
      </p:sp>
      <p:sp>
        <p:nvSpPr>
          <p:cNvPr id="9" name="Snip Single Corner Rectangle 8"/>
          <p:cNvSpPr/>
          <p:nvPr/>
        </p:nvSpPr>
        <p:spPr>
          <a:xfrm>
            <a:off x="2538374" y="1481328"/>
            <a:ext cx="1673352" cy="32004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Oval 9"/>
          <p:cNvSpPr/>
          <p:nvPr/>
        </p:nvSpPr>
        <p:spPr>
          <a:xfrm>
            <a:off x="3137306" y="1700784"/>
            <a:ext cx="475488" cy="47548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2</a:t>
            </a:r>
          </a:p>
        </p:txBody>
      </p:sp>
      <p:sp>
        <p:nvSpPr>
          <p:cNvPr id="11" name="TextBox 10"/>
          <p:cNvSpPr txBox="1"/>
          <p:nvPr/>
        </p:nvSpPr>
        <p:spPr>
          <a:xfrm>
            <a:off x="2648102"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Comprensión</a:t>
            </a:r>
          </a:p>
          <a:p>
            <a:pPr algn="ctr">
              <a:lnSpc>
                <a:spcPct val="105000"/>
              </a:lnSpc>
              <a:spcBef>
                <a:spcPts val="0"/>
              </a:spcBef>
              <a:spcAft>
                <a:spcPts val="0"/>
              </a:spcAft>
            </a:pPr>
            <a:r>
              <a:rPr sz="1100" b="1" i="0">
                <a:solidFill>
                  <a:srgbClr val="001A41"/>
                </a:solidFill>
                <a:latin typeface="Century Gothic"/>
              </a:rPr>
              <a:t>de los datos</a:t>
            </a:r>
          </a:p>
        </p:txBody>
      </p:sp>
      <p:sp>
        <p:nvSpPr>
          <p:cNvPr id="12" name="TextBox 11"/>
          <p:cNvSpPr txBox="1"/>
          <p:nvPr/>
        </p:nvSpPr>
        <p:spPr>
          <a:xfrm>
            <a:off x="2648102"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Exploración del histórico de venta y perfilado de calidad de las fuentes.</a:t>
            </a:r>
          </a:p>
        </p:txBody>
      </p:sp>
      <p:sp>
        <p:nvSpPr>
          <p:cNvPr id="13" name="Snip Single Corner Rectangle 12"/>
          <p:cNvSpPr/>
          <p:nvPr/>
        </p:nvSpPr>
        <p:spPr>
          <a:xfrm>
            <a:off x="2917850"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S5–S7</a:t>
            </a:r>
          </a:p>
        </p:txBody>
      </p:sp>
      <p:sp>
        <p:nvSpPr>
          <p:cNvPr id="14" name="Snip Single Corner Rectangle 13"/>
          <p:cNvSpPr/>
          <p:nvPr/>
        </p:nvSpPr>
        <p:spPr>
          <a:xfrm>
            <a:off x="4354372" y="1481328"/>
            <a:ext cx="1673352" cy="32004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Oval 14"/>
          <p:cNvSpPr/>
          <p:nvPr/>
        </p:nvSpPr>
        <p:spPr>
          <a:xfrm>
            <a:off x="4953304" y="1700784"/>
            <a:ext cx="475488" cy="47548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3</a:t>
            </a:r>
          </a:p>
        </p:txBody>
      </p:sp>
      <p:sp>
        <p:nvSpPr>
          <p:cNvPr id="16" name="TextBox 15"/>
          <p:cNvSpPr txBox="1"/>
          <p:nvPr/>
        </p:nvSpPr>
        <p:spPr>
          <a:xfrm>
            <a:off x="4464100"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Preparación</a:t>
            </a:r>
          </a:p>
          <a:p>
            <a:pPr algn="ctr">
              <a:lnSpc>
                <a:spcPct val="105000"/>
              </a:lnSpc>
              <a:spcBef>
                <a:spcPts val="0"/>
              </a:spcBef>
              <a:spcAft>
                <a:spcPts val="0"/>
              </a:spcAft>
            </a:pPr>
            <a:r>
              <a:rPr sz="1100" b="1" i="0">
                <a:solidFill>
                  <a:srgbClr val="001A41"/>
                </a:solidFill>
                <a:latin typeface="Century Gothic"/>
              </a:rPr>
              <a:t>de los datos</a:t>
            </a:r>
          </a:p>
        </p:txBody>
      </p:sp>
      <p:sp>
        <p:nvSpPr>
          <p:cNvPr id="17" name="TextBox 16"/>
          <p:cNvSpPr txBox="1"/>
          <p:nvPr/>
        </p:nvSpPr>
        <p:spPr>
          <a:xfrm>
            <a:off x="4464100"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Pipeline de carga, modelo de datos y construcción de variables predictoras.</a:t>
            </a:r>
          </a:p>
        </p:txBody>
      </p:sp>
      <p:sp>
        <p:nvSpPr>
          <p:cNvPr id="18" name="Snip Single Corner Rectangle 17"/>
          <p:cNvSpPr/>
          <p:nvPr/>
        </p:nvSpPr>
        <p:spPr>
          <a:xfrm>
            <a:off x="4733848"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S5–S10</a:t>
            </a:r>
          </a:p>
        </p:txBody>
      </p:sp>
      <p:sp>
        <p:nvSpPr>
          <p:cNvPr id="19" name="Snip Single Corner Rectangle 18"/>
          <p:cNvSpPr/>
          <p:nvPr/>
        </p:nvSpPr>
        <p:spPr>
          <a:xfrm>
            <a:off x="6170371" y="1481328"/>
            <a:ext cx="1673352" cy="320040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Oval 19"/>
          <p:cNvSpPr/>
          <p:nvPr/>
        </p:nvSpPr>
        <p:spPr>
          <a:xfrm>
            <a:off x="6769303" y="1700784"/>
            <a:ext cx="475488" cy="47548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4</a:t>
            </a:r>
          </a:p>
        </p:txBody>
      </p:sp>
      <p:sp>
        <p:nvSpPr>
          <p:cNvPr id="21" name="TextBox 20"/>
          <p:cNvSpPr txBox="1"/>
          <p:nvPr/>
        </p:nvSpPr>
        <p:spPr>
          <a:xfrm>
            <a:off x="6280099"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Modelado</a:t>
            </a:r>
          </a:p>
        </p:txBody>
      </p:sp>
      <p:sp>
        <p:nvSpPr>
          <p:cNvPr id="22" name="TextBox 21"/>
          <p:cNvSpPr txBox="1"/>
          <p:nvPr/>
        </p:nvSpPr>
        <p:spPr>
          <a:xfrm>
            <a:off x="6280099"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Entrenamiento y comparación de algoritmos por segmento de código.</a:t>
            </a:r>
          </a:p>
        </p:txBody>
      </p:sp>
      <p:sp>
        <p:nvSpPr>
          <p:cNvPr id="23" name="Snip Single Corner Rectangle 22"/>
          <p:cNvSpPr/>
          <p:nvPr/>
        </p:nvSpPr>
        <p:spPr>
          <a:xfrm>
            <a:off x="6549847"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S10–S13</a:t>
            </a:r>
          </a:p>
        </p:txBody>
      </p:sp>
      <p:sp>
        <p:nvSpPr>
          <p:cNvPr id="24" name="Snip Single Corner Rectangle 23"/>
          <p:cNvSpPr/>
          <p:nvPr/>
        </p:nvSpPr>
        <p:spPr>
          <a:xfrm>
            <a:off x="7986369" y="1481328"/>
            <a:ext cx="1673352" cy="320040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Oval 24"/>
          <p:cNvSpPr/>
          <p:nvPr/>
        </p:nvSpPr>
        <p:spPr>
          <a:xfrm>
            <a:off x="8585301" y="1700784"/>
            <a:ext cx="475488" cy="47548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5</a:t>
            </a:r>
          </a:p>
        </p:txBody>
      </p:sp>
      <p:sp>
        <p:nvSpPr>
          <p:cNvPr id="26" name="TextBox 25"/>
          <p:cNvSpPr txBox="1"/>
          <p:nvPr/>
        </p:nvSpPr>
        <p:spPr>
          <a:xfrm>
            <a:off x="8096097"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Evaluación</a:t>
            </a:r>
          </a:p>
        </p:txBody>
      </p:sp>
      <p:sp>
        <p:nvSpPr>
          <p:cNvPr id="27" name="TextBox 26"/>
          <p:cNvSpPr txBox="1"/>
          <p:nvPr/>
        </p:nvSpPr>
        <p:spPr>
          <a:xfrm>
            <a:off x="8096097"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Backtesting sobre períodos cerrados, WMAPE y criterios de aceptación.</a:t>
            </a:r>
          </a:p>
        </p:txBody>
      </p:sp>
      <p:sp>
        <p:nvSpPr>
          <p:cNvPr id="28" name="Snip Single Corner Rectangle 27"/>
          <p:cNvSpPr/>
          <p:nvPr/>
        </p:nvSpPr>
        <p:spPr>
          <a:xfrm>
            <a:off x="8365845"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S12–S14</a:t>
            </a:r>
          </a:p>
        </p:txBody>
      </p:sp>
      <p:sp>
        <p:nvSpPr>
          <p:cNvPr id="29" name="Snip Single Corner Rectangle 28"/>
          <p:cNvSpPr/>
          <p:nvPr/>
        </p:nvSpPr>
        <p:spPr>
          <a:xfrm>
            <a:off x="9802368" y="1481328"/>
            <a:ext cx="1673352" cy="320040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0" name="Oval 29"/>
          <p:cNvSpPr/>
          <p:nvPr/>
        </p:nvSpPr>
        <p:spPr>
          <a:xfrm>
            <a:off x="10401300" y="1700784"/>
            <a:ext cx="475488" cy="47548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6</a:t>
            </a:r>
          </a:p>
        </p:txBody>
      </p:sp>
      <p:sp>
        <p:nvSpPr>
          <p:cNvPr id="31" name="TextBox 30"/>
          <p:cNvSpPr txBox="1"/>
          <p:nvPr/>
        </p:nvSpPr>
        <p:spPr>
          <a:xfrm>
            <a:off x="9912096" y="2340864"/>
            <a:ext cx="1453896" cy="685800"/>
          </a:xfrm>
          <a:prstGeom prst="rect">
            <a:avLst/>
          </a:prstGeom>
          <a:noFill/>
        </p:spPr>
        <p:txBody>
          <a:bodyPr wrap="square" lIns="0" tIns="0" rIns="0" bIns="0" anchor="t">
            <a:spAutoFit/>
          </a:bodyPr>
          <a:lstStyle/>
          <a:p>
            <a:pPr algn="ctr">
              <a:lnSpc>
                <a:spcPct val="105000"/>
              </a:lnSpc>
              <a:spcBef>
                <a:spcPts val="0"/>
              </a:spcBef>
              <a:spcAft>
                <a:spcPts val="0"/>
              </a:spcAft>
            </a:pPr>
            <a:r>
              <a:rPr sz="1100" b="1" i="0">
                <a:solidFill>
                  <a:srgbClr val="001A41"/>
                </a:solidFill>
                <a:latin typeface="Century Gothic"/>
              </a:rPr>
              <a:t>Despliegue</a:t>
            </a:r>
          </a:p>
        </p:txBody>
      </p:sp>
      <p:sp>
        <p:nvSpPr>
          <p:cNvPr id="32" name="TextBox 31"/>
          <p:cNvSpPr txBox="1"/>
          <p:nvPr/>
        </p:nvSpPr>
        <p:spPr>
          <a:xfrm>
            <a:off x="9912096" y="3127248"/>
            <a:ext cx="1453896" cy="100584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39464F"/>
                </a:solidFill>
                <a:latin typeface="Century Gothic"/>
              </a:rPr>
              <a:t>Publicación de los modelos en la aplicación Streamlit.</a:t>
            </a:r>
          </a:p>
        </p:txBody>
      </p:sp>
      <p:sp>
        <p:nvSpPr>
          <p:cNvPr id="33" name="Snip Single Corner Rectangle 32"/>
          <p:cNvSpPr/>
          <p:nvPr/>
        </p:nvSpPr>
        <p:spPr>
          <a:xfrm>
            <a:off x="10181844" y="4206240"/>
            <a:ext cx="914400" cy="237744"/>
          </a:xfrm>
          <a:prstGeom prst="snip1Rect">
            <a:avLst>
              <a:gd name="adj" fmla="val 22000"/>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00" b="1" i="0">
                <a:solidFill>
                  <a:srgbClr val="001A41"/>
                </a:solidFill>
                <a:latin typeface="Century Gothic"/>
              </a:rPr>
              <a:t>S11–S15</a:t>
            </a:r>
          </a:p>
        </p:txBody>
      </p:sp>
      <p:sp>
        <p:nvSpPr>
          <p:cNvPr id="34" name="Snip Single Corner Rectangle 33"/>
          <p:cNvSpPr/>
          <p:nvPr/>
        </p:nvSpPr>
        <p:spPr>
          <a:xfrm>
            <a:off x="722376" y="5029200"/>
            <a:ext cx="1075334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5" name="TextBox 34"/>
          <p:cNvSpPr txBox="1"/>
          <p:nvPr/>
        </p:nvSpPr>
        <p:spPr>
          <a:xfrm>
            <a:off x="1033272" y="5212080"/>
            <a:ext cx="10113264" cy="822960"/>
          </a:xfrm>
          <a:prstGeom prst="rect">
            <a:avLst/>
          </a:prstGeom>
          <a:noFill/>
        </p:spPr>
        <p:txBody>
          <a:bodyPr wrap="square" lIns="0" tIns="0" rIns="0" bIns="0" anchor="t">
            <a:spAutoFit/>
          </a:bodyPr>
          <a:lstStyle/>
          <a:p>
            <a:pPr algn="l">
              <a:spcBef>
                <a:spcPts val="0"/>
              </a:spcBef>
              <a:spcAft>
                <a:spcPts val="500"/>
              </a:spcAft>
            </a:pPr>
            <a:r>
              <a:rPr sz="1150" b="1" i="0">
                <a:solidFill>
                  <a:srgbClr val="001A41"/>
                </a:solidFill>
                <a:latin typeface="Century Gothic"/>
              </a:rPr>
              <a:t>Por qué CRISP-DM</a:t>
            </a:r>
          </a:p>
          <a:p>
            <a:pPr algn="l">
              <a:lnSpc>
                <a:spcPct val="118000"/>
              </a:lnSpc>
              <a:spcBef>
                <a:spcPts val="0"/>
              </a:spcBef>
              <a:spcAft>
                <a:spcPts val="0"/>
              </a:spcAft>
            </a:pPr>
            <a:r>
              <a:rPr sz="950" b="0" i="0">
                <a:solidFill>
                  <a:srgbClr val="39464F"/>
                </a:solidFill>
                <a:latin typeface="Century Gothic"/>
              </a:rPr>
              <a:t>Es el estándar de la disciplina para proyectos de datos y machine learning. Se eligió porque es iterativo —permite volver sobre etapas anteriores cuando los datos revelan algo no previsto— y porque su primera fase es la comprensión del negocio, lo que obliga a partir del problema y no de la técnica. La ejecución se organiza en sprints de dos semanas, cada uno con un entregable verificable.</a:t>
            </a:r>
          </a:p>
        </p:txBody>
      </p:sp>
      <p:sp>
        <p:nvSpPr>
          <p:cNvPr id="36" name="TextBox 35"/>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Ciclo de vida del modelo en producción</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TextBox 3"/>
          <p:cNvSpPr txBox="1"/>
          <p:nvPr/>
        </p:nvSpPr>
        <p:spPr>
          <a:xfrm>
            <a:off x="722376" y="1207008"/>
            <a:ext cx="10753344" cy="292608"/>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El trabajo no termina cuando el modelo se publica: desde ahí empieza a envejecer</a:t>
            </a:r>
          </a:p>
        </p:txBody>
      </p:sp>
      <p:sp>
        <p:nvSpPr>
          <p:cNvPr id="5" name="Snip Single Corner Rectangle 4"/>
          <p:cNvSpPr/>
          <p:nvPr/>
        </p:nvSpPr>
        <p:spPr>
          <a:xfrm>
            <a:off x="722376" y="1609344"/>
            <a:ext cx="2487168" cy="17830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Oval 5"/>
          <p:cNvSpPr/>
          <p:nvPr/>
        </p:nvSpPr>
        <p:spPr>
          <a:xfrm>
            <a:off x="960120" y="1828800"/>
            <a:ext cx="457200" cy="45720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1</a:t>
            </a:r>
          </a:p>
        </p:txBody>
      </p:sp>
      <p:sp>
        <p:nvSpPr>
          <p:cNvPr id="7" name="TextBox 6"/>
          <p:cNvSpPr txBox="1"/>
          <p:nvPr/>
        </p:nvSpPr>
        <p:spPr>
          <a:xfrm>
            <a:off x="1545336" y="1920240"/>
            <a:ext cx="1435608" cy="292608"/>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Entrenamiento</a:t>
            </a:r>
          </a:p>
        </p:txBody>
      </p:sp>
      <p:sp>
        <p:nvSpPr>
          <p:cNvPr id="8" name="TextBox 7"/>
          <p:cNvSpPr txBox="1"/>
          <p:nvPr/>
        </p:nvSpPr>
        <p:spPr>
          <a:xfrm>
            <a:off x="960120" y="2414016"/>
            <a:ext cx="2011680"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Se entrena con el histórico disponible al cierre del mes.</a:t>
            </a:r>
          </a:p>
        </p:txBody>
      </p:sp>
      <p:sp>
        <p:nvSpPr>
          <p:cNvPr id="9" name="Isosceles Triangle 8"/>
          <p:cNvSpPr/>
          <p:nvPr/>
        </p:nvSpPr>
        <p:spPr>
          <a:xfrm rot="5400000">
            <a:off x="3243072" y="2350008"/>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nip Single Corner Rectangle 9"/>
          <p:cNvSpPr/>
          <p:nvPr/>
        </p:nvSpPr>
        <p:spPr>
          <a:xfrm>
            <a:off x="3477768" y="1609344"/>
            <a:ext cx="2487168" cy="17830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Oval 10"/>
          <p:cNvSpPr/>
          <p:nvPr/>
        </p:nvSpPr>
        <p:spPr>
          <a:xfrm>
            <a:off x="3715512" y="1828800"/>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2</a:t>
            </a:r>
          </a:p>
        </p:txBody>
      </p:sp>
      <p:sp>
        <p:nvSpPr>
          <p:cNvPr id="12" name="TextBox 11"/>
          <p:cNvSpPr txBox="1"/>
          <p:nvPr/>
        </p:nvSpPr>
        <p:spPr>
          <a:xfrm>
            <a:off x="4300728" y="1920240"/>
            <a:ext cx="1435608" cy="292608"/>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Validación</a:t>
            </a:r>
          </a:p>
        </p:txBody>
      </p:sp>
      <p:sp>
        <p:nvSpPr>
          <p:cNvPr id="13" name="TextBox 12"/>
          <p:cNvSpPr txBox="1"/>
          <p:nvPr/>
        </p:nvSpPr>
        <p:spPr>
          <a:xfrm>
            <a:off x="3715512" y="2414016"/>
            <a:ext cx="2011680"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Backtesting sobre períodos cerrados. Solo pasa si supera el criterio de aceptación de su segmento.</a:t>
            </a:r>
          </a:p>
        </p:txBody>
      </p:sp>
      <p:sp>
        <p:nvSpPr>
          <p:cNvPr id="14" name="Isosceles Triangle 13"/>
          <p:cNvSpPr/>
          <p:nvPr/>
        </p:nvSpPr>
        <p:spPr>
          <a:xfrm rot="5400000">
            <a:off x="5998464" y="2350008"/>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nip Single Corner Rectangle 14"/>
          <p:cNvSpPr/>
          <p:nvPr/>
        </p:nvSpPr>
        <p:spPr>
          <a:xfrm>
            <a:off x="6233160" y="1609344"/>
            <a:ext cx="2487168" cy="17830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Oval 15"/>
          <p:cNvSpPr/>
          <p:nvPr/>
        </p:nvSpPr>
        <p:spPr>
          <a:xfrm>
            <a:off x="6470904" y="1828800"/>
            <a:ext cx="457200" cy="45720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001A41"/>
                </a:solidFill>
                <a:latin typeface="Century Gothic"/>
              </a:rPr>
              <a:t>3</a:t>
            </a:r>
          </a:p>
        </p:txBody>
      </p:sp>
      <p:sp>
        <p:nvSpPr>
          <p:cNvPr id="17" name="TextBox 16"/>
          <p:cNvSpPr txBox="1"/>
          <p:nvPr/>
        </p:nvSpPr>
        <p:spPr>
          <a:xfrm>
            <a:off x="7056120" y="1920240"/>
            <a:ext cx="1435608" cy="292608"/>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Publicación</a:t>
            </a:r>
          </a:p>
        </p:txBody>
      </p:sp>
      <p:sp>
        <p:nvSpPr>
          <p:cNvPr id="18" name="TextBox 17"/>
          <p:cNvSpPr txBox="1"/>
          <p:nvPr/>
        </p:nvSpPr>
        <p:spPr>
          <a:xfrm>
            <a:off x="6470904" y="2414016"/>
            <a:ext cx="2011680"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El modelo aprobado queda disponible en la aplicación para el negocio.</a:t>
            </a:r>
          </a:p>
        </p:txBody>
      </p:sp>
      <p:sp>
        <p:nvSpPr>
          <p:cNvPr id="19" name="Isosceles Triangle 18"/>
          <p:cNvSpPr/>
          <p:nvPr/>
        </p:nvSpPr>
        <p:spPr>
          <a:xfrm rot="5400000">
            <a:off x="8753856" y="2350008"/>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nip Single Corner Rectangle 19"/>
          <p:cNvSpPr/>
          <p:nvPr/>
        </p:nvSpPr>
        <p:spPr>
          <a:xfrm>
            <a:off x="8988552" y="1609344"/>
            <a:ext cx="2487168" cy="17830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Oval 20"/>
          <p:cNvSpPr/>
          <p:nvPr/>
        </p:nvSpPr>
        <p:spPr>
          <a:xfrm>
            <a:off x="9226296" y="1828800"/>
            <a:ext cx="457200" cy="45720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100" b="1" i="0">
                <a:solidFill>
                  <a:srgbClr val="FFFFFF"/>
                </a:solidFill>
                <a:latin typeface="Century Gothic"/>
              </a:rPr>
              <a:t>4</a:t>
            </a:r>
          </a:p>
        </p:txBody>
      </p:sp>
      <p:sp>
        <p:nvSpPr>
          <p:cNvPr id="22" name="TextBox 21"/>
          <p:cNvSpPr txBox="1"/>
          <p:nvPr/>
        </p:nvSpPr>
        <p:spPr>
          <a:xfrm>
            <a:off x="9811512" y="1920240"/>
            <a:ext cx="1435608" cy="292608"/>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Monitoreo</a:t>
            </a:r>
          </a:p>
        </p:txBody>
      </p:sp>
      <p:sp>
        <p:nvSpPr>
          <p:cNvPr id="23" name="TextBox 22"/>
          <p:cNvSpPr txBox="1"/>
          <p:nvPr/>
        </p:nvSpPr>
        <p:spPr>
          <a:xfrm>
            <a:off x="9226296" y="2414016"/>
            <a:ext cx="2011680" cy="868680"/>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Mes a mes la app compara lo proyectado con la venta real y publica el WMAPE vigente.</a:t>
            </a:r>
          </a:p>
        </p:txBody>
      </p:sp>
      <p:sp>
        <p:nvSpPr>
          <p:cNvPr id="24" name="Rectangle 23"/>
          <p:cNvSpPr/>
          <p:nvPr/>
        </p:nvSpPr>
        <p:spPr>
          <a:xfrm>
            <a:off x="1819656" y="3675887"/>
            <a:ext cx="8558784" cy="18288"/>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Rectangle 24"/>
          <p:cNvSpPr/>
          <p:nvPr/>
        </p:nvSpPr>
        <p:spPr>
          <a:xfrm>
            <a:off x="1819656" y="3675887"/>
            <a:ext cx="18288" cy="310896"/>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Rectangle 25"/>
          <p:cNvSpPr/>
          <p:nvPr/>
        </p:nvSpPr>
        <p:spPr>
          <a:xfrm>
            <a:off x="10378440" y="3401568"/>
            <a:ext cx="18288" cy="292608"/>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7" name="Isosceles Triangle 26"/>
          <p:cNvSpPr/>
          <p:nvPr/>
        </p:nvSpPr>
        <p:spPr>
          <a:xfrm>
            <a:off x="1719072" y="3401568"/>
            <a:ext cx="201168" cy="237744"/>
          </a:xfrm>
          <a:prstGeom prst="triangl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14216" y="3767328"/>
            <a:ext cx="4572000" cy="274320"/>
          </a:xfrm>
          <a:prstGeom prst="rect">
            <a:avLst/>
          </a:prstGeom>
          <a:noFill/>
        </p:spPr>
        <p:txBody>
          <a:bodyPr wrap="square" lIns="0" tIns="0" rIns="0" bIns="0" anchor="t">
            <a:spAutoFit/>
          </a:bodyPr>
          <a:lstStyle/>
          <a:p>
            <a:pPr algn="ctr">
              <a:spcBef>
                <a:spcPts val="0"/>
              </a:spcBef>
              <a:spcAft>
                <a:spcPts val="0"/>
              </a:spcAft>
            </a:pPr>
            <a:r>
              <a:rPr sz="1000" b="1" i="0">
                <a:solidFill>
                  <a:srgbClr val="19BDE6"/>
                </a:solidFill>
                <a:latin typeface="Century Gothic"/>
              </a:rPr>
              <a:t>Si el WMAPE supera el umbral acordado, se dispara un nuevo entrenamiento</a:t>
            </a:r>
          </a:p>
        </p:txBody>
      </p:sp>
      <p:sp>
        <p:nvSpPr>
          <p:cNvPr id="29" name="Snip Single Corner Rectangle 28"/>
          <p:cNvSpPr/>
          <p:nvPr/>
        </p:nvSpPr>
        <p:spPr>
          <a:xfrm>
            <a:off x="722376" y="4261104"/>
            <a:ext cx="3511296" cy="13716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0" name="Oval 29"/>
          <p:cNvSpPr/>
          <p:nvPr/>
        </p:nvSpPr>
        <p:spPr>
          <a:xfrm>
            <a:off x="978408" y="4480560"/>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1" name="TextBox 30"/>
          <p:cNvSpPr txBox="1"/>
          <p:nvPr/>
        </p:nvSpPr>
        <p:spPr>
          <a:xfrm>
            <a:off x="1197864" y="4407408"/>
            <a:ext cx="2779776"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Gestión de versiones</a:t>
            </a:r>
          </a:p>
        </p:txBody>
      </p:sp>
      <p:sp>
        <p:nvSpPr>
          <p:cNvPr id="32" name="TextBox 31"/>
          <p:cNvSpPr txBox="1"/>
          <p:nvPr/>
        </p:nvSpPr>
        <p:spPr>
          <a:xfrm>
            <a:off x="978408" y="4791456"/>
            <a:ext cx="2999232" cy="74980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Cada modelo queda registrado con su fecha, sus parámetros y sus métricas. Siempre se puede volver a la versión anterior.</a:t>
            </a:r>
          </a:p>
        </p:txBody>
      </p:sp>
      <p:sp>
        <p:nvSpPr>
          <p:cNvPr id="33" name="Snip Single Corner Rectangle 32"/>
          <p:cNvSpPr/>
          <p:nvPr/>
        </p:nvSpPr>
        <p:spPr>
          <a:xfrm>
            <a:off x="4398264" y="4261104"/>
            <a:ext cx="3511296" cy="13716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4" name="Oval 33"/>
          <p:cNvSpPr/>
          <p:nvPr/>
        </p:nvSpPr>
        <p:spPr>
          <a:xfrm>
            <a:off x="4654296" y="4480560"/>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5" name="TextBox 34"/>
          <p:cNvSpPr txBox="1"/>
          <p:nvPr/>
        </p:nvSpPr>
        <p:spPr>
          <a:xfrm>
            <a:off x="4873752" y="4407408"/>
            <a:ext cx="2779776"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Umbral por segmento</a:t>
            </a:r>
          </a:p>
        </p:txBody>
      </p:sp>
      <p:sp>
        <p:nvSpPr>
          <p:cNvPr id="36" name="TextBox 35"/>
          <p:cNvSpPr txBox="1"/>
          <p:nvPr/>
        </p:nvSpPr>
        <p:spPr>
          <a:xfrm>
            <a:off x="4654296" y="4791456"/>
            <a:ext cx="2999232" cy="74980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El criterio no es único: un código de alta rotación y uno de venta esporádica no se exigen igual.</a:t>
            </a:r>
          </a:p>
        </p:txBody>
      </p:sp>
      <p:sp>
        <p:nvSpPr>
          <p:cNvPr id="37" name="Snip Single Corner Rectangle 36"/>
          <p:cNvSpPr/>
          <p:nvPr/>
        </p:nvSpPr>
        <p:spPr>
          <a:xfrm>
            <a:off x="8074151" y="4261104"/>
            <a:ext cx="3511296" cy="13716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8" name="Oval 37"/>
          <p:cNvSpPr/>
          <p:nvPr/>
        </p:nvSpPr>
        <p:spPr>
          <a:xfrm>
            <a:off x="8330183" y="4480560"/>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9" name="TextBox 38"/>
          <p:cNvSpPr txBox="1"/>
          <p:nvPr/>
        </p:nvSpPr>
        <p:spPr>
          <a:xfrm>
            <a:off x="8549639" y="4407408"/>
            <a:ext cx="2779776"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Quién lo opera</a:t>
            </a:r>
          </a:p>
        </p:txBody>
      </p:sp>
      <p:sp>
        <p:nvSpPr>
          <p:cNvPr id="40" name="TextBox 39"/>
          <p:cNvSpPr txBox="1"/>
          <p:nvPr/>
        </p:nvSpPr>
        <p:spPr>
          <a:xfrm>
            <a:off x="8330183" y="4791456"/>
            <a:ext cx="2999232" cy="749808"/>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El monitoreo lo ve la jefatura desde la aplicación; el reentrenamiento lo ejecuta el equipo técnico.</a:t>
            </a:r>
          </a:p>
        </p:txBody>
      </p:sp>
      <p:sp>
        <p:nvSpPr>
          <p:cNvPr id="41" name="TextBox 40"/>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Variables del modelo</a:t>
            </a:r>
          </a:p>
        </p:txBody>
      </p:sp>
      <p:sp>
        <p:nvSpPr>
          <p:cNvPr id="3" name="TextBox 2"/>
          <p:cNvSpPr txBox="1"/>
          <p:nvPr/>
        </p:nvSpPr>
        <p:spPr>
          <a:xfrm>
            <a:off x="722376" y="6455664"/>
            <a:ext cx="9875520" cy="182880"/>
          </a:xfrm>
          <a:prstGeom prst="rect">
            <a:avLst/>
          </a:prstGeom>
          <a:noFill/>
        </p:spPr>
        <p:txBody>
          <a:bodyPr wrap="square" lIns="0" tIns="0" rIns="0" bIns="0" anchor="t">
            <a:spAutoFit/>
          </a:bodyPr>
          <a:lstStyle/>
          <a:p>
            <a:pPr algn="l">
              <a:spcBef>
                <a:spcPts val="0"/>
              </a:spcBef>
              <a:spcAft>
                <a:spcPts val="0"/>
              </a:spcAft>
            </a:pPr>
            <a:r>
              <a:rPr sz="750" b="0" i="0">
                <a:solidFill>
                  <a:srgbClr val="858A8C"/>
                </a:solidFill>
                <a:latin typeface="Century Gothic"/>
              </a:rPr>
              <a:t>Fuente: 08.2026 Base Venta OEM Sell In PBI, hoja «TD Marca» (cierre jul-2026). Datos internos de Inchcape Chile, uso académico bajo acuerdo de confidencialidad.</a:t>
            </a:r>
          </a:p>
        </p:txBody>
      </p:sp>
      <p:sp>
        <p:nvSpPr>
          <p:cNvPr id="4" name="TextBox 3"/>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5" name="Snip Single Corner Rectangle 4"/>
          <p:cNvSpPr/>
          <p:nvPr/>
        </p:nvSpPr>
        <p:spPr>
          <a:xfrm>
            <a:off x="722376" y="1207008"/>
            <a:ext cx="3840480" cy="457200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TextBox 5"/>
          <p:cNvSpPr txBox="1"/>
          <p:nvPr/>
        </p:nvSpPr>
        <p:spPr>
          <a:xfrm>
            <a:off x="1014984" y="1444752"/>
            <a:ext cx="3246120" cy="274320"/>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VARIABLE OBJETIVO</a:t>
            </a:r>
          </a:p>
        </p:txBody>
      </p:sp>
      <p:sp>
        <p:nvSpPr>
          <p:cNvPr id="7" name="TextBox 6"/>
          <p:cNvSpPr txBox="1"/>
          <p:nvPr/>
        </p:nvSpPr>
        <p:spPr>
          <a:xfrm>
            <a:off x="1014984" y="1828800"/>
            <a:ext cx="3291840" cy="914400"/>
          </a:xfrm>
          <a:prstGeom prst="rect">
            <a:avLst/>
          </a:prstGeom>
          <a:noFill/>
        </p:spPr>
        <p:txBody>
          <a:bodyPr wrap="square" lIns="0" tIns="0" rIns="0" bIns="0" anchor="t">
            <a:spAutoFit/>
          </a:bodyPr>
          <a:lstStyle/>
          <a:p>
            <a:pPr algn="l">
              <a:lnSpc>
                <a:spcPct val="100000"/>
              </a:lnSpc>
              <a:spcBef>
                <a:spcPts val="0"/>
              </a:spcBef>
              <a:spcAft>
                <a:spcPts val="200"/>
              </a:spcAft>
            </a:pPr>
            <a:r>
              <a:rPr sz="1800" b="1" i="0">
                <a:solidFill>
                  <a:srgbClr val="FFFFFF"/>
                </a:solidFill>
                <a:latin typeface="Century Gothic"/>
              </a:rPr>
              <a:t>Demanda mensual</a:t>
            </a:r>
          </a:p>
          <a:p>
            <a:pPr algn="l">
              <a:lnSpc>
                <a:spcPct val="100000"/>
              </a:lnSpc>
              <a:spcBef>
                <a:spcPts val="0"/>
              </a:spcBef>
              <a:spcAft>
                <a:spcPts val="0"/>
              </a:spcAft>
            </a:pPr>
            <a:r>
              <a:rPr sz="1800" b="1" i="0">
                <a:solidFill>
                  <a:srgbClr val="FFFFFF"/>
                </a:solidFill>
                <a:latin typeface="Century Gothic"/>
              </a:rPr>
              <a:t>por código de material</a:t>
            </a:r>
          </a:p>
        </p:txBody>
      </p:sp>
      <p:sp>
        <p:nvSpPr>
          <p:cNvPr id="8" name="TextBox 7"/>
          <p:cNvSpPr txBox="1"/>
          <p:nvPr/>
        </p:nvSpPr>
        <p:spPr>
          <a:xfrm>
            <a:off x="1014984" y="2944368"/>
            <a:ext cx="3291840" cy="1371600"/>
          </a:xfrm>
          <a:prstGeom prst="rect">
            <a:avLst/>
          </a:prstGeom>
          <a:noFill/>
        </p:spPr>
        <p:txBody>
          <a:bodyPr wrap="square" lIns="0" tIns="0" rIns="0" bIns="0" anchor="t">
            <a:spAutoFit/>
          </a:bodyPr>
          <a:lstStyle/>
          <a:p>
            <a:pPr algn="l">
              <a:lnSpc>
                <a:spcPct val="120000"/>
              </a:lnSpc>
              <a:spcBef>
                <a:spcPts val="0"/>
              </a:spcBef>
              <a:spcAft>
                <a:spcPts val="0"/>
              </a:spcAft>
            </a:pPr>
            <a:r>
              <a:rPr sz="1000" b="0" i="0">
                <a:solidFill>
                  <a:srgbClr val="9FB3C8"/>
                </a:solidFill>
                <a:latin typeface="Century Gothic"/>
              </a:rPr>
              <a:t>Unidades solicitadas de cada material en un mes. Variable numérica continua, por lo que el problema se plantea como una regresión sobre series de tiempo.</a:t>
            </a:r>
          </a:p>
        </p:txBody>
      </p:sp>
      <p:sp>
        <p:nvSpPr>
          <p:cNvPr id="9" name="TextBox 8"/>
          <p:cNvSpPr txBox="1"/>
          <p:nvPr/>
        </p:nvSpPr>
        <p:spPr>
          <a:xfrm>
            <a:off x="1014984" y="4407408"/>
            <a:ext cx="3291840" cy="1188720"/>
          </a:xfrm>
          <a:prstGeom prst="rect">
            <a:avLst/>
          </a:prstGeom>
          <a:noFill/>
        </p:spPr>
        <p:txBody>
          <a:bodyPr wrap="square" lIns="0" tIns="0" rIns="0" bIns="0" anchor="t">
            <a:spAutoFit/>
          </a:bodyPr>
          <a:lstStyle/>
          <a:p>
            <a:pPr algn="l">
              <a:lnSpc>
                <a:spcPct val="120000"/>
              </a:lnSpc>
              <a:spcAft>
                <a:spcPts val="0"/>
              </a:spcAft>
            </a:pPr>
            <a:r>
              <a:rPr sz="1000" b="1">
                <a:solidFill>
                  <a:srgbClr val="19BDE6"/>
                </a:solidFill>
                <a:latin typeface="Century Gothic"/>
              </a:rPr>
              <a:t>Variable derivada:  </a:t>
            </a:r>
            <a:r>
              <a:rPr sz="1000" b="0">
                <a:solidFill>
                  <a:srgbClr val="9FB3C8"/>
                </a:solidFill>
                <a:latin typeface="Century Gothic"/>
              </a:rPr>
              <a:t>de la demanda proyectada y su error se calcula la cobertura sugerida, que es lo que consulta el usuario.</a:t>
            </a:r>
          </a:p>
        </p:txBody>
      </p:sp>
      <p:sp>
        <p:nvSpPr>
          <p:cNvPr id="10" name="TextBox 9"/>
          <p:cNvSpPr txBox="1"/>
          <p:nvPr/>
        </p:nvSpPr>
        <p:spPr>
          <a:xfrm>
            <a:off x="4892040" y="1207008"/>
            <a:ext cx="6583680"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Variables predictoras</a:t>
            </a:r>
          </a:p>
        </p:txBody>
      </p:sp>
      <p:sp>
        <p:nvSpPr>
          <p:cNvPr id="11" name="Snip Single Corner Rectangle 10"/>
          <p:cNvSpPr/>
          <p:nvPr/>
        </p:nvSpPr>
        <p:spPr>
          <a:xfrm>
            <a:off x="4892040" y="1609344"/>
            <a:ext cx="3200400" cy="1261872"/>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Oval 11"/>
          <p:cNvSpPr/>
          <p:nvPr/>
        </p:nvSpPr>
        <p:spPr>
          <a:xfrm>
            <a:off x="5129783" y="1865376"/>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TextBox 12"/>
          <p:cNvSpPr txBox="1"/>
          <p:nvPr/>
        </p:nvSpPr>
        <p:spPr>
          <a:xfrm>
            <a:off x="5349240" y="179222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Histórico de demanda</a:t>
            </a:r>
          </a:p>
        </p:txBody>
      </p:sp>
      <p:sp>
        <p:nvSpPr>
          <p:cNvPr id="14" name="TextBox 13"/>
          <p:cNvSpPr txBox="1"/>
          <p:nvPr/>
        </p:nvSpPr>
        <p:spPr>
          <a:xfrm>
            <a:off x="5129783" y="217627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Rezagos de 1, 3, 6 y 12 meses, media móvil, tendencia y meses sin venta.</a:t>
            </a:r>
          </a:p>
        </p:txBody>
      </p:sp>
      <p:sp>
        <p:nvSpPr>
          <p:cNvPr id="15" name="Snip Single Corner Rectangle 14"/>
          <p:cNvSpPr/>
          <p:nvPr/>
        </p:nvSpPr>
        <p:spPr>
          <a:xfrm>
            <a:off x="8238744" y="1609344"/>
            <a:ext cx="3200400" cy="1261872"/>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Oval 15"/>
          <p:cNvSpPr/>
          <p:nvPr/>
        </p:nvSpPr>
        <p:spPr>
          <a:xfrm>
            <a:off x="8476488" y="1865376"/>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TextBox 16"/>
          <p:cNvSpPr txBox="1"/>
          <p:nvPr/>
        </p:nvSpPr>
        <p:spPr>
          <a:xfrm>
            <a:off x="8695944" y="179222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Atributos del material</a:t>
            </a:r>
          </a:p>
        </p:txBody>
      </p:sp>
      <p:sp>
        <p:nvSpPr>
          <p:cNvPr id="18" name="TextBox 17"/>
          <p:cNvSpPr txBox="1"/>
          <p:nvPr/>
        </p:nvSpPr>
        <p:spPr>
          <a:xfrm>
            <a:off x="8476488" y="217627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Familia, Marca, Sector, Origen del proveedor y Precio de Venta Público.</a:t>
            </a:r>
          </a:p>
        </p:txBody>
      </p:sp>
      <p:sp>
        <p:nvSpPr>
          <p:cNvPr id="19" name="Snip Single Corner Rectangle 18"/>
          <p:cNvSpPr/>
          <p:nvPr/>
        </p:nvSpPr>
        <p:spPr>
          <a:xfrm>
            <a:off x="4892040" y="3026664"/>
            <a:ext cx="3200400" cy="1261872"/>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Oval 19"/>
          <p:cNvSpPr/>
          <p:nvPr/>
        </p:nvSpPr>
        <p:spPr>
          <a:xfrm>
            <a:off x="5129783" y="3282696"/>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5349240" y="320954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Apertura Parque</a:t>
            </a:r>
          </a:p>
        </p:txBody>
      </p:sp>
      <p:sp>
        <p:nvSpPr>
          <p:cNvPr id="22" name="TextBox 21"/>
          <p:cNvSpPr txBox="1"/>
          <p:nvPr/>
        </p:nvSpPr>
        <p:spPr>
          <a:xfrm>
            <a:off x="5129783" y="359359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Vigente, No Vigente o Nuevo. Campo ya presente en el maestro de vigencia.</a:t>
            </a:r>
          </a:p>
        </p:txBody>
      </p:sp>
      <p:sp>
        <p:nvSpPr>
          <p:cNvPr id="23" name="Snip Single Corner Rectangle 22"/>
          <p:cNvSpPr/>
          <p:nvPr/>
        </p:nvSpPr>
        <p:spPr>
          <a:xfrm>
            <a:off x="8238744" y="3026664"/>
            <a:ext cx="3200400" cy="1261872"/>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Oval 23"/>
          <p:cNvSpPr/>
          <p:nvPr/>
        </p:nvSpPr>
        <p:spPr>
          <a:xfrm>
            <a:off x="8476488" y="3282696"/>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TextBox 24"/>
          <p:cNvSpPr txBox="1"/>
          <p:nvPr/>
        </p:nvSpPr>
        <p:spPr>
          <a:xfrm>
            <a:off x="8695944" y="320954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Cadena de reemplazo</a:t>
            </a:r>
          </a:p>
        </p:txBody>
      </p:sp>
      <p:sp>
        <p:nvSpPr>
          <p:cNvPr id="26" name="TextBox 25"/>
          <p:cNvSpPr txBox="1"/>
          <p:nvPr/>
        </p:nvSpPr>
        <p:spPr>
          <a:xfrm>
            <a:off x="8476488" y="359359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Código antecesor y último eslabón, desde el maestro COD_ACTUAL.</a:t>
            </a:r>
          </a:p>
        </p:txBody>
      </p:sp>
      <p:sp>
        <p:nvSpPr>
          <p:cNvPr id="27" name="Snip Single Corner Rectangle 26"/>
          <p:cNvSpPr/>
          <p:nvPr/>
        </p:nvSpPr>
        <p:spPr>
          <a:xfrm>
            <a:off x="4892040" y="4443984"/>
            <a:ext cx="3200400" cy="1261872"/>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8" name="Oval 27"/>
          <p:cNvSpPr/>
          <p:nvPr/>
        </p:nvSpPr>
        <p:spPr>
          <a:xfrm>
            <a:off x="5129783" y="4700016"/>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9" name="TextBox 28"/>
          <p:cNvSpPr txBox="1"/>
          <p:nvPr/>
        </p:nvSpPr>
        <p:spPr>
          <a:xfrm>
            <a:off x="5349240" y="462686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Segmentación y criticidad</a:t>
            </a:r>
          </a:p>
        </p:txBody>
      </p:sp>
      <p:sp>
        <p:nvSpPr>
          <p:cNvPr id="30" name="TextBox 29"/>
          <p:cNvSpPr txBox="1"/>
          <p:nvPr/>
        </p:nvSpPr>
        <p:spPr>
          <a:xfrm>
            <a:off x="5129783" y="501091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Flag IPL, códigos estratégicos, plan de mantención y segmentación.</a:t>
            </a:r>
          </a:p>
        </p:txBody>
      </p:sp>
      <p:sp>
        <p:nvSpPr>
          <p:cNvPr id="31" name="Snip Single Corner Rectangle 30"/>
          <p:cNvSpPr/>
          <p:nvPr/>
        </p:nvSpPr>
        <p:spPr>
          <a:xfrm>
            <a:off x="8238744" y="4443984"/>
            <a:ext cx="3200400" cy="1261872"/>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2" name="Oval 31"/>
          <p:cNvSpPr/>
          <p:nvPr/>
        </p:nvSpPr>
        <p:spPr>
          <a:xfrm>
            <a:off x="8476488" y="4700016"/>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3" name="TextBox 32"/>
          <p:cNvSpPr txBox="1"/>
          <p:nvPr/>
        </p:nvSpPr>
        <p:spPr>
          <a:xfrm>
            <a:off x="8695944" y="4626864"/>
            <a:ext cx="2606040" cy="292608"/>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Variables operativas</a:t>
            </a:r>
          </a:p>
        </p:txBody>
      </p:sp>
      <p:sp>
        <p:nvSpPr>
          <p:cNvPr id="34" name="TextBox 33"/>
          <p:cNvSpPr txBox="1"/>
          <p:nvPr/>
        </p:nvSpPr>
        <p:spPr>
          <a:xfrm>
            <a:off x="8476488" y="5010912"/>
            <a:ext cx="2788920" cy="64008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Tipo de pedido (normal o VOR), stock, tránsito y lead time según origen.</a:t>
            </a:r>
          </a:p>
        </p:txBody>
      </p:sp>
      <p:sp>
        <p:nvSpPr>
          <p:cNvPr id="35" name="TextBox 3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Aplicación en Streamlit</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TextBox 3"/>
          <p:cNvSpPr txBox="1"/>
          <p:nvPr/>
        </p:nvSpPr>
        <p:spPr>
          <a:xfrm>
            <a:off x="722376" y="1207008"/>
            <a:ext cx="10753344" cy="292608"/>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Seis módulos, cada uno resuelve una pregunta concreta del usuario</a:t>
            </a:r>
          </a:p>
        </p:txBody>
      </p:sp>
      <p:sp>
        <p:nvSpPr>
          <p:cNvPr id="5" name="Snip Single Corner Rectangle 4"/>
          <p:cNvSpPr/>
          <p:nvPr/>
        </p:nvSpPr>
        <p:spPr>
          <a:xfrm>
            <a:off x="722376" y="1627632"/>
            <a:ext cx="3511296" cy="20116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Snip Single Corner Rectangle 5"/>
          <p:cNvSpPr/>
          <p:nvPr/>
        </p:nvSpPr>
        <p:spPr>
          <a:xfrm>
            <a:off x="978408" y="1865376"/>
            <a:ext cx="420624" cy="420624"/>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1</a:t>
            </a:r>
          </a:p>
        </p:txBody>
      </p:sp>
      <p:sp>
        <p:nvSpPr>
          <p:cNvPr id="7" name="TextBox 6"/>
          <p:cNvSpPr txBox="1"/>
          <p:nvPr/>
        </p:nvSpPr>
        <p:spPr>
          <a:xfrm>
            <a:off x="1545336" y="1938528"/>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Carga de datos</a:t>
            </a:r>
          </a:p>
        </p:txBody>
      </p:sp>
      <p:sp>
        <p:nvSpPr>
          <p:cNvPr id="8" name="TextBox 7"/>
          <p:cNvSpPr txBox="1"/>
          <p:nvPr/>
        </p:nvSpPr>
        <p:spPr>
          <a:xfrm>
            <a:off x="978408" y="2450592"/>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«¿Los datos del mes ya están cargados y validados?»</a:t>
            </a:r>
          </a:p>
        </p:txBody>
      </p:sp>
      <p:sp>
        <p:nvSpPr>
          <p:cNvPr id="9" name="TextBox 8"/>
          <p:cNvSpPr txBox="1"/>
          <p:nvPr/>
        </p:nvSpPr>
        <p:spPr>
          <a:xfrm>
            <a:off x="978408" y="3017520"/>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Ejecuta el pipeline y muestra fecha, volumen y validaciones superadas.</a:t>
            </a:r>
          </a:p>
        </p:txBody>
      </p:sp>
      <p:sp>
        <p:nvSpPr>
          <p:cNvPr id="10" name="Snip Single Corner Rectangle 9"/>
          <p:cNvSpPr/>
          <p:nvPr/>
        </p:nvSpPr>
        <p:spPr>
          <a:xfrm>
            <a:off x="4398264" y="1627632"/>
            <a:ext cx="3511296" cy="20116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Snip Single Corner Rectangle 10"/>
          <p:cNvSpPr/>
          <p:nvPr/>
        </p:nvSpPr>
        <p:spPr>
          <a:xfrm>
            <a:off x="4654296" y="1865376"/>
            <a:ext cx="420624" cy="420624"/>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2</a:t>
            </a:r>
          </a:p>
        </p:txBody>
      </p:sp>
      <p:sp>
        <p:nvSpPr>
          <p:cNvPr id="12" name="TextBox 11"/>
          <p:cNvSpPr txBox="1"/>
          <p:nvPr/>
        </p:nvSpPr>
        <p:spPr>
          <a:xfrm>
            <a:off x="5221224" y="1938528"/>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Proyección de demanda</a:t>
            </a:r>
          </a:p>
        </p:txBody>
      </p:sp>
      <p:sp>
        <p:nvSpPr>
          <p:cNvPr id="13" name="TextBox 12"/>
          <p:cNvSpPr txBox="1"/>
          <p:nvPr/>
        </p:nvSpPr>
        <p:spPr>
          <a:xfrm>
            <a:off x="4654296" y="2450592"/>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«¿Cuánto voy a vender de este código el próximo mes?»</a:t>
            </a:r>
          </a:p>
        </p:txBody>
      </p:sp>
      <p:sp>
        <p:nvSpPr>
          <p:cNvPr id="14" name="TextBox 13"/>
          <p:cNvSpPr txBox="1"/>
          <p:nvPr/>
        </p:nvSpPr>
        <p:spPr>
          <a:xfrm>
            <a:off x="4654296" y="3017520"/>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Consulta el forecast por material, marca, familia y período.</a:t>
            </a:r>
          </a:p>
        </p:txBody>
      </p:sp>
      <p:sp>
        <p:nvSpPr>
          <p:cNvPr id="15" name="Snip Single Corner Rectangle 14"/>
          <p:cNvSpPr/>
          <p:nvPr/>
        </p:nvSpPr>
        <p:spPr>
          <a:xfrm>
            <a:off x="8065008" y="1627632"/>
            <a:ext cx="3511296" cy="20116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Snip Single Corner Rectangle 15"/>
          <p:cNvSpPr/>
          <p:nvPr/>
        </p:nvSpPr>
        <p:spPr>
          <a:xfrm>
            <a:off x="8321040" y="1865376"/>
            <a:ext cx="420624" cy="420624"/>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001A41"/>
                </a:solidFill>
                <a:latin typeface="Century Gothic"/>
              </a:rPr>
              <a:t>3</a:t>
            </a:r>
          </a:p>
        </p:txBody>
      </p:sp>
      <p:sp>
        <p:nvSpPr>
          <p:cNvPr id="17" name="TextBox 16"/>
          <p:cNvSpPr txBox="1"/>
          <p:nvPr/>
        </p:nvSpPr>
        <p:spPr>
          <a:xfrm>
            <a:off x="8887968" y="1938528"/>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Monitoreo del modelo</a:t>
            </a:r>
          </a:p>
        </p:txBody>
      </p:sp>
      <p:sp>
        <p:nvSpPr>
          <p:cNvPr id="18" name="TextBox 17"/>
          <p:cNvSpPr txBox="1"/>
          <p:nvPr/>
        </p:nvSpPr>
        <p:spPr>
          <a:xfrm>
            <a:off x="8321040" y="2450592"/>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«¿Le puedo creer al modelo este mes?»</a:t>
            </a:r>
          </a:p>
        </p:txBody>
      </p:sp>
      <p:sp>
        <p:nvSpPr>
          <p:cNvPr id="19" name="TextBox 18"/>
          <p:cNvSpPr txBox="1"/>
          <p:nvPr/>
        </p:nvSpPr>
        <p:spPr>
          <a:xfrm>
            <a:off x="8321040" y="3017520"/>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Proyectado contra venta real y WMAPE vigente por segmento.</a:t>
            </a:r>
          </a:p>
        </p:txBody>
      </p:sp>
      <p:sp>
        <p:nvSpPr>
          <p:cNvPr id="20" name="Snip Single Corner Rectangle 19"/>
          <p:cNvSpPr/>
          <p:nvPr/>
        </p:nvSpPr>
        <p:spPr>
          <a:xfrm>
            <a:off x="722376" y="3840480"/>
            <a:ext cx="3511296" cy="20116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Snip Single Corner Rectangle 20"/>
          <p:cNvSpPr/>
          <p:nvPr/>
        </p:nvSpPr>
        <p:spPr>
          <a:xfrm>
            <a:off x="978408" y="4078224"/>
            <a:ext cx="420624" cy="420624"/>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4</a:t>
            </a:r>
          </a:p>
        </p:txBody>
      </p:sp>
      <p:sp>
        <p:nvSpPr>
          <p:cNvPr id="22" name="TextBox 21"/>
          <p:cNvSpPr txBox="1"/>
          <p:nvPr/>
        </p:nvSpPr>
        <p:spPr>
          <a:xfrm>
            <a:off x="1545336" y="4151376"/>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Simulación de cobertura</a:t>
            </a:r>
          </a:p>
        </p:txBody>
      </p:sp>
      <p:sp>
        <p:nvSpPr>
          <p:cNvPr id="23" name="TextBox 22"/>
          <p:cNvSpPr txBox="1"/>
          <p:nvPr/>
        </p:nvSpPr>
        <p:spPr>
          <a:xfrm>
            <a:off x="978408" y="4663440"/>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«¿Qué pasa con el fill rate si compro esto?»</a:t>
            </a:r>
          </a:p>
        </p:txBody>
      </p:sp>
      <p:sp>
        <p:nvSpPr>
          <p:cNvPr id="24" name="TextBox 23"/>
          <p:cNvSpPr txBox="1"/>
          <p:nvPr/>
        </p:nvSpPr>
        <p:spPr>
          <a:xfrm>
            <a:off x="978408" y="5230368"/>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Evalúa el efecto de distintos niveles de cobertura antes de comprometer.</a:t>
            </a:r>
          </a:p>
        </p:txBody>
      </p:sp>
      <p:sp>
        <p:nvSpPr>
          <p:cNvPr id="25" name="Snip Single Corner Rectangle 24"/>
          <p:cNvSpPr/>
          <p:nvPr/>
        </p:nvSpPr>
        <p:spPr>
          <a:xfrm>
            <a:off x="4398264" y="3840480"/>
            <a:ext cx="3511296" cy="20116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Snip Single Corner Rectangle 25"/>
          <p:cNvSpPr/>
          <p:nvPr/>
        </p:nvSpPr>
        <p:spPr>
          <a:xfrm>
            <a:off x="4654296" y="4078224"/>
            <a:ext cx="420624" cy="420624"/>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5</a:t>
            </a:r>
          </a:p>
        </p:txBody>
      </p:sp>
      <p:sp>
        <p:nvSpPr>
          <p:cNvPr id="27" name="TextBox 26"/>
          <p:cNvSpPr txBox="1"/>
          <p:nvPr/>
        </p:nvSpPr>
        <p:spPr>
          <a:xfrm>
            <a:off x="5221224" y="4151376"/>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Plan de compra</a:t>
            </a:r>
          </a:p>
        </p:txBody>
      </p:sp>
      <p:sp>
        <p:nvSpPr>
          <p:cNvPr id="28" name="TextBox 27"/>
          <p:cNvSpPr txBox="1"/>
          <p:nvPr/>
        </p:nvSpPr>
        <p:spPr>
          <a:xfrm>
            <a:off x="4654296" y="4663440"/>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«¿Qué pido y en qué orden de prioridad?»</a:t>
            </a:r>
          </a:p>
        </p:txBody>
      </p:sp>
      <p:sp>
        <p:nvSpPr>
          <p:cNvPr id="29" name="TextBox 28"/>
          <p:cNvSpPr txBox="1"/>
          <p:nvPr/>
        </p:nvSpPr>
        <p:spPr>
          <a:xfrm>
            <a:off x="4654296" y="5230368"/>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Descarga de la recomendación priorizada para abastecimiento.</a:t>
            </a:r>
          </a:p>
        </p:txBody>
      </p:sp>
      <p:sp>
        <p:nvSpPr>
          <p:cNvPr id="30" name="Snip Single Corner Rectangle 29"/>
          <p:cNvSpPr/>
          <p:nvPr/>
        </p:nvSpPr>
        <p:spPr>
          <a:xfrm>
            <a:off x="8065008" y="3840480"/>
            <a:ext cx="3511296" cy="201168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1" name="Snip Single Corner Rectangle 30"/>
          <p:cNvSpPr/>
          <p:nvPr/>
        </p:nvSpPr>
        <p:spPr>
          <a:xfrm>
            <a:off x="8321040" y="4078224"/>
            <a:ext cx="420624" cy="420624"/>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1200" b="1" i="0">
                <a:solidFill>
                  <a:srgbClr val="FFFFFF"/>
                </a:solidFill>
                <a:latin typeface="Century Gothic"/>
              </a:rPr>
              <a:t>6</a:t>
            </a:r>
          </a:p>
        </p:txBody>
      </p:sp>
      <p:sp>
        <p:nvSpPr>
          <p:cNvPr id="32" name="TextBox 31"/>
          <p:cNvSpPr txBox="1"/>
          <p:nvPr/>
        </p:nvSpPr>
        <p:spPr>
          <a:xfrm>
            <a:off x="8887968" y="4151376"/>
            <a:ext cx="2450591" cy="329184"/>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01A41"/>
                </a:solidFill>
                <a:latin typeface="Century Gothic"/>
              </a:rPr>
              <a:t>Gestión de modelos</a:t>
            </a:r>
          </a:p>
        </p:txBody>
      </p:sp>
      <p:sp>
        <p:nvSpPr>
          <p:cNvPr id="33" name="TextBox 32"/>
          <p:cNvSpPr txBox="1"/>
          <p:nvPr/>
        </p:nvSpPr>
        <p:spPr>
          <a:xfrm>
            <a:off x="8321040" y="4663440"/>
            <a:ext cx="2999232" cy="502920"/>
          </a:xfrm>
          <a:prstGeom prst="rect">
            <a:avLst/>
          </a:prstGeom>
          <a:noFill/>
        </p:spPr>
        <p:txBody>
          <a:bodyPr wrap="square" lIns="0" tIns="0" rIns="0" bIns="0" anchor="t">
            <a:spAutoFit/>
          </a:bodyPr>
          <a:lstStyle/>
          <a:p>
            <a:pPr algn="l">
              <a:lnSpc>
                <a:spcPct val="115000"/>
              </a:lnSpc>
              <a:spcBef>
                <a:spcPts val="0"/>
              </a:spcBef>
              <a:spcAft>
                <a:spcPts val="0"/>
              </a:spcAft>
            </a:pPr>
            <a:r>
              <a:rPr sz="950" b="0" i="1">
                <a:solidFill>
                  <a:srgbClr val="001A41"/>
                </a:solidFill>
                <a:latin typeface="Century Gothic"/>
              </a:rPr>
              <a:t>«¿Qué versión está publicada y desde cuándo?»</a:t>
            </a:r>
          </a:p>
        </p:txBody>
      </p:sp>
      <p:sp>
        <p:nvSpPr>
          <p:cNvPr id="34" name="TextBox 33"/>
          <p:cNvSpPr txBox="1"/>
          <p:nvPr/>
        </p:nvSpPr>
        <p:spPr>
          <a:xfrm>
            <a:off x="8321040" y="5230368"/>
            <a:ext cx="2999232" cy="54864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Registro de versiones con fecha, parámetros y métricas.</a:t>
            </a:r>
          </a:p>
        </p:txBody>
      </p:sp>
      <p:sp>
        <p:nvSpPr>
          <p:cNvPr id="35" name="TextBox 34"/>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Vista principal de la aplicación</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TextBox 3"/>
          <p:cNvSpPr txBox="1"/>
          <p:nvPr/>
        </p:nvSpPr>
        <p:spPr>
          <a:xfrm>
            <a:off x="722376" y="1170432"/>
            <a:ext cx="7315200" cy="274320"/>
          </a:xfrm>
          <a:prstGeom prst="rect">
            <a:avLst/>
          </a:prstGeom>
          <a:noFill/>
        </p:spPr>
        <p:txBody>
          <a:bodyPr wrap="square" lIns="0" tIns="0" rIns="0" bIns="0" anchor="t">
            <a:spAutoFit/>
          </a:bodyPr>
          <a:lstStyle/>
          <a:p>
            <a:pPr algn="l">
              <a:spcBef>
                <a:spcPts val="0"/>
              </a:spcBef>
              <a:spcAft>
                <a:spcPts val="0"/>
              </a:spcAft>
            </a:pPr>
            <a:r>
              <a:rPr sz="1100" b="0" i="0">
                <a:solidFill>
                  <a:srgbClr val="858A8C"/>
                </a:solidFill>
                <a:latin typeface="Century Gothic"/>
              </a:rPr>
              <a:t>Boceto de la pantalla de proyección de demanda</a:t>
            </a:r>
          </a:p>
        </p:txBody>
      </p:sp>
      <p:sp>
        <p:nvSpPr>
          <p:cNvPr id="5" name="Snip Single Corner Rectangle 4"/>
          <p:cNvSpPr/>
          <p:nvPr/>
        </p:nvSpPr>
        <p:spPr>
          <a:xfrm>
            <a:off x="722376" y="1517904"/>
            <a:ext cx="7818120" cy="4434840"/>
          </a:xfrm>
          <a:prstGeom prst="snip1Rect">
            <a:avLst>
              <a:gd name="adj" fmla="val 9000"/>
            </a:avLst>
          </a:prstGeom>
          <a:solidFill>
            <a:srgbClr val="FFFFFF"/>
          </a:solidFill>
          <a:ln w="1587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Rectangle 5"/>
          <p:cNvSpPr/>
          <p:nvPr/>
        </p:nvSpPr>
        <p:spPr>
          <a:xfrm>
            <a:off x="740664" y="1536192"/>
            <a:ext cx="7781544" cy="384048"/>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7" name="Oval 6"/>
          <p:cNvSpPr/>
          <p:nvPr/>
        </p:nvSpPr>
        <p:spPr>
          <a:xfrm>
            <a:off x="886968" y="1650492"/>
            <a:ext cx="118872" cy="118872"/>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Oval 7"/>
          <p:cNvSpPr/>
          <p:nvPr/>
        </p:nvSpPr>
        <p:spPr>
          <a:xfrm>
            <a:off x="1051560" y="1650492"/>
            <a:ext cx="118872" cy="118872"/>
          </a:xfrm>
          <a:prstGeom prst="ellipse">
            <a:avLst/>
          </a:prstGeom>
          <a:solidFill>
            <a:srgbClr val="F1E51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Oval 8"/>
          <p:cNvSpPr/>
          <p:nvPr/>
        </p:nvSpPr>
        <p:spPr>
          <a:xfrm>
            <a:off x="1216152" y="1650492"/>
            <a:ext cx="118872" cy="118872"/>
          </a:xfrm>
          <a:prstGeom prst="ellipse">
            <a:avLst/>
          </a:prstGeom>
          <a:solidFill>
            <a:srgbClr val="BACF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TextBox 9"/>
          <p:cNvSpPr txBox="1"/>
          <p:nvPr/>
        </p:nvSpPr>
        <p:spPr>
          <a:xfrm>
            <a:off x="1499616" y="1636776"/>
            <a:ext cx="4572000" cy="219456"/>
          </a:xfrm>
          <a:prstGeom prst="rect">
            <a:avLst/>
          </a:prstGeom>
          <a:noFill/>
        </p:spPr>
        <p:txBody>
          <a:bodyPr wrap="square" lIns="0" tIns="0" rIns="0" bIns="0" anchor="t">
            <a:spAutoFit/>
          </a:bodyPr>
          <a:lstStyle/>
          <a:p>
            <a:pPr algn="l">
              <a:spcBef>
                <a:spcPts val="0"/>
              </a:spcBef>
              <a:spcAft>
                <a:spcPts val="0"/>
              </a:spcAft>
            </a:pPr>
            <a:r>
              <a:rPr sz="900" b="1" i="0">
                <a:solidFill>
                  <a:srgbClr val="FFFFFF"/>
                </a:solidFill>
                <a:latin typeface="Century Gothic"/>
              </a:rPr>
              <a:t>Proyección de demanda de repuestos · Inchcape Chile</a:t>
            </a:r>
          </a:p>
        </p:txBody>
      </p:sp>
      <p:sp>
        <p:nvSpPr>
          <p:cNvPr id="11" name="Rectangle 10"/>
          <p:cNvSpPr/>
          <p:nvPr/>
        </p:nvSpPr>
        <p:spPr>
          <a:xfrm>
            <a:off x="740664" y="1938528"/>
            <a:ext cx="1874519" cy="3977639"/>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TextBox 11"/>
          <p:cNvSpPr txBox="1"/>
          <p:nvPr/>
        </p:nvSpPr>
        <p:spPr>
          <a:xfrm>
            <a:off x="923544" y="2084832"/>
            <a:ext cx="1554480" cy="219456"/>
          </a:xfrm>
          <a:prstGeom prst="rect">
            <a:avLst/>
          </a:prstGeom>
          <a:noFill/>
        </p:spPr>
        <p:txBody>
          <a:bodyPr wrap="square" lIns="0" tIns="0" rIns="0" bIns="0" anchor="t">
            <a:spAutoFit/>
          </a:bodyPr>
          <a:lstStyle/>
          <a:p>
            <a:pPr algn="l">
              <a:spcBef>
                <a:spcPts val="0"/>
              </a:spcBef>
              <a:spcAft>
                <a:spcPts val="0"/>
              </a:spcAft>
            </a:pPr>
            <a:r>
              <a:rPr sz="900" b="1" i="0">
                <a:solidFill>
                  <a:srgbClr val="001A41"/>
                </a:solidFill>
                <a:latin typeface="Century Gothic"/>
              </a:rPr>
              <a:t>FILTROS</a:t>
            </a:r>
          </a:p>
        </p:txBody>
      </p:sp>
      <p:sp>
        <p:nvSpPr>
          <p:cNvPr id="13" name="TextBox 12"/>
          <p:cNvSpPr txBox="1"/>
          <p:nvPr/>
        </p:nvSpPr>
        <p:spPr>
          <a:xfrm>
            <a:off x="923544" y="2359152"/>
            <a:ext cx="1554480" cy="182880"/>
          </a:xfrm>
          <a:prstGeom prst="rect">
            <a:avLst/>
          </a:prstGeom>
          <a:noFill/>
        </p:spPr>
        <p:txBody>
          <a:bodyPr wrap="square" lIns="0" tIns="0" rIns="0" bIns="0" anchor="t">
            <a:spAutoFit/>
          </a:bodyPr>
          <a:lstStyle/>
          <a:p>
            <a:pPr algn="l">
              <a:spcBef>
                <a:spcPts val="0"/>
              </a:spcBef>
              <a:spcAft>
                <a:spcPts val="0"/>
              </a:spcAft>
            </a:pPr>
            <a:r>
              <a:rPr sz="800" b="0" i="0">
                <a:solidFill>
                  <a:srgbClr val="858A8C"/>
                </a:solidFill>
                <a:latin typeface="Century Gothic"/>
              </a:rPr>
              <a:t>Marca</a:t>
            </a:r>
          </a:p>
        </p:txBody>
      </p:sp>
      <p:sp>
        <p:nvSpPr>
          <p:cNvPr id="14" name="Rectangle 13"/>
          <p:cNvSpPr/>
          <p:nvPr/>
        </p:nvSpPr>
        <p:spPr>
          <a:xfrm>
            <a:off x="923544" y="2542032"/>
            <a:ext cx="1508760" cy="219456"/>
          </a:xfrm>
          <a:prstGeom prst="rect">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TextBox 14"/>
          <p:cNvSpPr txBox="1"/>
          <p:nvPr/>
        </p:nvSpPr>
        <p:spPr>
          <a:xfrm>
            <a:off x="923544" y="2834640"/>
            <a:ext cx="1554480" cy="182880"/>
          </a:xfrm>
          <a:prstGeom prst="rect">
            <a:avLst/>
          </a:prstGeom>
          <a:noFill/>
        </p:spPr>
        <p:txBody>
          <a:bodyPr wrap="square" lIns="0" tIns="0" rIns="0" bIns="0" anchor="t">
            <a:spAutoFit/>
          </a:bodyPr>
          <a:lstStyle/>
          <a:p>
            <a:pPr algn="l">
              <a:spcBef>
                <a:spcPts val="0"/>
              </a:spcBef>
              <a:spcAft>
                <a:spcPts val="0"/>
              </a:spcAft>
            </a:pPr>
            <a:r>
              <a:rPr sz="800" b="0" i="0">
                <a:solidFill>
                  <a:srgbClr val="858A8C"/>
                </a:solidFill>
                <a:latin typeface="Century Gothic"/>
              </a:rPr>
              <a:t>Familia</a:t>
            </a:r>
          </a:p>
        </p:txBody>
      </p:sp>
      <p:sp>
        <p:nvSpPr>
          <p:cNvPr id="16" name="Rectangle 15"/>
          <p:cNvSpPr/>
          <p:nvPr/>
        </p:nvSpPr>
        <p:spPr>
          <a:xfrm>
            <a:off x="923544" y="3017520"/>
            <a:ext cx="1508760" cy="219456"/>
          </a:xfrm>
          <a:prstGeom prst="rect">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TextBox 16"/>
          <p:cNvSpPr txBox="1"/>
          <p:nvPr/>
        </p:nvSpPr>
        <p:spPr>
          <a:xfrm>
            <a:off x="923544" y="3310128"/>
            <a:ext cx="1554480" cy="182880"/>
          </a:xfrm>
          <a:prstGeom prst="rect">
            <a:avLst/>
          </a:prstGeom>
          <a:noFill/>
        </p:spPr>
        <p:txBody>
          <a:bodyPr wrap="square" lIns="0" tIns="0" rIns="0" bIns="0" anchor="t">
            <a:spAutoFit/>
          </a:bodyPr>
          <a:lstStyle/>
          <a:p>
            <a:pPr algn="l">
              <a:spcBef>
                <a:spcPts val="0"/>
              </a:spcBef>
              <a:spcAft>
                <a:spcPts val="0"/>
              </a:spcAft>
            </a:pPr>
            <a:r>
              <a:rPr sz="800" b="0" i="0">
                <a:solidFill>
                  <a:srgbClr val="858A8C"/>
                </a:solidFill>
                <a:latin typeface="Century Gothic"/>
              </a:rPr>
              <a:t>Segmento</a:t>
            </a:r>
          </a:p>
        </p:txBody>
      </p:sp>
      <p:sp>
        <p:nvSpPr>
          <p:cNvPr id="18" name="Rectangle 17"/>
          <p:cNvSpPr/>
          <p:nvPr/>
        </p:nvSpPr>
        <p:spPr>
          <a:xfrm>
            <a:off x="923544" y="3493008"/>
            <a:ext cx="1508760" cy="219456"/>
          </a:xfrm>
          <a:prstGeom prst="rect">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9" name="TextBox 18"/>
          <p:cNvSpPr txBox="1"/>
          <p:nvPr/>
        </p:nvSpPr>
        <p:spPr>
          <a:xfrm>
            <a:off x="923544" y="3785616"/>
            <a:ext cx="1554480" cy="182880"/>
          </a:xfrm>
          <a:prstGeom prst="rect">
            <a:avLst/>
          </a:prstGeom>
          <a:noFill/>
        </p:spPr>
        <p:txBody>
          <a:bodyPr wrap="square" lIns="0" tIns="0" rIns="0" bIns="0" anchor="t">
            <a:spAutoFit/>
          </a:bodyPr>
          <a:lstStyle/>
          <a:p>
            <a:pPr algn="l">
              <a:spcBef>
                <a:spcPts val="0"/>
              </a:spcBef>
              <a:spcAft>
                <a:spcPts val="0"/>
              </a:spcAft>
            </a:pPr>
            <a:r>
              <a:rPr sz="800" b="0" i="0">
                <a:solidFill>
                  <a:srgbClr val="858A8C"/>
                </a:solidFill>
                <a:latin typeface="Century Gothic"/>
              </a:rPr>
              <a:t>Período</a:t>
            </a:r>
          </a:p>
        </p:txBody>
      </p:sp>
      <p:sp>
        <p:nvSpPr>
          <p:cNvPr id="20" name="Rectangle 19"/>
          <p:cNvSpPr/>
          <p:nvPr/>
        </p:nvSpPr>
        <p:spPr>
          <a:xfrm>
            <a:off x="923544" y="3968496"/>
            <a:ext cx="1508760" cy="219456"/>
          </a:xfrm>
          <a:prstGeom prst="rect">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923544" y="4261104"/>
            <a:ext cx="1554480" cy="182880"/>
          </a:xfrm>
          <a:prstGeom prst="rect">
            <a:avLst/>
          </a:prstGeom>
          <a:noFill/>
        </p:spPr>
        <p:txBody>
          <a:bodyPr wrap="square" lIns="0" tIns="0" rIns="0" bIns="0" anchor="t">
            <a:spAutoFit/>
          </a:bodyPr>
          <a:lstStyle/>
          <a:p>
            <a:pPr algn="l">
              <a:spcBef>
                <a:spcPts val="0"/>
              </a:spcBef>
              <a:spcAft>
                <a:spcPts val="0"/>
              </a:spcAft>
            </a:pPr>
            <a:r>
              <a:rPr sz="800" b="0" i="0">
                <a:solidFill>
                  <a:srgbClr val="858A8C"/>
                </a:solidFill>
                <a:latin typeface="Century Gothic"/>
              </a:rPr>
              <a:t>Horizonte</a:t>
            </a:r>
          </a:p>
        </p:txBody>
      </p:sp>
      <p:sp>
        <p:nvSpPr>
          <p:cNvPr id="22" name="Rectangle 21"/>
          <p:cNvSpPr/>
          <p:nvPr/>
        </p:nvSpPr>
        <p:spPr>
          <a:xfrm>
            <a:off x="923544" y="4443984"/>
            <a:ext cx="1508760" cy="219456"/>
          </a:xfrm>
          <a:prstGeom prst="rect">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3" name="Rectangle 22"/>
          <p:cNvSpPr/>
          <p:nvPr/>
        </p:nvSpPr>
        <p:spPr>
          <a:xfrm>
            <a:off x="923544" y="4828032"/>
            <a:ext cx="1508760" cy="274320"/>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TextBox 23"/>
          <p:cNvSpPr txBox="1"/>
          <p:nvPr/>
        </p:nvSpPr>
        <p:spPr>
          <a:xfrm>
            <a:off x="923544" y="4882896"/>
            <a:ext cx="1508760" cy="182880"/>
          </a:xfrm>
          <a:prstGeom prst="rect">
            <a:avLst/>
          </a:prstGeom>
          <a:noFill/>
        </p:spPr>
        <p:txBody>
          <a:bodyPr wrap="square" lIns="0" tIns="0" rIns="0" bIns="0" anchor="t">
            <a:spAutoFit/>
          </a:bodyPr>
          <a:lstStyle/>
          <a:p>
            <a:pPr algn="ctr">
              <a:spcBef>
                <a:spcPts val="0"/>
              </a:spcBef>
              <a:spcAft>
                <a:spcPts val="0"/>
              </a:spcAft>
            </a:pPr>
            <a:r>
              <a:rPr sz="850" b="1" i="0">
                <a:solidFill>
                  <a:srgbClr val="001A41"/>
                </a:solidFill>
                <a:latin typeface="Century Gothic"/>
              </a:rPr>
              <a:t>Aplicar</a:t>
            </a:r>
          </a:p>
        </p:txBody>
      </p:sp>
      <p:sp>
        <p:nvSpPr>
          <p:cNvPr id="25" name="Snip Single Corner Rectangle 24"/>
          <p:cNvSpPr/>
          <p:nvPr/>
        </p:nvSpPr>
        <p:spPr>
          <a:xfrm>
            <a:off x="2779776" y="2084832"/>
            <a:ext cx="1353312" cy="777240"/>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TextBox 25"/>
          <p:cNvSpPr txBox="1"/>
          <p:nvPr/>
        </p:nvSpPr>
        <p:spPr>
          <a:xfrm>
            <a:off x="2889504" y="2176272"/>
            <a:ext cx="1152144" cy="201168"/>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Fill rate proyectado</a:t>
            </a:r>
          </a:p>
        </p:txBody>
      </p:sp>
      <p:sp>
        <p:nvSpPr>
          <p:cNvPr id="27" name="TextBox 26"/>
          <p:cNvSpPr txBox="1"/>
          <p:nvPr/>
        </p:nvSpPr>
        <p:spPr>
          <a:xfrm>
            <a:off x="2889504" y="2395728"/>
            <a:ext cx="1152144" cy="310896"/>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9BDE6"/>
                </a:solidFill>
                <a:latin typeface="Century Gothic"/>
              </a:rPr>
              <a:t>90,4%</a:t>
            </a:r>
          </a:p>
        </p:txBody>
      </p:sp>
      <p:sp>
        <p:nvSpPr>
          <p:cNvPr id="28" name="Snip Single Corner Rectangle 27"/>
          <p:cNvSpPr/>
          <p:nvPr/>
        </p:nvSpPr>
        <p:spPr>
          <a:xfrm>
            <a:off x="4224528" y="2084832"/>
            <a:ext cx="1353312" cy="777240"/>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9" name="TextBox 28"/>
          <p:cNvSpPr txBox="1"/>
          <p:nvPr/>
        </p:nvSpPr>
        <p:spPr>
          <a:xfrm>
            <a:off x="4334256" y="2176272"/>
            <a:ext cx="1152144" cy="201168"/>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WMAPE vigente</a:t>
            </a:r>
          </a:p>
        </p:txBody>
      </p:sp>
      <p:sp>
        <p:nvSpPr>
          <p:cNvPr id="30" name="TextBox 29"/>
          <p:cNvSpPr txBox="1"/>
          <p:nvPr/>
        </p:nvSpPr>
        <p:spPr>
          <a:xfrm>
            <a:off x="4334256" y="2395728"/>
            <a:ext cx="1152144" cy="310896"/>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001A41"/>
                </a:solidFill>
                <a:latin typeface="Century Gothic"/>
              </a:rPr>
              <a:t>31%</a:t>
            </a:r>
          </a:p>
        </p:txBody>
      </p:sp>
      <p:sp>
        <p:nvSpPr>
          <p:cNvPr id="31" name="Snip Single Corner Rectangle 30"/>
          <p:cNvSpPr/>
          <p:nvPr/>
        </p:nvSpPr>
        <p:spPr>
          <a:xfrm>
            <a:off x="5669280" y="2084832"/>
            <a:ext cx="1353312" cy="777240"/>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2" name="TextBox 31"/>
          <p:cNvSpPr txBox="1"/>
          <p:nvPr/>
        </p:nvSpPr>
        <p:spPr>
          <a:xfrm>
            <a:off x="5779008" y="2176272"/>
            <a:ext cx="1152144" cy="201168"/>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Códigos cubiertos</a:t>
            </a:r>
          </a:p>
        </p:txBody>
      </p:sp>
      <p:sp>
        <p:nvSpPr>
          <p:cNvPr id="33" name="TextBox 32"/>
          <p:cNvSpPr txBox="1"/>
          <p:nvPr/>
        </p:nvSpPr>
        <p:spPr>
          <a:xfrm>
            <a:off x="5779008" y="2395728"/>
            <a:ext cx="1152144" cy="310896"/>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001A41"/>
                </a:solidFill>
                <a:latin typeface="Century Gothic"/>
              </a:rPr>
              <a:t>225.264</a:t>
            </a:r>
          </a:p>
        </p:txBody>
      </p:sp>
      <p:sp>
        <p:nvSpPr>
          <p:cNvPr id="34" name="Snip Single Corner Rectangle 33"/>
          <p:cNvSpPr/>
          <p:nvPr/>
        </p:nvSpPr>
        <p:spPr>
          <a:xfrm>
            <a:off x="7114032" y="2084832"/>
            <a:ext cx="1353312" cy="777240"/>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5" name="TextBox 34"/>
          <p:cNvSpPr txBox="1"/>
          <p:nvPr/>
        </p:nvSpPr>
        <p:spPr>
          <a:xfrm>
            <a:off x="7223760" y="2176272"/>
            <a:ext cx="1152144" cy="201168"/>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Alertas</a:t>
            </a:r>
          </a:p>
        </p:txBody>
      </p:sp>
      <p:sp>
        <p:nvSpPr>
          <p:cNvPr id="36" name="TextBox 35"/>
          <p:cNvSpPr txBox="1"/>
          <p:nvPr/>
        </p:nvSpPr>
        <p:spPr>
          <a:xfrm>
            <a:off x="7223760" y="2395728"/>
            <a:ext cx="1152144" cy="310896"/>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F1E519"/>
                </a:solidFill>
                <a:latin typeface="Century Gothic"/>
              </a:rPr>
              <a:t>12</a:t>
            </a:r>
          </a:p>
        </p:txBody>
      </p:sp>
      <p:sp>
        <p:nvSpPr>
          <p:cNvPr id="37" name="Snip Single Corner Rectangle 36"/>
          <p:cNvSpPr/>
          <p:nvPr/>
        </p:nvSpPr>
        <p:spPr>
          <a:xfrm>
            <a:off x="2779776" y="2980944"/>
            <a:ext cx="5577840" cy="1572768"/>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8" name="TextBox 37"/>
          <p:cNvSpPr txBox="1"/>
          <p:nvPr/>
        </p:nvSpPr>
        <p:spPr>
          <a:xfrm>
            <a:off x="2962656" y="3090672"/>
            <a:ext cx="3657600" cy="201168"/>
          </a:xfrm>
          <a:prstGeom prst="rect">
            <a:avLst/>
          </a:prstGeom>
          <a:noFill/>
        </p:spPr>
        <p:txBody>
          <a:bodyPr wrap="square" lIns="0" tIns="0" rIns="0" bIns="0" anchor="t">
            <a:spAutoFit/>
          </a:bodyPr>
          <a:lstStyle/>
          <a:p>
            <a:pPr algn="l">
              <a:spcBef>
                <a:spcPts val="0"/>
              </a:spcBef>
              <a:spcAft>
                <a:spcPts val="0"/>
              </a:spcAft>
            </a:pPr>
            <a:r>
              <a:rPr sz="750" b="1" i="0">
                <a:solidFill>
                  <a:srgbClr val="001A41"/>
                </a:solidFill>
                <a:latin typeface="Century Gothic"/>
              </a:rPr>
              <a:t>Venta real vs. proyección · últimos 12 meses</a:t>
            </a:r>
          </a:p>
        </p:txBody>
      </p:sp>
      <p:sp>
        <p:nvSpPr>
          <p:cNvPr id="39" name="Rectangle 38"/>
          <p:cNvSpPr/>
          <p:nvPr/>
        </p:nvSpPr>
        <p:spPr>
          <a:xfrm>
            <a:off x="3035808" y="3853281"/>
            <a:ext cx="213359" cy="56327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0" name="Rectangle 39"/>
          <p:cNvSpPr/>
          <p:nvPr/>
        </p:nvSpPr>
        <p:spPr>
          <a:xfrm>
            <a:off x="3267456" y="3904487"/>
            <a:ext cx="213359" cy="512064"/>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1" name="Rectangle 40"/>
          <p:cNvSpPr/>
          <p:nvPr/>
        </p:nvSpPr>
        <p:spPr>
          <a:xfrm>
            <a:off x="3462528" y="3781592"/>
            <a:ext cx="213359" cy="634959"/>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2" name="Rectangle 41"/>
          <p:cNvSpPr/>
          <p:nvPr/>
        </p:nvSpPr>
        <p:spPr>
          <a:xfrm>
            <a:off x="3694175" y="3822557"/>
            <a:ext cx="213359" cy="593994"/>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3" name="Rectangle 42"/>
          <p:cNvSpPr/>
          <p:nvPr/>
        </p:nvSpPr>
        <p:spPr>
          <a:xfrm>
            <a:off x="3889248" y="3924970"/>
            <a:ext cx="213359" cy="491581"/>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4" name="Rectangle 43"/>
          <p:cNvSpPr/>
          <p:nvPr/>
        </p:nvSpPr>
        <p:spPr>
          <a:xfrm>
            <a:off x="4120896" y="3884005"/>
            <a:ext cx="213359" cy="532546"/>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5" name="Rectangle 44"/>
          <p:cNvSpPr/>
          <p:nvPr/>
        </p:nvSpPr>
        <p:spPr>
          <a:xfrm>
            <a:off x="4315968" y="3699662"/>
            <a:ext cx="213359" cy="716889"/>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6" name="Rectangle 45"/>
          <p:cNvSpPr/>
          <p:nvPr/>
        </p:nvSpPr>
        <p:spPr>
          <a:xfrm>
            <a:off x="4547615" y="3750868"/>
            <a:ext cx="213359" cy="665683"/>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7" name="Rectangle 46"/>
          <p:cNvSpPr/>
          <p:nvPr/>
        </p:nvSpPr>
        <p:spPr>
          <a:xfrm>
            <a:off x="4742688" y="3740627"/>
            <a:ext cx="213359" cy="675924"/>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8" name="Rectangle 47"/>
          <p:cNvSpPr/>
          <p:nvPr/>
        </p:nvSpPr>
        <p:spPr>
          <a:xfrm>
            <a:off x="4974336" y="3720144"/>
            <a:ext cx="213359" cy="696407"/>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9" name="Rectangle 48"/>
          <p:cNvSpPr/>
          <p:nvPr/>
        </p:nvSpPr>
        <p:spPr>
          <a:xfrm>
            <a:off x="5169408" y="3597249"/>
            <a:ext cx="213359" cy="819302"/>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0" name="Rectangle 49"/>
          <p:cNvSpPr/>
          <p:nvPr/>
        </p:nvSpPr>
        <p:spPr>
          <a:xfrm>
            <a:off x="5401056" y="3648456"/>
            <a:ext cx="213359" cy="768096"/>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1" name="Rectangle 50"/>
          <p:cNvSpPr/>
          <p:nvPr/>
        </p:nvSpPr>
        <p:spPr>
          <a:xfrm>
            <a:off x="5596128" y="3679179"/>
            <a:ext cx="213359" cy="737372"/>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2" name="Rectangle 51"/>
          <p:cNvSpPr/>
          <p:nvPr/>
        </p:nvSpPr>
        <p:spPr>
          <a:xfrm>
            <a:off x="5827776" y="3658697"/>
            <a:ext cx="213359" cy="757854"/>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3" name="Rectangle 52"/>
          <p:cNvSpPr/>
          <p:nvPr/>
        </p:nvSpPr>
        <p:spPr>
          <a:xfrm>
            <a:off x="6022848" y="3546043"/>
            <a:ext cx="213359" cy="870508"/>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4" name="Rectangle 53"/>
          <p:cNvSpPr/>
          <p:nvPr/>
        </p:nvSpPr>
        <p:spPr>
          <a:xfrm>
            <a:off x="6254496" y="3597249"/>
            <a:ext cx="213359" cy="819302"/>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5" name="Rectangle 54"/>
          <p:cNvSpPr/>
          <p:nvPr/>
        </p:nvSpPr>
        <p:spPr>
          <a:xfrm>
            <a:off x="6449568" y="3617732"/>
            <a:ext cx="213359" cy="798819"/>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6" name="Rectangle 55"/>
          <p:cNvSpPr/>
          <p:nvPr/>
        </p:nvSpPr>
        <p:spPr>
          <a:xfrm>
            <a:off x="6681216" y="3597249"/>
            <a:ext cx="213359" cy="819302"/>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7" name="Rectangle 56"/>
          <p:cNvSpPr/>
          <p:nvPr/>
        </p:nvSpPr>
        <p:spPr>
          <a:xfrm>
            <a:off x="6876288" y="3494836"/>
            <a:ext cx="213359" cy="921715"/>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8" name="Rectangle 57"/>
          <p:cNvSpPr/>
          <p:nvPr/>
        </p:nvSpPr>
        <p:spPr>
          <a:xfrm>
            <a:off x="7107935" y="3535801"/>
            <a:ext cx="213359" cy="880750"/>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9" name="Rectangle 58"/>
          <p:cNvSpPr/>
          <p:nvPr/>
        </p:nvSpPr>
        <p:spPr>
          <a:xfrm>
            <a:off x="7303008" y="3566525"/>
            <a:ext cx="213359" cy="850026"/>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0" name="Rectangle 59"/>
          <p:cNvSpPr/>
          <p:nvPr/>
        </p:nvSpPr>
        <p:spPr>
          <a:xfrm>
            <a:off x="7534655" y="3535801"/>
            <a:ext cx="213359" cy="880750"/>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1" name="Rectangle 60"/>
          <p:cNvSpPr/>
          <p:nvPr/>
        </p:nvSpPr>
        <p:spPr>
          <a:xfrm>
            <a:off x="7729727" y="3443630"/>
            <a:ext cx="213359" cy="972921"/>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2" name="Rectangle 61"/>
          <p:cNvSpPr/>
          <p:nvPr/>
        </p:nvSpPr>
        <p:spPr>
          <a:xfrm>
            <a:off x="7961375" y="3474354"/>
            <a:ext cx="213359" cy="942197"/>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3" name="Rectangle 62"/>
          <p:cNvSpPr/>
          <p:nvPr/>
        </p:nvSpPr>
        <p:spPr>
          <a:xfrm>
            <a:off x="3008376" y="4416552"/>
            <a:ext cx="5120640" cy="10972"/>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4" name="Oval 63"/>
          <p:cNvSpPr/>
          <p:nvPr/>
        </p:nvSpPr>
        <p:spPr>
          <a:xfrm>
            <a:off x="6711696" y="3118104"/>
            <a:ext cx="91440" cy="91440"/>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5" name="TextBox 64"/>
          <p:cNvSpPr txBox="1"/>
          <p:nvPr/>
        </p:nvSpPr>
        <p:spPr>
          <a:xfrm>
            <a:off x="6830568" y="3090672"/>
            <a:ext cx="777240" cy="182880"/>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Venta real</a:t>
            </a:r>
          </a:p>
        </p:txBody>
      </p:sp>
      <p:sp>
        <p:nvSpPr>
          <p:cNvPr id="66" name="Oval 65"/>
          <p:cNvSpPr/>
          <p:nvPr/>
        </p:nvSpPr>
        <p:spPr>
          <a:xfrm>
            <a:off x="7580375" y="3118104"/>
            <a:ext cx="91440" cy="91440"/>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7" name="TextBox 66"/>
          <p:cNvSpPr txBox="1"/>
          <p:nvPr/>
        </p:nvSpPr>
        <p:spPr>
          <a:xfrm>
            <a:off x="7699248" y="3090672"/>
            <a:ext cx="777240" cy="182880"/>
          </a:xfrm>
          <a:prstGeom prst="rect">
            <a:avLst/>
          </a:prstGeom>
          <a:noFill/>
        </p:spPr>
        <p:txBody>
          <a:bodyPr wrap="square" lIns="0" tIns="0" rIns="0" bIns="0" anchor="t">
            <a:spAutoFit/>
          </a:bodyPr>
          <a:lstStyle/>
          <a:p>
            <a:pPr algn="l">
              <a:spcBef>
                <a:spcPts val="0"/>
              </a:spcBef>
              <a:spcAft>
                <a:spcPts val="0"/>
              </a:spcAft>
            </a:pPr>
            <a:r>
              <a:rPr sz="650" b="0" i="0">
                <a:solidFill>
                  <a:srgbClr val="858A8C"/>
                </a:solidFill>
                <a:latin typeface="Century Gothic"/>
              </a:rPr>
              <a:t>Proyección</a:t>
            </a:r>
          </a:p>
        </p:txBody>
      </p:sp>
      <p:sp>
        <p:nvSpPr>
          <p:cNvPr id="68" name="Snip Single Corner Rectangle 67"/>
          <p:cNvSpPr/>
          <p:nvPr/>
        </p:nvSpPr>
        <p:spPr>
          <a:xfrm>
            <a:off x="2779776" y="4672584"/>
            <a:ext cx="5577840" cy="1170432"/>
          </a:xfrm>
          <a:prstGeom prst="snip1Rect">
            <a:avLst>
              <a:gd name="adj" fmla="val 9000"/>
            </a:avLst>
          </a:prstGeom>
          <a:solidFill>
            <a:srgbClr val="FFFFFF"/>
          </a:solidFill>
          <a:ln w="9525">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9" name="TextBox 68"/>
          <p:cNvSpPr txBox="1"/>
          <p:nvPr/>
        </p:nvSpPr>
        <p:spPr>
          <a:xfrm>
            <a:off x="2962656" y="4773168"/>
            <a:ext cx="4114800" cy="201168"/>
          </a:xfrm>
          <a:prstGeom prst="rect">
            <a:avLst/>
          </a:prstGeom>
          <a:noFill/>
        </p:spPr>
        <p:txBody>
          <a:bodyPr wrap="square" lIns="0" tIns="0" rIns="0" bIns="0" anchor="t">
            <a:spAutoFit/>
          </a:bodyPr>
          <a:lstStyle/>
          <a:p>
            <a:pPr algn="l">
              <a:spcBef>
                <a:spcPts val="0"/>
              </a:spcBef>
              <a:spcAft>
                <a:spcPts val="0"/>
              </a:spcAft>
            </a:pPr>
            <a:r>
              <a:rPr sz="750" b="1" i="0">
                <a:solidFill>
                  <a:srgbClr val="001A41"/>
                </a:solidFill>
                <a:latin typeface="Century Gothic"/>
              </a:rPr>
              <a:t>Códigos con mayor riesgo de quiebre</a:t>
            </a:r>
          </a:p>
        </p:txBody>
      </p:sp>
      <p:sp>
        <p:nvSpPr>
          <p:cNvPr id="70" name="TextBox 69"/>
          <p:cNvSpPr txBox="1"/>
          <p:nvPr/>
        </p:nvSpPr>
        <p:spPr>
          <a:xfrm>
            <a:off x="2962656" y="5010912"/>
            <a:ext cx="1280160" cy="164592"/>
          </a:xfrm>
          <a:prstGeom prst="rect">
            <a:avLst/>
          </a:prstGeom>
          <a:noFill/>
        </p:spPr>
        <p:txBody>
          <a:bodyPr wrap="square" lIns="0" tIns="0" rIns="0" bIns="0" anchor="t">
            <a:spAutoFit/>
          </a:bodyPr>
          <a:lstStyle/>
          <a:p>
            <a:pPr algn="l">
              <a:spcBef>
                <a:spcPts val="0"/>
              </a:spcBef>
              <a:spcAft>
                <a:spcPts val="0"/>
              </a:spcAft>
            </a:pPr>
            <a:r>
              <a:rPr sz="600" b="1" i="0">
                <a:solidFill>
                  <a:srgbClr val="858A8C"/>
                </a:solidFill>
                <a:latin typeface="Century Gothic"/>
              </a:rPr>
              <a:t>MATERIAL</a:t>
            </a:r>
          </a:p>
        </p:txBody>
      </p:sp>
      <p:sp>
        <p:nvSpPr>
          <p:cNvPr id="71" name="TextBox 70"/>
          <p:cNvSpPr txBox="1"/>
          <p:nvPr/>
        </p:nvSpPr>
        <p:spPr>
          <a:xfrm>
            <a:off x="4379976" y="5010912"/>
            <a:ext cx="1280160" cy="164592"/>
          </a:xfrm>
          <a:prstGeom prst="rect">
            <a:avLst/>
          </a:prstGeom>
          <a:noFill/>
        </p:spPr>
        <p:txBody>
          <a:bodyPr wrap="square" lIns="0" tIns="0" rIns="0" bIns="0" anchor="t">
            <a:spAutoFit/>
          </a:bodyPr>
          <a:lstStyle/>
          <a:p>
            <a:pPr algn="l">
              <a:spcBef>
                <a:spcPts val="0"/>
              </a:spcBef>
              <a:spcAft>
                <a:spcPts val="0"/>
              </a:spcAft>
            </a:pPr>
            <a:r>
              <a:rPr sz="600" b="1" i="0">
                <a:solidFill>
                  <a:srgbClr val="858A8C"/>
                </a:solidFill>
                <a:latin typeface="Century Gothic"/>
              </a:rPr>
              <a:t>FAMILIA</a:t>
            </a:r>
          </a:p>
        </p:txBody>
      </p:sp>
      <p:sp>
        <p:nvSpPr>
          <p:cNvPr id="72" name="TextBox 71"/>
          <p:cNvSpPr txBox="1"/>
          <p:nvPr/>
        </p:nvSpPr>
        <p:spPr>
          <a:xfrm>
            <a:off x="5477256" y="5010912"/>
            <a:ext cx="1280160" cy="164592"/>
          </a:xfrm>
          <a:prstGeom prst="rect">
            <a:avLst/>
          </a:prstGeom>
          <a:noFill/>
        </p:spPr>
        <p:txBody>
          <a:bodyPr wrap="square" lIns="0" tIns="0" rIns="0" bIns="0" anchor="t">
            <a:spAutoFit/>
          </a:bodyPr>
          <a:lstStyle/>
          <a:p>
            <a:pPr algn="l">
              <a:spcBef>
                <a:spcPts val="0"/>
              </a:spcBef>
              <a:spcAft>
                <a:spcPts val="0"/>
              </a:spcAft>
            </a:pPr>
            <a:r>
              <a:rPr sz="600" b="1" i="0">
                <a:solidFill>
                  <a:srgbClr val="858A8C"/>
                </a:solidFill>
                <a:latin typeface="Century Gothic"/>
              </a:rPr>
              <a:t>PROY.</a:t>
            </a:r>
          </a:p>
        </p:txBody>
      </p:sp>
      <p:sp>
        <p:nvSpPr>
          <p:cNvPr id="73" name="TextBox 72"/>
          <p:cNvSpPr txBox="1"/>
          <p:nvPr/>
        </p:nvSpPr>
        <p:spPr>
          <a:xfrm>
            <a:off x="6391656" y="5010912"/>
            <a:ext cx="1280160" cy="164592"/>
          </a:xfrm>
          <a:prstGeom prst="rect">
            <a:avLst/>
          </a:prstGeom>
          <a:noFill/>
        </p:spPr>
        <p:txBody>
          <a:bodyPr wrap="square" lIns="0" tIns="0" rIns="0" bIns="0" anchor="t">
            <a:spAutoFit/>
          </a:bodyPr>
          <a:lstStyle/>
          <a:p>
            <a:pPr algn="l">
              <a:spcBef>
                <a:spcPts val="0"/>
              </a:spcBef>
              <a:spcAft>
                <a:spcPts val="0"/>
              </a:spcAft>
            </a:pPr>
            <a:r>
              <a:rPr sz="600" b="1" i="0">
                <a:solidFill>
                  <a:srgbClr val="858A8C"/>
                </a:solidFill>
                <a:latin typeface="Century Gothic"/>
              </a:rPr>
              <a:t>STOCK</a:t>
            </a:r>
          </a:p>
        </p:txBody>
      </p:sp>
      <p:sp>
        <p:nvSpPr>
          <p:cNvPr id="74" name="TextBox 73"/>
          <p:cNvSpPr txBox="1"/>
          <p:nvPr/>
        </p:nvSpPr>
        <p:spPr>
          <a:xfrm>
            <a:off x="7306056" y="5010912"/>
            <a:ext cx="1280160" cy="164592"/>
          </a:xfrm>
          <a:prstGeom prst="rect">
            <a:avLst/>
          </a:prstGeom>
          <a:noFill/>
        </p:spPr>
        <p:txBody>
          <a:bodyPr wrap="square" lIns="0" tIns="0" rIns="0" bIns="0" anchor="t">
            <a:spAutoFit/>
          </a:bodyPr>
          <a:lstStyle/>
          <a:p>
            <a:pPr algn="l">
              <a:spcBef>
                <a:spcPts val="0"/>
              </a:spcBef>
              <a:spcAft>
                <a:spcPts val="0"/>
              </a:spcAft>
            </a:pPr>
            <a:r>
              <a:rPr sz="600" b="1" i="0">
                <a:solidFill>
                  <a:srgbClr val="858A8C"/>
                </a:solidFill>
                <a:latin typeface="Century Gothic"/>
              </a:rPr>
              <a:t>COBERTURA</a:t>
            </a:r>
          </a:p>
        </p:txBody>
      </p:sp>
      <p:sp>
        <p:nvSpPr>
          <p:cNvPr id="75" name="Rectangle 74"/>
          <p:cNvSpPr/>
          <p:nvPr/>
        </p:nvSpPr>
        <p:spPr>
          <a:xfrm>
            <a:off x="2871216" y="5193792"/>
            <a:ext cx="5394960" cy="1828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76" name="TextBox 75"/>
          <p:cNvSpPr txBox="1"/>
          <p:nvPr/>
        </p:nvSpPr>
        <p:spPr>
          <a:xfrm>
            <a:off x="2962656" y="5212080"/>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77210M76T015PK</a:t>
            </a:r>
          </a:p>
        </p:txBody>
      </p:sp>
      <p:sp>
        <p:nvSpPr>
          <p:cNvPr id="77" name="TextBox 76"/>
          <p:cNvSpPr txBox="1"/>
          <p:nvPr/>
        </p:nvSpPr>
        <p:spPr>
          <a:xfrm>
            <a:off x="4379976" y="5212080"/>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Carrocería</a:t>
            </a:r>
          </a:p>
        </p:txBody>
      </p:sp>
      <p:sp>
        <p:nvSpPr>
          <p:cNvPr id="78" name="TextBox 77"/>
          <p:cNvSpPr txBox="1"/>
          <p:nvPr/>
        </p:nvSpPr>
        <p:spPr>
          <a:xfrm>
            <a:off x="5477256" y="5212080"/>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142</a:t>
            </a:r>
          </a:p>
        </p:txBody>
      </p:sp>
      <p:sp>
        <p:nvSpPr>
          <p:cNvPr id="79" name="TextBox 78"/>
          <p:cNvSpPr txBox="1"/>
          <p:nvPr/>
        </p:nvSpPr>
        <p:spPr>
          <a:xfrm>
            <a:off x="6391656" y="5212080"/>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38</a:t>
            </a:r>
          </a:p>
        </p:txBody>
      </p:sp>
      <p:sp>
        <p:nvSpPr>
          <p:cNvPr id="80" name="TextBox 79"/>
          <p:cNvSpPr txBox="1"/>
          <p:nvPr/>
        </p:nvSpPr>
        <p:spPr>
          <a:xfrm>
            <a:off x="7306056" y="5212080"/>
            <a:ext cx="1371600" cy="164592"/>
          </a:xfrm>
          <a:prstGeom prst="rect">
            <a:avLst/>
          </a:prstGeom>
          <a:noFill/>
        </p:spPr>
        <p:txBody>
          <a:bodyPr wrap="square" lIns="0" tIns="0" rIns="0" bIns="0" anchor="t">
            <a:spAutoFit/>
          </a:bodyPr>
          <a:lstStyle/>
          <a:p>
            <a:pPr algn="l">
              <a:spcBef>
                <a:spcPts val="0"/>
              </a:spcBef>
              <a:spcAft>
                <a:spcPts val="0"/>
              </a:spcAft>
            </a:pPr>
            <a:r>
              <a:rPr sz="650" b="1" i="0">
                <a:solidFill>
                  <a:srgbClr val="19BDE6"/>
                </a:solidFill>
                <a:latin typeface="Century Gothic"/>
              </a:rPr>
              <a:t>0,8 mes</a:t>
            </a:r>
          </a:p>
        </p:txBody>
      </p:sp>
      <p:sp>
        <p:nvSpPr>
          <p:cNvPr id="81" name="TextBox 80"/>
          <p:cNvSpPr txBox="1"/>
          <p:nvPr/>
        </p:nvSpPr>
        <p:spPr>
          <a:xfrm>
            <a:off x="2962656" y="5404104"/>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1293477M00000</a:t>
            </a:r>
          </a:p>
        </p:txBody>
      </p:sp>
      <p:sp>
        <p:nvSpPr>
          <p:cNvPr id="82" name="TextBox 81"/>
          <p:cNvSpPr txBox="1"/>
          <p:nvPr/>
        </p:nvSpPr>
        <p:spPr>
          <a:xfrm>
            <a:off x="4379976" y="5404104"/>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Reparación</a:t>
            </a:r>
          </a:p>
        </p:txBody>
      </p:sp>
      <p:sp>
        <p:nvSpPr>
          <p:cNvPr id="83" name="TextBox 82"/>
          <p:cNvSpPr txBox="1"/>
          <p:nvPr/>
        </p:nvSpPr>
        <p:spPr>
          <a:xfrm>
            <a:off x="5477256" y="5404104"/>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96</a:t>
            </a:r>
          </a:p>
        </p:txBody>
      </p:sp>
      <p:sp>
        <p:nvSpPr>
          <p:cNvPr id="84" name="TextBox 83"/>
          <p:cNvSpPr txBox="1"/>
          <p:nvPr/>
        </p:nvSpPr>
        <p:spPr>
          <a:xfrm>
            <a:off x="6391656" y="5404104"/>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12</a:t>
            </a:r>
          </a:p>
        </p:txBody>
      </p:sp>
      <p:sp>
        <p:nvSpPr>
          <p:cNvPr id="85" name="TextBox 84"/>
          <p:cNvSpPr txBox="1"/>
          <p:nvPr/>
        </p:nvSpPr>
        <p:spPr>
          <a:xfrm>
            <a:off x="7306056" y="5404104"/>
            <a:ext cx="1371600" cy="164592"/>
          </a:xfrm>
          <a:prstGeom prst="rect">
            <a:avLst/>
          </a:prstGeom>
          <a:noFill/>
        </p:spPr>
        <p:txBody>
          <a:bodyPr wrap="square" lIns="0" tIns="0" rIns="0" bIns="0" anchor="t">
            <a:spAutoFit/>
          </a:bodyPr>
          <a:lstStyle/>
          <a:p>
            <a:pPr algn="l">
              <a:spcBef>
                <a:spcPts val="0"/>
              </a:spcBef>
              <a:spcAft>
                <a:spcPts val="0"/>
              </a:spcAft>
            </a:pPr>
            <a:r>
              <a:rPr sz="650" b="1" i="0">
                <a:solidFill>
                  <a:srgbClr val="19BDE6"/>
                </a:solidFill>
                <a:latin typeface="Century Gothic"/>
              </a:rPr>
              <a:t>0,4 mes</a:t>
            </a:r>
          </a:p>
        </p:txBody>
      </p:sp>
      <p:sp>
        <p:nvSpPr>
          <p:cNvPr id="86" name="Rectangle 85"/>
          <p:cNvSpPr/>
          <p:nvPr/>
        </p:nvSpPr>
        <p:spPr>
          <a:xfrm>
            <a:off x="2871216" y="5577840"/>
            <a:ext cx="5394960" cy="18288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7" name="TextBox 86"/>
          <p:cNvSpPr txBox="1"/>
          <p:nvPr/>
        </p:nvSpPr>
        <p:spPr>
          <a:xfrm>
            <a:off x="2962656" y="5596128"/>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0911912012000</a:t>
            </a:r>
          </a:p>
        </p:txBody>
      </p:sp>
      <p:sp>
        <p:nvSpPr>
          <p:cNvPr id="88" name="TextBox 87"/>
          <p:cNvSpPr txBox="1"/>
          <p:nvPr/>
        </p:nvSpPr>
        <p:spPr>
          <a:xfrm>
            <a:off x="4379976" y="5596128"/>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Mantención</a:t>
            </a:r>
          </a:p>
        </p:txBody>
      </p:sp>
      <p:sp>
        <p:nvSpPr>
          <p:cNvPr id="89" name="TextBox 88"/>
          <p:cNvSpPr txBox="1"/>
          <p:nvPr/>
        </p:nvSpPr>
        <p:spPr>
          <a:xfrm>
            <a:off x="5477256" y="5596128"/>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310</a:t>
            </a:r>
          </a:p>
        </p:txBody>
      </p:sp>
      <p:sp>
        <p:nvSpPr>
          <p:cNvPr id="90" name="TextBox 89"/>
          <p:cNvSpPr txBox="1"/>
          <p:nvPr/>
        </p:nvSpPr>
        <p:spPr>
          <a:xfrm>
            <a:off x="6391656" y="5596128"/>
            <a:ext cx="1371600" cy="164592"/>
          </a:xfrm>
          <a:prstGeom prst="rect">
            <a:avLst/>
          </a:prstGeom>
          <a:noFill/>
        </p:spPr>
        <p:txBody>
          <a:bodyPr wrap="square" lIns="0" tIns="0" rIns="0" bIns="0" anchor="t">
            <a:spAutoFit/>
          </a:bodyPr>
          <a:lstStyle/>
          <a:p>
            <a:pPr algn="l">
              <a:spcBef>
                <a:spcPts val="0"/>
              </a:spcBef>
              <a:spcAft>
                <a:spcPts val="0"/>
              </a:spcAft>
            </a:pPr>
            <a:r>
              <a:rPr sz="650" b="0" i="0">
                <a:solidFill>
                  <a:srgbClr val="39464F"/>
                </a:solidFill>
                <a:latin typeface="Century Gothic"/>
              </a:rPr>
              <a:t>95</a:t>
            </a:r>
          </a:p>
        </p:txBody>
      </p:sp>
      <p:sp>
        <p:nvSpPr>
          <p:cNvPr id="91" name="TextBox 90"/>
          <p:cNvSpPr txBox="1"/>
          <p:nvPr/>
        </p:nvSpPr>
        <p:spPr>
          <a:xfrm>
            <a:off x="7306056" y="5596128"/>
            <a:ext cx="1371600" cy="164592"/>
          </a:xfrm>
          <a:prstGeom prst="rect">
            <a:avLst/>
          </a:prstGeom>
          <a:noFill/>
        </p:spPr>
        <p:txBody>
          <a:bodyPr wrap="square" lIns="0" tIns="0" rIns="0" bIns="0" anchor="t">
            <a:spAutoFit/>
          </a:bodyPr>
          <a:lstStyle/>
          <a:p>
            <a:pPr algn="l">
              <a:spcBef>
                <a:spcPts val="0"/>
              </a:spcBef>
              <a:spcAft>
                <a:spcPts val="0"/>
              </a:spcAft>
            </a:pPr>
            <a:r>
              <a:rPr sz="650" b="1" i="0">
                <a:solidFill>
                  <a:srgbClr val="19BDE6"/>
                </a:solidFill>
                <a:latin typeface="Century Gothic"/>
              </a:rPr>
              <a:t>0,9 mes</a:t>
            </a:r>
          </a:p>
        </p:txBody>
      </p:sp>
      <p:sp>
        <p:nvSpPr>
          <p:cNvPr id="92" name="Snip Single Corner Rectangle 91"/>
          <p:cNvSpPr/>
          <p:nvPr/>
        </p:nvSpPr>
        <p:spPr>
          <a:xfrm>
            <a:off x="8778240" y="1517904"/>
            <a:ext cx="2697480" cy="1042415"/>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3" name="TextBox 92"/>
          <p:cNvSpPr txBox="1"/>
          <p:nvPr/>
        </p:nvSpPr>
        <p:spPr>
          <a:xfrm>
            <a:off x="8979408" y="1682496"/>
            <a:ext cx="2331720" cy="256032"/>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Un solo lugar</a:t>
            </a:r>
          </a:p>
        </p:txBody>
      </p:sp>
      <p:sp>
        <p:nvSpPr>
          <p:cNvPr id="94" name="TextBox 93"/>
          <p:cNvSpPr txBox="1"/>
          <p:nvPr/>
        </p:nvSpPr>
        <p:spPr>
          <a:xfrm>
            <a:off x="8979408" y="1975104"/>
            <a:ext cx="2331720" cy="530352"/>
          </a:xfrm>
          <a:prstGeom prst="rect">
            <a:avLst/>
          </a:prstGeom>
          <a:noFill/>
        </p:spPr>
        <p:txBody>
          <a:bodyPr wrap="square" lIns="0" tIns="0" rIns="0" bIns="0" anchor="t">
            <a:spAutoFit/>
          </a:bodyPr>
          <a:lstStyle/>
          <a:p>
            <a:pPr algn="l">
              <a:lnSpc>
                <a:spcPct val="115000"/>
              </a:lnSpc>
              <a:spcBef>
                <a:spcPts val="0"/>
              </a:spcBef>
              <a:spcAft>
                <a:spcPts val="0"/>
              </a:spcAft>
            </a:pPr>
            <a:r>
              <a:rPr sz="850" b="0" i="0">
                <a:solidFill>
                  <a:srgbClr val="39464F"/>
                </a:solidFill>
                <a:latin typeface="Century Gothic"/>
              </a:rPr>
              <a:t>El planificador deja de cruzar tres planillas para responder una pregunta.</a:t>
            </a:r>
          </a:p>
        </p:txBody>
      </p:sp>
      <p:sp>
        <p:nvSpPr>
          <p:cNvPr id="95" name="Snip Single Corner Rectangle 94"/>
          <p:cNvSpPr/>
          <p:nvPr/>
        </p:nvSpPr>
        <p:spPr>
          <a:xfrm>
            <a:off x="8778240" y="2651760"/>
            <a:ext cx="2697480" cy="1042415"/>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6" name="TextBox 95"/>
          <p:cNvSpPr txBox="1"/>
          <p:nvPr/>
        </p:nvSpPr>
        <p:spPr>
          <a:xfrm>
            <a:off x="8979408" y="2816352"/>
            <a:ext cx="2331720" cy="256032"/>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Filtros del negocio</a:t>
            </a:r>
          </a:p>
        </p:txBody>
      </p:sp>
      <p:sp>
        <p:nvSpPr>
          <p:cNvPr id="97" name="TextBox 96"/>
          <p:cNvSpPr txBox="1"/>
          <p:nvPr/>
        </p:nvSpPr>
        <p:spPr>
          <a:xfrm>
            <a:off x="8979408" y="3108960"/>
            <a:ext cx="2331720" cy="530352"/>
          </a:xfrm>
          <a:prstGeom prst="rect">
            <a:avLst/>
          </a:prstGeom>
          <a:noFill/>
        </p:spPr>
        <p:txBody>
          <a:bodyPr wrap="square" lIns="0" tIns="0" rIns="0" bIns="0" anchor="t">
            <a:spAutoFit/>
          </a:bodyPr>
          <a:lstStyle/>
          <a:p>
            <a:pPr algn="l">
              <a:lnSpc>
                <a:spcPct val="115000"/>
              </a:lnSpc>
              <a:spcBef>
                <a:spcPts val="0"/>
              </a:spcBef>
              <a:spcAft>
                <a:spcPts val="0"/>
              </a:spcAft>
            </a:pPr>
            <a:r>
              <a:rPr sz="850" b="0" i="0">
                <a:solidFill>
                  <a:srgbClr val="39464F"/>
                </a:solidFill>
                <a:latin typeface="Century Gothic"/>
              </a:rPr>
              <a:t>Marca, familia y segmento: el lenguaje con el que la operación ya trabaja.</a:t>
            </a:r>
          </a:p>
        </p:txBody>
      </p:sp>
      <p:sp>
        <p:nvSpPr>
          <p:cNvPr id="98" name="Snip Single Corner Rectangle 97"/>
          <p:cNvSpPr/>
          <p:nvPr/>
        </p:nvSpPr>
        <p:spPr>
          <a:xfrm>
            <a:off x="8778240" y="3785616"/>
            <a:ext cx="2697480" cy="1042415"/>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9" name="TextBox 98"/>
          <p:cNvSpPr txBox="1"/>
          <p:nvPr/>
        </p:nvSpPr>
        <p:spPr>
          <a:xfrm>
            <a:off x="8979408" y="3950208"/>
            <a:ext cx="2331720" cy="256032"/>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El error, visible</a:t>
            </a:r>
          </a:p>
        </p:txBody>
      </p:sp>
      <p:sp>
        <p:nvSpPr>
          <p:cNvPr id="100" name="TextBox 99"/>
          <p:cNvSpPr txBox="1"/>
          <p:nvPr/>
        </p:nvSpPr>
        <p:spPr>
          <a:xfrm>
            <a:off x="8979408" y="4242816"/>
            <a:ext cx="2331720" cy="530352"/>
          </a:xfrm>
          <a:prstGeom prst="rect">
            <a:avLst/>
          </a:prstGeom>
          <a:noFill/>
        </p:spPr>
        <p:txBody>
          <a:bodyPr wrap="square" lIns="0" tIns="0" rIns="0" bIns="0" anchor="t">
            <a:spAutoFit/>
          </a:bodyPr>
          <a:lstStyle/>
          <a:p>
            <a:pPr algn="l">
              <a:lnSpc>
                <a:spcPct val="115000"/>
              </a:lnSpc>
              <a:spcBef>
                <a:spcPts val="0"/>
              </a:spcBef>
              <a:spcAft>
                <a:spcPts val="0"/>
              </a:spcAft>
            </a:pPr>
            <a:r>
              <a:rPr sz="850" b="0" i="0">
                <a:solidFill>
                  <a:srgbClr val="39464F"/>
                </a:solidFill>
                <a:latin typeface="Century Gothic"/>
              </a:rPr>
              <a:t>El WMAPE vigente se muestra junto a la proyección. Si el modelo se degrada, el usuario lo ve.</a:t>
            </a:r>
          </a:p>
        </p:txBody>
      </p:sp>
      <p:sp>
        <p:nvSpPr>
          <p:cNvPr id="101" name="Snip Single Corner Rectangle 100"/>
          <p:cNvSpPr/>
          <p:nvPr/>
        </p:nvSpPr>
        <p:spPr>
          <a:xfrm>
            <a:off x="8778240" y="4919472"/>
            <a:ext cx="2697480" cy="1042415"/>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2" name="TextBox 101"/>
          <p:cNvSpPr txBox="1"/>
          <p:nvPr/>
        </p:nvSpPr>
        <p:spPr>
          <a:xfrm>
            <a:off x="8979408" y="5084064"/>
            <a:ext cx="2331720" cy="256032"/>
          </a:xfrm>
          <a:prstGeom prst="rect">
            <a:avLst/>
          </a:prstGeom>
          <a:noFill/>
        </p:spPr>
        <p:txBody>
          <a:bodyPr wrap="square" lIns="0" tIns="0" rIns="0" bIns="0" anchor="t">
            <a:spAutoFit/>
          </a:bodyPr>
          <a:lstStyle/>
          <a:p>
            <a:pPr algn="l">
              <a:spcBef>
                <a:spcPts val="0"/>
              </a:spcBef>
              <a:spcAft>
                <a:spcPts val="0"/>
              </a:spcAft>
            </a:pPr>
            <a:r>
              <a:rPr sz="1050" b="1" i="0">
                <a:solidFill>
                  <a:srgbClr val="001A41"/>
                </a:solidFill>
                <a:latin typeface="Century Gothic"/>
              </a:rPr>
              <a:t>Acción, no reporte</a:t>
            </a:r>
          </a:p>
        </p:txBody>
      </p:sp>
      <p:sp>
        <p:nvSpPr>
          <p:cNvPr id="103" name="TextBox 102"/>
          <p:cNvSpPr txBox="1"/>
          <p:nvPr/>
        </p:nvSpPr>
        <p:spPr>
          <a:xfrm>
            <a:off x="8979408" y="5376672"/>
            <a:ext cx="2331720" cy="530352"/>
          </a:xfrm>
          <a:prstGeom prst="rect">
            <a:avLst/>
          </a:prstGeom>
          <a:noFill/>
        </p:spPr>
        <p:txBody>
          <a:bodyPr wrap="square" lIns="0" tIns="0" rIns="0" bIns="0" anchor="t">
            <a:spAutoFit/>
          </a:bodyPr>
          <a:lstStyle/>
          <a:p>
            <a:pPr algn="l">
              <a:lnSpc>
                <a:spcPct val="115000"/>
              </a:lnSpc>
              <a:spcBef>
                <a:spcPts val="0"/>
              </a:spcBef>
              <a:spcAft>
                <a:spcPts val="0"/>
              </a:spcAft>
            </a:pPr>
            <a:r>
              <a:rPr sz="850" b="0" i="0">
                <a:solidFill>
                  <a:srgbClr val="39464F"/>
                </a:solidFill>
                <a:latin typeface="Century Gothic"/>
              </a:rPr>
              <a:t>La pantalla termina en un plan de compra descargable.</a:t>
            </a:r>
          </a:p>
        </p:txBody>
      </p:sp>
      <p:sp>
        <p:nvSpPr>
          <p:cNvPr id="104" name="TextBox 103"/>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Uso mensual del negocio</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TextBox 3"/>
          <p:cNvSpPr txBox="1"/>
          <p:nvPr/>
        </p:nvSpPr>
        <p:spPr>
          <a:xfrm>
            <a:off x="722376" y="1170432"/>
            <a:ext cx="10753344" cy="292608"/>
          </a:xfrm>
          <a:prstGeom prst="rect">
            <a:avLst/>
          </a:prstGeom>
          <a:noFill/>
        </p:spPr>
        <p:txBody>
          <a:bodyPr wrap="square" lIns="0" tIns="0" rIns="0" bIns="0" anchor="t">
            <a:spAutoFit/>
          </a:bodyPr>
          <a:lstStyle/>
          <a:p>
            <a:pPr algn="l">
              <a:spcBef>
                <a:spcPts val="0"/>
              </a:spcBef>
              <a:spcAft>
                <a:spcPts val="0"/>
              </a:spcAft>
            </a:pPr>
            <a:r>
              <a:rPr sz="1250" b="1" i="0">
                <a:solidFill>
                  <a:srgbClr val="001A41"/>
                </a:solidFill>
                <a:latin typeface="Century Gothic"/>
              </a:rPr>
              <a:t>Cómo se inserta la herramienta en el ciclo de trabajo que ya existe</a:t>
            </a:r>
          </a:p>
        </p:txBody>
      </p:sp>
      <p:sp>
        <p:nvSpPr>
          <p:cNvPr id="5" name="Snip Single Corner Rectangle 4"/>
          <p:cNvSpPr/>
          <p:nvPr/>
        </p:nvSpPr>
        <p:spPr>
          <a:xfrm>
            <a:off x="722376" y="1609344"/>
            <a:ext cx="2033625" cy="196596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6" name="Snip Single Corner Rectangle 5"/>
          <p:cNvSpPr/>
          <p:nvPr/>
        </p:nvSpPr>
        <p:spPr>
          <a:xfrm>
            <a:off x="923544" y="1810512"/>
            <a:ext cx="786384"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Día 1</a:t>
            </a:r>
          </a:p>
        </p:txBody>
      </p:sp>
      <p:sp>
        <p:nvSpPr>
          <p:cNvPr id="7" name="TextBox 6"/>
          <p:cNvSpPr txBox="1"/>
          <p:nvPr/>
        </p:nvSpPr>
        <p:spPr>
          <a:xfrm>
            <a:off x="923544" y="2176272"/>
            <a:ext cx="1631289" cy="256032"/>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Planificador</a:t>
            </a:r>
          </a:p>
        </p:txBody>
      </p:sp>
      <p:sp>
        <p:nvSpPr>
          <p:cNvPr id="8" name="TextBox 7"/>
          <p:cNvSpPr txBox="1"/>
          <p:nvPr/>
        </p:nvSpPr>
        <p:spPr>
          <a:xfrm>
            <a:off x="923544" y="2505456"/>
            <a:ext cx="1631289" cy="96012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Ejecuta la carga del mes. La aplicación valida las descargas de SAP y avisa si algo no cuadra.</a:t>
            </a:r>
          </a:p>
        </p:txBody>
      </p:sp>
      <p:sp>
        <p:nvSpPr>
          <p:cNvPr id="9" name="Isosceles Triangle 8"/>
          <p:cNvSpPr/>
          <p:nvPr/>
        </p:nvSpPr>
        <p:spPr>
          <a:xfrm rot="5400000">
            <a:off x="2765145" y="2487168"/>
            <a:ext cx="128016" cy="164592"/>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nip Single Corner Rectangle 9"/>
          <p:cNvSpPr/>
          <p:nvPr/>
        </p:nvSpPr>
        <p:spPr>
          <a:xfrm>
            <a:off x="2902305" y="1609344"/>
            <a:ext cx="2033625" cy="196596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Snip Single Corner Rectangle 10"/>
          <p:cNvSpPr/>
          <p:nvPr/>
        </p:nvSpPr>
        <p:spPr>
          <a:xfrm>
            <a:off x="3103473" y="1810512"/>
            <a:ext cx="786384"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Día 2</a:t>
            </a:r>
          </a:p>
        </p:txBody>
      </p:sp>
      <p:sp>
        <p:nvSpPr>
          <p:cNvPr id="12" name="TextBox 11"/>
          <p:cNvSpPr txBox="1"/>
          <p:nvPr/>
        </p:nvSpPr>
        <p:spPr>
          <a:xfrm>
            <a:off x="3103473" y="2176272"/>
            <a:ext cx="1631289" cy="256032"/>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Planificador</a:t>
            </a:r>
          </a:p>
        </p:txBody>
      </p:sp>
      <p:sp>
        <p:nvSpPr>
          <p:cNvPr id="13" name="TextBox 12"/>
          <p:cNvSpPr txBox="1"/>
          <p:nvPr/>
        </p:nvSpPr>
        <p:spPr>
          <a:xfrm>
            <a:off x="3103473" y="2505456"/>
            <a:ext cx="1631289" cy="96012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Revisa la proyección. El modelo cubre el catálogo completo; solo interviene las excepciones que la app marca.</a:t>
            </a:r>
          </a:p>
        </p:txBody>
      </p:sp>
      <p:sp>
        <p:nvSpPr>
          <p:cNvPr id="14" name="Isosceles Triangle 13"/>
          <p:cNvSpPr/>
          <p:nvPr/>
        </p:nvSpPr>
        <p:spPr>
          <a:xfrm rot="5400000">
            <a:off x="4945075" y="2487168"/>
            <a:ext cx="128016" cy="164592"/>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nip Single Corner Rectangle 14"/>
          <p:cNvSpPr/>
          <p:nvPr/>
        </p:nvSpPr>
        <p:spPr>
          <a:xfrm>
            <a:off x="5082235" y="1609344"/>
            <a:ext cx="2033625" cy="196596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Snip Single Corner Rectangle 15"/>
          <p:cNvSpPr/>
          <p:nvPr/>
        </p:nvSpPr>
        <p:spPr>
          <a:xfrm>
            <a:off x="5283403" y="1810512"/>
            <a:ext cx="786384" cy="256032"/>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Día 3</a:t>
            </a:r>
          </a:p>
        </p:txBody>
      </p:sp>
      <p:sp>
        <p:nvSpPr>
          <p:cNvPr id="17" name="TextBox 16"/>
          <p:cNvSpPr txBox="1"/>
          <p:nvPr/>
        </p:nvSpPr>
        <p:spPr>
          <a:xfrm>
            <a:off x="5283403" y="2176272"/>
            <a:ext cx="1631289" cy="256032"/>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Planificador</a:t>
            </a:r>
          </a:p>
        </p:txBody>
      </p:sp>
      <p:sp>
        <p:nvSpPr>
          <p:cNvPr id="18" name="TextBox 17"/>
          <p:cNvSpPr txBox="1"/>
          <p:nvPr/>
        </p:nvSpPr>
        <p:spPr>
          <a:xfrm>
            <a:off x="5283403" y="2505456"/>
            <a:ext cx="1631289" cy="96012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Simula la cobertura y ve el impacto estimado sobre el fill rate antes de decidir.</a:t>
            </a:r>
          </a:p>
        </p:txBody>
      </p:sp>
      <p:sp>
        <p:nvSpPr>
          <p:cNvPr id="19" name="Isosceles Triangle 18"/>
          <p:cNvSpPr/>
          <p:nvPr/>
        </p:nvSpPr>
        <p:spPr>
          <a:xfrm rot="5400000">
            <a:off x="7125004" y="2487168"/>
            <a:ext cx="128016" cy="164592"/>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nip Single Corner Rectangle 19"/>
          <p:cNvSpPr/>
          <p:nvPr/>
        </p:nvSpPr>
        <p:spPr>
          <a:xfrm>
            <a:off x="7262164" y="1609344"/>
            <a:ext cx="2033625" cy="1965960"/>
          </a:xfrm>
          <a:prstGeom prst="snip1Rect">
            <a:avLst>
              <a:gd name="adj" fmla="val 9000"/>
            </a:avLst>
          </a:prstGeom>
          <a:solidFill>
            <a:srgbClr val="FFFFFF"/>
          </a:solidFill>
          <a:ln w="15875">
            <a:solidFill>
              <a:srgbClr val="001A4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Snip Single Corner Rectangle 20"/>
          <p:cNvSpPr/>
          <p:nvPr/>
        </p:nvSpPr>
        <p:spPr>
          <a:xfrm>
            <a:off x="7463332" y="1810512"/>
            <a:ext cx="786384" cy="256032"/>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Día 4</a:t>
            </a:r>
          </a:p>
        </p:txBody>
      </p:sp>
      <p:sp>
        <p:nvSpPr>
          <p:cNvPr id="22" name="TextBox 21"/>
          <p:cNvSpPr txBox="1"/>
          <p:nvPr/>
        </p:nvSpPr>
        <p:spPr>
          <a:xfrm>
            <a:off x="7463332" y="2176272"/>
            <a:ext cx="1631289" cy="256032"/>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Comprador</a:t>
            </a:r>
          </a:p>
        </p:txBody>
      </p:sp>
      <p:sp>
        <p:nvSpPr>
          <p:cNvPr id="23" name="TextBox 22"/>
          <p:cNvSpPr txBox="1"/>
          <p:nvPr/>
        </p:nvSpPr>
        <p:spPr>
          <a:xfrm>
            <a:off x="7463332" y="2505456"/>
            <a:ext cx="1631289" cy="96012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Descarga el plan de compra priorizado y emite el pedido de importación.</a:t>
            </a:r>
          </a:p>
        </p:txBody>
      </p:sp>
      <p:sp>
        <p:nvSpPr>
          <p:cNvPr id="24" name="Isosceles Triangle 23"/>
          <p:cNvSpPr/>
          <p:nvPr/>
        </p:nvSpPr>
        <p:spPr>
          <a:xfrm rot="5400000">
            <a:off x="9304934" y="2487168"/>
            <a:ext cx="128016" cy="164592"/>
          </a:xfrm>
          <a:prstGeom prst="triangle">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nip Single Corner Rectangle 24"/>
          <p:cNvSpPr/>
          <p:nvPr/>
        </p:nvSpPr>
        <p:spPr>
          <a:xfrm>
            <a:off x="9442094" y="1609344"/>
            <a:ext cx="2033625" cy="196596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6" name="Snip Single Corner Rectangle 25"/>
          <p:cNvSpPr/>
          <p:nvPr/>
        </p:nvSpPr>
        <p:spPr>
          <a:xfrm>
            <a:off x="9643262" y="1810512"/>
            <a:ext cx="786384" cy="256032"/>
          </a:xfrm>
          <a:prstGeom prst="snip1Rect">
            <a:avLst>
              <a:gd name="adj" fmla="val 22000"/>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Cierre</a:t>
            </a:r>
          </a:p>
        </p:txBody>
      </p:sp>
      <p:sp>
        <p:nvSpPr>
          <p:cNvPr id="27" name="TextBox 26"/>
          <p:cNvSpPr txBox="1"/>
          <p:nvPr/>
        </p:nvSpPr>
        <p:spPr>
          <a:xfrm>
            <a:off x="9643262" y="2176272"/>
            <a:ext cx="1631289" cy="256032"/>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Jefatura</a:t>
            </a:r>
          </a:p>
        </p:txBody>
      </p:sp>
      <p:sp>
        <p:nvSpPr>
          <p:cNvPr id="28" name="TextBox 27"/>
          <p:cNvSpPr txBox="1"/>
          <p:nvPr/>
        </p:nvSpPr>
        <p:spPr>
          <a:xfrm>
            <a:off x="9643262" y="2505456"/>
            <a:ext cx="1631289" cy="960120"/>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Revisa el WMAPE del modelo y el fill rate obtenido en el mes.</a:t>
            </a:r>
          </a:p>
        </p:txBody>
      </p:sp>
      <p:sp>
        <p:nvSpPr>
          <p:cNvPr id="29" name="TextBox 28"/>
          <p:cNvSpPr txBox="1"/>
          <p:nvPr/>
        </p:nvSpPr>
        <p:spPr>
          <a:xfrm>
            <a:off x="722376" y="3931920"/>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Qué cambia para el usuario</a:t>
            </a:r>
          </a:p>
        </p:txBody>
      </p:sp>
      <p:sp>
        <p:nvSpPr>
          <p:cNvPr id="30" name="Snip Single Corner Rectangle 29"/>
          <p:cNvSpPr/>
          <p:nvPr/>
        </p:nvSpPr>
        <p:spPr>
          <a:xfrm>
            <a:off x="722376" y="4315968"/>
            <a:ext cx="5294376" cy="18288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1" name="TextBox 30"/>
          <p:cNvSpPr txBox="1"/>
          <p:nvPr/>
        </p:nvSpPr>
        <p:spPr>
          <a:xfrm>
            <a:off x="1033272" y="4498848"/>
            <a:ext cx="4672584" cy="1554480"/>
          </a:xfrm>
          <a:prstGeom prst="rect">
            <a:avLst/>
          </a:prstGeom>
          <a:noFill/>
        </p:spPr>
        <p:txBody>
          <a:bodyPr wrap="square" lIns="0" tIns="0" rIns="0" bIns="0" anchor="t">
            <a:spAutoFit/>
          </a:bodyPr>
          <a:lstStyle/>
          <a:p>
            <a:pPr algn="l">
              <a:spcBef>
                <a:spcPts val="0"/>
              </a:spcBef>
              <a:spcAft>
                <a:spcPts val="700"/>
              </a:spcAft>
            </a:pPr>
            <a:r>
              <a:rPr sz="1000" b="1" i="0">
                <a:solidFill>
                  <a:srgbClr val="858A8C"/>
                </a:solidFill>
                <a:latin typeface="Century Gothic"/>
              </a:rPr>
              <a:t>HOY</a:t>
            </a:r>
          </a:p>
          <a:p>
            <a:pPr algn="l">
              <a:lnSpc>
                <a:spcPct val="115000"/>
              </a:lnSpc>
              <a:spcBef>
                <a:spcPts val="0"/>
              </a:spcBef>
              <a:spcAft>
                <a:spcPts val="600"/>
              </a:spcAft>
            </a:pPr>
            <a:r>
              <a:rPr sz="950" b="0" i="0">
                <a:solidFill>
                  <a:srgbClr val="39464F"/>
                </a:solidFill>
                <a:latin typeface="Century Gothic"/>
              </a:rPr>
              <a:t>· La proyección se arma y mantiene en planillas Excel.</a:t>
            </a:r>
          </a:p>
          <a:p>
            <a:pPr algn="l">
              <a:lnSpc>
                <a:spcPct val="115000"/>
              </a:lnSpc>
              <a:spcBef>
                <a:spcPts val="0"/>
              </a:spcBef>
              <a:spcAft>
                <a:spcPts val="600"/>
              </a:spcAft>
            </a:pPr>
            <a:r>
              <a:rPr sz="950" b="0" i="0">
                <a:solidFill>
                  <a:srgbClr val="39464F"/>
                </a:solidFill>
                <a:latin typeface="Century Gothic"/>
              </a:rPr>
              <a:t>· Se revisan a mano 6.280 códigos: el 2,8% del catálogo.</a:t>
            </a:r>
          </a:p>
          <a:p>
            <a:pPr algn="l">
              <a:lnSpc>
                <a:spcPct val="115000"/>
              </a:lnSpc>
              <a:spcBef>
                <a:spcPts val="0"/>
              </a:spcBef>
              <a:spcAft>
                <a:spcPts val="600"/>
              </a:spcAft>
            </a:pPr>
            <a:r>
              <a:rPr sz="950" b="0" i="0">
                <a:solidFill>
                  <a:srgbClr val="39464F"/>
                </a:solidFill>
                <a:latin typeface="Century Gothic"/>
              </a:rPr>
              <a:t>· El error del forecast se conoce después, cuando ya se compró.</a:t>
            </a:r>
          </a:p>
          <a:p>
            <a:pPr algn="l">
              <a:lnSpc>
                <a:spcPct val="115000"/>
              </a:lnSpc>
              <a:spcBef>
                <a:spcPts val="0"/>
              </a:spcBef>
              <a:spcAft>
                <a:spcPts val="600"/>
              </a:spcAft>
            </a:pPr>
            <a:r>
              <a:rPr sz="950" b="0" i="0">
                <a:solidFill>
                  <a:srgbClr val="39464F"/>
                </a:solidFill>
                <a:latin typeface="Century Gothic"/>
              </a:rPr>
              <a:t>· La decisión de cobertura se toma sin simular su efecto.</a:t>
            </a:r>
          </a:p>
        </p:txBody>
      </p:sp>
      <p:sp>
        <p:nvSpPr>
          <p:cNvPr id="32" name="Snip Single Corner Rectangle 31"/>
          <p:cNvSpPr/>
          <p:nvPr/>
        </p:nvSpPr>
        <p:spPr>
          <a:xfrm>
            <a:off x="6181344" y="4315968"/>
            <a:ext cx="5294376" cy="182880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3" name="TextBox 32"/>
          <p:cNvSpPr txBox="1"/>
          <p:nvPr/>
        </p:nvSpPr>
        <p:spPr>
          <a:xfrm>
            <a:off x="6492240" y="4498848"/>
            <a:ext cx="4672584" cy="1554480"/>
          </a:xfrm>
          <a:prstGeom prst="rect">
            <a:avLst/>
          </a:prstGeom>
          <a:noFill/>
        </p:spPr>
        <p:txBody>
          <a:bodyPr wrap="square" lIns="0" tIns="0" rIns="0" bIns="0" anchor="t">
            <a:spAutoFit/>
          </a:bodyPr>
          <a:lstStyle/>
          <a:p>
            <a:pPr algn="l">
              <a:spcBef>
                <a:spcPts val="0"/>
              </a:spcBef>
              <a:spcAft>
                <a:spcPts val="700"/>
              </a:spcAft>
            </a:pPr>
            <a:r>
              <a:rPr sz="1000" b="1" i="0">
                <a:solidFill>
                  <a:srgbClr val="19BDE6"/>
                </a:solidFill>
                <a:latin typeface="Century Gothic"/>
              </a:rPr>
              <a:t>CON LA HERRAMIENTA</a:t>
            </a:r>
          </a:p>
          <a:p>
            <a:pPr algn="l">
              <a:lnSpc>
                <a:spcPct val="115000"/>
              </a:lnSpc>
              <a:spcBef>
                <a:spcPts val="0"/>
              </a:spcBef>
              <a:spcAft>
                <a:spcPts val="600"/>
              </a:spcAft>
            </a:pPr>
            <a:r>
              <a:rPr sz="950" b="0" i="0">
                <a:solidFill>
                  <a:srgbClr val="9FB3C8"/>
                </a:solidFill>
                <a:latin typeface="Century Gothic"/>
              </a:rPr>
              <a:t>· La proyección se recalcula sola desde la aplicación.</a:t>
            </a:r>
          </a:p>
          <a:p>
            <a:pPr algn="l">
              <a:lnSpc>
                <a:spcPct val="115000"/>
              </a:lnSpc>
              <a:spcBef>
                <a:spcPts val="0"/>
              </a:spcBef>
              <a:spcAft>
                <a:spcPts val="600"/>
              </a:spcAft>
            </a:pPr>
            <a:r>
              <a:rPr sz="950" b="0" i="0">
                <a:solidFill>
                  <a:srgbClr val="9FB3C8"/>
                </a:solidFill>
                <a:latin typeface="Century Gothic"/>
              </a:rPr>
              <a:t>· El modelo cubre los 225.264 códigos; el planificador revisa excepciones.</a:t>
            </a:r>
          </a:p>
          <a:p>
            <a:pPr algn="l">
              <a:lnSpc>
                <a:spcPct val="115000"/>
              </a:lnSpc>
              <a:spcBef>
                <a:spcPts val="0"/>
              </a:spcBef>
              <a:spcAft>
                <a:spcPts val="600"/>
              </a:spcAft>
            </a:pPr>
            <a:r>
              <a:rPr sz="950" b="0" i="0">
                <a:solidFill>
                  <a:srgbClr val="9FB3C8"/>
                </a:solidFill>
                <a:latin typeface="Century Gothic"/>
              </a:rPr>
              <a:t>· El WMAPE vigente se ve junto a la proyección, antes de comprar.</a:t>
            </a:r>
          </a:p>
          <a:p>
            <a:pPr algn="l">
              <a:lnSpc>
                <a:spcPct val="115000"/>
              </a:lnSpc>
              <a:spcBef>
                <a:spcPts val="0"/>
              </a:spcBef>
              <a:spcAft>
                <a:spcPts val="600"/>
              </a:spcAft>
            </a:pPr>
            <a:r>
              <a:rPr sz="950" b="0" i="0">
                <a:solidFill>
                  <a:srgbClr val="9FB3C8"/>
                </a:solidFill>
                <a:latin typeface="Century Gothic"/>
              </a:rPr>
              <a:t>· La cobertura se simula y se ve su impacto en el fill rate.</a:t>
            </a:r>
          </a:p>
        </p:txBody>
      </p:sp>
      <p:sp>
        <p:nvSpPr>
          <p:cNvPr id="34" name="TextBox 33"/>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783080"/>
            <a:ext cx="7863840" cy="320040"/>
          </a:xfrm>
          <a:prstGeom prst="rect">
            <a:avLst/>
          </a:prstGeom>
          <a:noFill/>
        </p:spPr>
        <p:txBody>
          <a:bodyPr wrap="square" lIns="0" tIns="0" rIns="0" bIns="0" anchor="t">
            <a:spAutoFit/>
          </a:bodyPr>
          <a:lstStyle/>
          <a:p>
            <a:pPr algn="l">
              <a:spcBef>
                <a:spcPts val="0"/>
              </a:spcBef>
              <a:spcAft>
                <a:spcPts val="0"/>
              </a:spcAft>
            </a:pPr>
            <a:r>
              <a:rPr sz="1200" b="1" i="0">
                <a:solidFill>
                  <a:srgbClr val="19BDE6"/>
                </a:solidFill>
                <a:latin typeface="Century Gothic"/>
              </a:rPr>
              <a:t>04</a:t>
            </a:r>
          </a:p>
        </p:txBody>
      </p:sp>
      <p:sp>
        <p:nvSpPr>
          <p:cNvPr id="3" name="TextBox 2"/>
          <p:cNvSpPr txBox="1"/>
          <p:nvPr/>
        </p:nvSpPr>
        <p:spPr>
          <a:xfrm>
            <a:off x="722376" y="2240280"/>
            <a:ext cx="8595360" cy="2103120"/>
          </a:xfrm>
          <a:prstGeom prst="rect">
            <a:avLst/>
          </a:prstGeom>
          <a:noFill/>
        </p:spPr>
        <p:txBody>
          <a:bodyPr wrap="square" lIns="0" tIns="0" rIns="0" bIns="0" anchor="t">
            <a:spAutoFit/>
          </a:bodyPr>
          <a:lstStyle/>
          <a:p>
            <a:pPr algn="l">
              <a:lnSpc>
                <a:spcPct val="100000"/>
              </a:lnSpc>
              <a:spcBef>
                <a:spcPts val="0"/>
              </a:spcBef>
              <a:spcAft>
                <a:spcPts val="0"/>
              </a:spcAft>
            </a:pPr>
            <a:r>
              <a:rPr sz="3800" b="1" i="0">
                <a:solidFill>
                  <a:srgbClr val="FFFFFF"/>
                </a:solidFill>
                <a:latin typeface="Century Gothic"/>
              </a:rPr>
              <a:t>GOBIERNO</a:t>
            </a:r>
          </a:p>
          <a:p>
            <a:pPr algn="l">
              <a:lnSpc>
                <a:spcPct val="100000"/>
              </a:lnSpc>
              <a:spcBef>
                <a:spcPts val="0"/>
              </a:spcBef>
              <a:spcAft>
                <a:spcPts val="0"/>
              </a:spcAft>
            </a:pPr>
            <a:r>
              <a:rPr sz="3800" b="1" i="0">
                <a:solidFill>
                  <a:srgbClr val="FFFFFF"/>
                </a:solidFill>
                <a:latin typeface="Century Gothic"/>
              </a:rPr>
              <a:t>DEL PROYECTO</a:t>
            </a:r>
          </a:p>
        </p:txBody>
      </p:sp>
      <p:sp>
        <p:nvSpPr>
          <p:cNvPr id="4" name="TextBox 3"/>
          <p:cNvSpPr txBox="1"/>
          <p:nvPr/>
        </p:nvSpPr>
        <p:spPr>
          <a:xfrm>
            <a:off x="722376" y="4709160"/>
            <a:ext cx="7680960" cy="82296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19BDE6"/>
                </a:solidFill>
                <a:latin typeface="Century Gothic"/>
              </a:rPr>
              <a:t>Confidencialidad, competencias, plan de trabajo, evidencias y riesgos.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Confidencialidad de los datos</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5294376" cy="224028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1069848" y="1426464"/>
            <a:ext cx="4599432" cy="274320"/>
          </a:xfrm>
          <a:prstGeom prst="rect">
            <a:avLst/>
          </a:prstGeom>
          <a:noFill/>
        </p:spPr>
        <p:txBody>
          <a:bodyPr wrap="square" lIns="0" tIns="0" rIns="0" bIns="0" anchor="t">
            <a:spAutoFit/>
          </a:bodyPr>
          <a:lstStyle/>
          <a:p>
            <a:pPr algn="l">
              <a:spcBef>
                <a:spcPts val="0"/>
              </a:spcBef>
              <a:spcAft>
                <a:spcPts val="0"/>
              </a:spcAft>
            </a:pPr>
            <a:r>
              <a:rPr sz="900" b="1" i="0">
                <a:solidFill>
                  <a:srgbClr val="19BDE6"/>
                </a:solidFill>
                <a:latin typeface="Century Gothic"/>
              </a:rPr>
              <a:t>ACUERDO DE CONFIDENCIALIDAD (NDA)</a:t>
            </a:r>
          </a:p>
        </p:txBody>
      </p:sp>
      <p:sp>
        <p:nvSpPr>
          <p:cNvPr id="6" name="TextBox 5"/>
          <p:cNvSpPr txBox="1"/>
          <p:nvPr/>
        </p:nvSpPr>
        <p:spPr>
          <a:xfrm>
            <a:off x="1069848" y="1792224"/>
            <a:ext cx="4599432" cy="1554480"/>
          </a:xfrm>
          <a:prstGeom prst="rect">
            <a:avLst/>
          </a:prstGeom>
          <a:noFill/>
        </p:spPr>
        <p:txBody>
          <a:bodyPr wrap="square" lIns="0" tIns="0" rIns="0" bIns="0" anchor="t">
            <a:spAutoFit/>
          </a:bodyPr>
          <a:lstStyle/>
          <a:p>
            <a:pPr algn="l">
              <a:lnSpc>
                <a:spcPct val="120000"/>
              </a:lnSpc>
              <a:spcBef>
                <a:spcPts val="0"/>
              </a:spcBef>
              <a:spcAft>
                <a:spcPts val="800"/>
              </a:spcAft>
            </a:pPr>
            <a:r>
              <a:rPr sz="1100" b="0" i="0">
                <a:solidFill>
                  <a:srgbClr val="FFFFFF"/>
                </a:solidFill>
                <a:latin typeface="Century Gothic"/>
              </a:rPr>
              <a:t>Se solicitará la firma de un acuerdo de confidencialidad al docente de la asignatura y a la institución, como condición previa a la entrega de cualquier extracción de datos productivos de la compañía.</a:t>
            </a:r>
          </a:p>
          <a:p>
            <a:pPr algn="l">
              <a:lnSpc>
                <a:spcPct val="120000"/>
              </a:lnSpc>
              <a:spcBef>
                <a:spcPts val="0"/>
              </a:spcBef>
              <a:spcAft>
                <a:spcPts val="0"/>
              </a:spcAft>
            </a:pPr>
            <a:r>
              <a:rPr sz="950" b="0" i="0">
                <a:solidFill>
                  <a:srgbClr val="9FB3C8"/>
                </a:solidFill>
                <a:latin typeface="Century Gothic"/>
              </a:rPr>
              <a:t>Es un requisito de la contraparte y está incorporado como primera actividad del plan de trabajo.</a:t>
            </a:r>
          </a:p>
        </p:txBody>
      </p:sp>
      <p:sp>
        <p:nvSpPr>
          <p:cNvPr id="7" name="Snip Single Corner Rectangle 6"/>
          <p:cNvSpPr/>
          <p:nvPr/>
        </p:nvSpPr>
        <p:spPr>
          <a:xfrm>
            <a:off x="6181344" y="1207008"/>
            <a:ext cx="5294376" cy="224028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TextBox 7"/>
          <p:cNvSpPr txBox="1"/>
          <p:nvPr/>
        </p:nvSpPr>
        <p:spPr>
          <a:xfrm>
            <a:off x="6492240" y="1426464"/>
            <a:ext cx="4672584" cy="274320"/>
          </a:xfrm>
          <a:prstGeom prst="rect">
            <a:avLst/>
          </a:prstGeom>
          <a:noFill/>
        </p:spPr>
        <p:txBody>
          <a:bodyPr wrap="square" lIns="0" tIns="0" rIns="0" bIns="0" anchor="t">
            <a:spAutoFit/>
          </a:bodyPr>
          <a:lstStyle/>
          <a:p>
            <a:pPr algn="l">
              <a:spcBef>
                <a:spcPts val="0"/>
              </a:spcBef>
              <a:spcAft>
                <a:spcPts val="0"/>
              </a:spcAft>
            </a:pPr>
            <a:r>
              <a:rPr sz="1200" b="1" i="0">
                <a:solidFill>
                  <a:srgbClr val="001A41"/>
                </a:solidFill>
                <a:latin typeface="Century Gothic"/>
              </a:rPr>
              <a:t>Qué se entrega y qué no</a:t>
            </a:r>
          </a:p>
        </p:txBody>
      </p:sp>
      <p:sp>
        <p:nvSpPr>
          <p:cNvPr id="9" name="TextBox 8"/>
          <p:cNvSpPr txBox="1"/>
          <p:nvPr/>
        </p:nvSpPr>
        <p:spPr>
          <a:xfrm>
            <a:off x="6492240" y="1810512"/>
            <a:ext cx="4672584" cy="1554480"/>
          </a:xfrm>
          <a:prstGeom prst="rect">
            <a:avLst/>
          </a:prstGeom>
          <a:noFill/>
        </p:spPr>
        <p:txBody>
          <a:bodyPr wrap="square" lIns="0" tIns="0" rIns="0" bIns="0" anchor="t">
            <a:spAutoFit/>
          </a:bodyPr>
          <a:lstStyle/>
          <a:p>
            <a:pPr algn="l">
              <a:lnSpc>
                <a:spcPct val="120000"/>
              </a:lnSpc>
              <a:spcAft>
                <a:spcPts val="800"/>
              </a:spcAft>
            </a:pPr>
            <a:r>
              <a:rPr sz="1000" b="1">
                <a:solidFill>
                  <a:srgbClr val="19BDE6"/>
                </a:solidFill>
                <a:latin typeface="Century Gothic"/>
              </a:rPr>
              <a:t>Sí:  </a:t>
            </a:r>
            <a:r>
              <a:rPr sz="1000" b="0">
                <a:solidFill>
                  <a:srgbClr val="39464F"/>
                </a:solidFill>
                <a:latin typeface="Century Gothic"/>
              </a:rPr>
              <a:t>metodología, código, modelo de datos, métricas de error e indicadores porcentuales.</a:t>
            </a:r>
          </a:p>
          <a:p>
            <a:pPr algn="l">
              <a:lnSpc>
                <a:spcPct val="120000"/>
              </a:lnSpc>
              <a:spcAft>
                <a:spcPts val="800"/>
              </a:spcAft>
            </a:pPr>
            <a:r>
              <a:rPr sz="1000" b="1">
                <a:solidFill>
                  <a:srgbClr val="001A41"/>
                </a:solidFill>
                <a:latin typeface="Century Gothic"/>
              </a:rPr>
              <a:t>No:  </a:t>
            </a:r>
            <a:r>
              <a:rPr sz="1000" b="0">
                <a:solidFill>
                  <a:srgbClr val="39464F"/>
                </a:solidFill>
                <a:latin typeface="Century Gothic"/>
              </a:rPr>
              <a:t>valores comerciales, márgenes, nombres de clientes ni códigos reales sin enmascarar.</a:t>
            </a:r>
          </a:p>
          <a:p>
            <a:pPr algn="l">
              <a:lnSpc>
                <a:spcPct val="120000"/>
              </a:lnSpc>
              <a:spcBef>
                <a:spcPts val="0"/>
              </a:spcBef>
              <a:spcAft>
                <a:spcPts val="0"/>
              </a:spcAft>
            </a:pPr>
            <a:r>
              <a:rPr sz="1000" b="0" i="0">
                <a:solidFill>
                  <a:srgbClr val="39464F"/>
                </a:solidFill>
                <a:latin typeface="Century Gothic"/>
              </a:rPr>
              <a:t>El repositorio contiene únicamente código y documentación, nunca datos.</a:t>
            </a:r>
          </a:p>
        </p:txBody>
      </p:sp>
      <p:sp>
        <p:nvSpPr>
          <p:cNvPr id="10" name="TextBox 9"/>
          <p:cNvSpPr txBox="1"/>
          <p:nvPr/>
        </p:nvSpPr>
        <p:spPr>
          <a:xfrm>
            <a:off x="722376" y="3785615"/>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Medidas técnicas de resguardo</a:t>
            </a:r>
          </a:p>
        </p:txBody>
      </p:sp>
      <p:sp>
        <p:nvSpPr>
          <p:cNvPr id="11" name="Snip Single Corner Rectangle 10"/>
          <p:cNvSpPr/>
          <p:nvPr/>
        </p:nvSpPr>
        <p:spPr>
          <a:xfrm>
            <a:off x="722376" y="4169663"/>
            <a:ext cx="2564892" cy="15179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2" name="Oval 11"/>
          <p:cNvSpPr/>
          <p:nvPr/>
        </p:nvSpPr>
        <p:spPr>
          <a:xfrm>
            <a:off x="960120" y="4407408"/>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TextBox 12"/>
          <p:cNvSpPr txBox="1"/>
          <p:nvPr/>
        </p:nvSpPr>
        <p:spPr>
          <a:xfrm>
            <a:off x="960120" y="4645152"/>
            <a:ext cx="2107692"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Anonimización</a:t>
            </a:r>
          </a:p>
        </p:txBody>
      </p:sp>
      <p:sp>
        <p:nvSpPr>
          <p:cNvPr id="14" name="TextBox 13"/>
          <p:cNvSpPr txBox="1"/>
          <p:nvPr/>
        </p:nvSpPr>
        <p:spPr>
          <a:xfrm>
            <a:off x="960120" y="4974336"/>
            <a:ext cx="2107692" cy="6583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Códigos, clientes y montos se enmascaran en toda entrega académica.</a:t>
            </a:r>
          </a:p>
        </p:txBody>
      </p:sp>
      <p:sp>
        <p:nvSpPr>
          <p:cNvPr id="15" name="Snip Single Corner Rectangle 14"/>
          <p:cNvSpPr/>
          <p:nvPr/>
        </p:nvSpPr>
        <p:spPr>
          <a:xfrm>
            <a:off x="3451860" y="4169663"/>
            <a:ext cx="2564892" cy="15179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Oval 15"/>
          <p:cNvSpPr/>
          <p:nvPr/>
        </p:nvSpPr>
        <p:spPr>
          <a:xfrm>
            <a:off x="3689604" y="4407408"/>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TextBox 16"/>
          <p:cNvSpPr txBox="1"/>
          <p:nvPr/>
        </p:nvSpPr>
        <p:spPr>
          <a:xfrm>
            <a:off x="3689604" y="4645152"/>
            <a:ext cx="2107692"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Ambiente controlado</a:t>
            </a:r>
          </a:p>
        </p:txBody>
      </p:sp>
      <p:sp>
        <p:nvSpPr>
          <p:cNvPr id="18" name="TextBox 17"/>
          <p:cNvSpPr txBox="1"/>
          <p:nvPr/>
        </p:nvSpPr>
        <p:spPr>
          <a:xfrm>
            <a:off x="3689604" y="4974336"/>
            <a:ext cx="2107692" cy="6583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Procesamiento en equipos autorizados, sin servicios externos.</a:t>
            </a:r>
          </a:p>
        </p:txBody>
      </p:sp>
      <p:sp>
        <p:nvSpPr>
          <p:cNvPr id="19" name="Snip Single Corner Rectangle 18"/>
          <p:cNvSpPr/>
          <p:nvPr/>
        </p:nvSpPr>
        <p:spPr>
          <a:xfrm>
            <a:off x="6181344" y="4169663"/>
            <a:ext cx="2564892" cy="15179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Oval 19"/>
          <p:cNvSpPr/>
          <p:nvPr/>
        </p:nvSpPr>
        <p:spPr>
          <a:xfrm>
            <a:off x="6419088" y="4407408"/>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6419088" y="4645152"/>
            <a:ext cx="2107692"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Datos sintéticos</a:t>
            </a:r>
          </a:p>
        </p:txBody>
      </p:sp>
      <p:sp>
        <p:nvSpPr>
          <p:cNvPr id="22" name="TextBox 21"/>
          <p:cNvSpPr txBox="1"/>
          <p:nvPr/>
        </p:nvSpPr>
        <p:spPr>
          <a:xfrm>
            <a:off x="6419088" y="4974336"/>
            <a:ext cx="2107692" cy="6583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La demostración ante la comisión usa un set enmascarado equivalente.</a:t>
            </a:r>
          </a:p>
        </p:txBody>
      </p:sp>
      <p:sp>
        <p:nvSpPr>
          <p:cNvPr id="23" name="Snip Single Corner Rectangle 22"/>
          <p:cNvSpPr/>
          <p:nvPr/>
        </p:nvSpPr>
        <p:spPr>
          <a:xfrm>
            <a:off x="8910828" y="4169663"/>
            <a:ext cx="2564892" cy="1517904"/>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Oval 23"/>
          <p:cNvSpPr/>
          <p:nvPr/>
        </p:nvSpPr>
        <p:spPr>
          <a:xfrm>
            <a:off x="9148572" y="4407408"/>
            <a:ext cx="109728" cy="109728"/>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TextBox 24"/>
          <p:cNvSpPr txBox="1"/>
          <p:nvPr/>
        </p:nvSpPr>
        <p:spPr>
          <a:xfrm>
            <a:off x="9148572" y="4645152"/>
            <a:ext cx="2107692" cy="274320"/>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Trazabilidad</a:t>
            </a:r>
          </a:p>
        </p:txBody>
      </p:sp>
      <p:sp>
        <p:nvSpPr>
          <p:cNvPr id="26" name="TextBox 25"/>
          <p:cNvSpPr txBox="1"/>
          <p:nvPr/>
        </p:nvSpPr>
        <p:spPr>
          <a:xfrm>
            <a:off x="9148572" y="4974336"/>
            <a:ext cx="2107692" cy="658368"/>
          </a:xfrm>
          <a:prstGeom prst="rect">
            <a:avLst/>
          </a:prstGeom>
          <a:noFill/>
        </p:spPr>
        <p:txBody>
          <a:bodyPr wrap="square" lIns="0" tIns="0" rIns="0" bIns="0" anchor="t">
            <a:spAutoFit/>
          </a:bodyPr>
          <a:lstStyle/>
          <a:p>
            <a:pPr algn="l">
              <a:lnSpc>
                <a:spcPct val="115000"/>
              </a:lnSpc>
              <a:spcBef>
                <a:spcPts val="0"/>
              </a:spcBef>
              <a:spcAft>
                <a:spcPts val="0"/>
              </a:spcAft>
            </a:pPr>
            <a:r>
              <a:rPr sz="900" b="0" i="0">
                <a:solidFill>
                  <a:srgbClr val="39464F"/>
                </a:solidFill>
                <a:latin typeface="Century Gothic"/>
              </a:rPr>
              <a:t>Registro de qué datos se usaron, con qué corte y con qué propósito.</a:t>
            </a:r>
          </a:p>
        </p:txBody>
      </p:sp>
      <p:sp>
        <p:nvSpPr>
          <p:cNvPr id="27" name="TextBox 26"/>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Plan de trabajo</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TextBox 3"/>
          <p:cNvSpPr txBox="1"/>
          <p:nvPr/>
        </p:nvSpPr>
        <p:spPr>
          <a:xfrm>
            <a:off x="813816" y="1298448"/>
            <a:ext cx="1984248" cy="237744"/>
          </a:xfrm>
          <a:prstGeom prst="rect">
            <a:avLst/>
          </a:prstGeom>
          <a:noFill/>
        </p:spPr>
        <p:txBody>
          <a:bodyPr wrap="square" lIns="0" tIns="0" rIns="0" bIns="0" anchor="t">
            <a:spAutoFit/>
          </a:bodyPr>
          <a:lstStyle/>
          <a:p>
            <a:pPr algn="l">
              <a:spcBef>
                <a:spcPts val="0"/>
              </a:spcBef>
              <a:spcAft>
                <a:spcPts val="0"/>
              </a:spcAft>
            </a:pPr>
            <a:r>
              <a:rPr sz="850" b="1" i="0">
                <a:solidFill>
                  <a:srgbClr val="858A8C"/>
                </a:solidFill>
                <a:latin typeface="Century Gothic"/>
              </a:rPr>
              <a:t>ACTIVIDAD</a:t>
            </a:r>
          </a:p>
        </p:txBody>
      </p:sp>
      <p:sp>
        <p:nvSpPr>
          <p:cNvPr id="5" name="TextBox 4"/>
          <p:cNvSpPr txBox="1"/>
          <p:nvPr/>
        </p:nvSpPr>
        <p:spPr>
          <a:xfrm>
            <a:off x="2962656" y="1298448"/>
            <a:ext cx="3950208" cy="237744"/>
          </a:xfrm>
          <a:prstGeom prst="rect">
            <a:avLst/>
          </a:prstGeom>
          <a:noFill/>
        </p:spPr>
        <p:txBody>
          <a:bodyPr wrap="square" lIns="0" tIns="0" rIns="0" bIns="0" anchor="t">
            <a:spAutoFit/>
          </a:bodyPr>
          <a:lstStyle/>
          <a:p>
            <a:pPr algn="l">
              <a:spcBef>
                <a:spcPts val="0"/>
              </a:spcBef>
              <a:spcAft>
                <a:spcPts val="0"/>
              </a:spcAft>
            </a:pPr>
            <a:r>
              <a:rPr sz="850" b="1" i="0">
                <a:solidFill>
                  <a:srgbClr val="858A8C"/>
                </a:solidFill>
                <a:latin typeface="Century Gothic"/>
              </a:rPr>
              <a:t>DESCRIPCIÓN</a:t>
            </a:r>
          </a:p>
        </p:txBody>
      </p:sp>
      <p:sp>
        <p:nvSpPr>
          <p:cNvPr id="6" name="TextBox 5"/>
          <p:cNvSpPr txBox="1"/>
          <p:nvPr/>
        </p:nvSpPr>
        <p:spPr>
          <a:xfrm>
            <a:off x="7077456" y="1298448"/>
            <a:ext cx="1572768" cy="237744"/>
          </a:xfrm>
          <a:prstGeom prst="rect">
            <a:avLst/>
          </a:prstGeom>
          <a:noFill/>
        </p:spPr>
        <p:txBody>
          <a:bodyPr wrap="square" lIns="0" tIns="0" rIns="0" bIns="0" anchor="t">
            <a:spAutoFit/>
          </a:bodyPr>
          <a:lstStyle/>
          <a:p>
            <a:pPr algn="l">
              <a:spcBef>
                <a:spcPts val="0"/>
              </a:spcBef>
              <a:spcAft>
                <a:spcPts val="0"/>
              </a:spcAft>
            </a:pPr>
            <a:r>
              <a:rPr sz="850" b="1" i="0">
                <a:solidFill>
                  <a:srgbClr val="858A8C"/>
                </a:solidFill>
                <a:latin typeface="Century Gothic"/>
              </a:rPr>
              <a:t>RECURSOS</a:t>
            </a:r>
          </a:p>
        </p:txBody>
      </p:sp>
      <p:sp>
        <p:nvSpPr>
          <p:cNvPr id="7" name="TextBox 6"/>
          <p:cNvSpPr txBox="1"/>
          <p:nvPr/>
        </p:nvSpPr>
        <p:spPr>
          <a:xfrm>
            <a:off x="8814816" y="1298448"/>
            <a:ext cx="795528" cy="237744"/>
          </a:xfrm>
          <a:prstGeom prst="rect">
            <a:avLst/>
          </a:prstGeom>
          <a:noFill/>
        </p:spPr>
        <p:txBody>
          <a:bodyPr wrap="square" lIns="0" tIns="0" rIns="0" bIns="0" anchor="t">
            <a:spAutoFit/>
          </a:bodyPr>
          <a:lstStyle/>
          <a:p>
            <a:pPr algn="l">
              <a:spcBef>
                <a:spcPts val="0"/>
              </a:spcBef>
              <a:spcAft>
                <a:spcPts val="0"/>
              </a:spcAft>
            </a:pPr>
            <a:r>
              <a:rPr sz="850" b="1" i="0">
                <a:solidFill>
                  <a:srgbClr val="858A8C"/>
                </a:solidFill>
                <a:latin typeface="Century Gothic"/>
              </a:rPr>
              <a:t>DURACIÓN</a:t>
            </a:r>
          </a:p>
        </p:txBody>
      </p:sp>
      <p:sp>
        <p:nvSpPr>
          <p:cNvPr id="8" name="TextBox 7"/>
          <p:cNvSpPr txBox="1"/>
          <p:nvPr/>
        </p:nvSpPr>
        <p:spPr>
          <a:xfrm>
            <a:off x="9774936" y="1298448"/>
            <a:ext cx="1627632" cy="237744"/>
          </a:xfrm>
          <a:prstGeom prst="rect">
            <a:avLst/>
          </a:prstGeom>
          <a:noFill/>
        </p:spPr>
        <p:txBody>
          <a:bodyPr wrap="square" lIns="0" tIns="0" rIns="0" bIns="0" anchor="t">
            <a:spAutoFit/>
          </a:bodyPr>
          <a:lstStyle/>
          <a:p>
            <a:pPr algn="l">
              <a:spcBef>
                <a:spcPts val="0"/>
              </a:spcBef>
              <a:spcAft>
                <a:spcPts val="0"/>
              </a:spcAft>
            </a:pPr>
            <a:r>
              <a:rPr sz="850" b="1" i="0">
                <a:solidFill>
                  <a:srgbClr val="858A8C"/>
                </a:solidFill>
                <a:latin typeface="Century Gothic"/>
              </a:rPr>
              <a:t>RESPONSABLE</a:t>
            </a:r>
          </a:p>
        </p:txBody>
      </p:sp>
      <p:sp>
        <p:nvSpPr>
          <p:cNvPr id="9" name="Rectangle 8"/>
          <p:cNvSpPr/>
          <p:nvPr/>
        </p:nvSpPr>
        <p:spPr>
          <a:xfrm>
            <a:off x="722376" y="1618488"/>
            <a:ext cx="10753344" cy="603504"/>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0" name="TextBox 9"/>
          <p:cNvSpPr txBox="1"/>
          <p:nvPr/>
        </p:nvSpPr>
        <p:spPr>
          <a:xfrm>
            <a:off x="813816" y="1719072"/>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Análisis del negocio y NDA</a:t>
            </a:r>
          </a:p>
        </p:txBody>
      </p:sp>
      <p:sp>
        <p:nvSpPr>
          <p:cNvPr id="11" name="TextBox 10"/>
          <p:cNvSpPr txBox="1"/>
          <p:nvPr/>
        </p:nvSpPr>
        <p:spPr>
          <a:xfrm>
            <a:off x="2962656" y="1719072"/>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Levantamiento con planificación y postventa; objetivos del negocio y firma del acuerdo.</a:t>
            </a:r>
          </a:p>
        </p:txBody>
      </p:sp>
      <p:sp>
        <p:nvSpPr>
          <p:cNvPr id="12" name="TextBox 11"/>
          <p:cNvSpPr txBox="1"/>
          <p:nvPr/>
        </p:nvSpPr>
        <p:spPr>
          <a:xfrm>
            <a:off x="7077456" y="1719072"/>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Contraparte, actas</a:t>
            </a:r>
          </a:p>
        </p:txBody>
      </p:sp>
      <p:sp>
        <p:nvSpPr>
          <p:cNvPr id="13" name="TextBox 12"/>
          <p:cNvSpPr txBox="1"/>
          <p:nvPr/>
        </p:nvSpPr>
        <p:spPr>
          <a:xfrm>
            <a:off x="8814816" y="1719072"/>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S1–S4</a:t>
            </a:r>
          </a:p>
        </p:txBody>
      </p:sp>
      <p:sp>
        <p:nvSpPr>
          <p:cNvPr id="14" name="TextBox 13"/>
          <p:cNvSpPr txBox="1"/>
          <p:nvPr/>
        </p:nvSpPr>
        <p:spPr>
          <a:xfrm>
            <a:off x="9774936" y="1719072"/>
            <a:ext cx="1609344" cy="308418"/>
          </a:xfrm>
          <a:prstGeom prst="rect">
            <a:avLst/>
          </a:prstGeom>
          <a:noFill/>
        </p:spPr>
        <p:txBody>
          <a:bodyPr wrap="square" lIns="0" tIns="0" rIns="0" bIns="0" anchor="t">
            <a:spAutoFit/>
          </a:bodyPr>
          <a:lstStyle/>
          <a:p>
            <a:pPr>
              <a:lnSpc>
                <a:spcPct val="110000"/>
              </a:lnSpc>
            </a:pPr>
            <a:r>
              <a:rPr lang="es-MX" sz="950" dirty="0">
                <a:solidFill>
                  <a:srgbClr val="39464F"/>
                </a:solidFill>
              </a:rPr>
              <a:t>Todos Los integrantes del Equipo</a:t>
            </a:r>
            <a:endParaRPr sz="950" b="0" i="0" dirty="0">
              <a:solidFill>
                <a:srgbClr val="39464F"/>
              </a:solidFill>
              <a:latin typeface="Century Gothic"/>
            </a:endParaRPr>
          </a:p>
        </p:txBody>
      </p:sp>
      <p:sp>
        <p:nvSpPr>
          <p:cNvPr id="15" name="TextBox 14"/>
          <p:cNvSpPr txBox="1"/>
          <p:nvPr/>
        </p:nvSpPr>
        <p:spPr>
          <a:xfrm>
            <a:off x="813816" y="2322576"/>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Pipeline de carga de datos</a:t>
            </a:r>
          </a:p>
        </p:txBody>
      </p:sp>
      <p:sp>
        <p:nvSpPr>
          <p:cNvPr id="16" name="TextBox 15"/>
          <p:cNvSpPr txBox="1"/>
          <p:nvPr/>
        </p:nvSpPr>
        <p:spPr>
          <a:xfrm>
            <a:off x="2962656" y="2322576"/>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Extracción SAP, validación de calidad, normalización y modelo de datos.</a:t>
            </a:r>
          </a:p>
        </p:txBody>
      </p:sp>
      <p:sp>
        <p:nvSpPr>
          <p:cNvPr id="17" name="TextBox 16"/>
          <p:cNvSpPr txBox="1"/>
          <p:nvPr/>
        </p:nvSpPr>
        <p:spPr>
          <a:xfrm>
            <a:off x="7077456" y="2322576"/>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SAP, Python, SQL</a:t>
            </a:r>
          </a:p>
        </p:txBody>
      </p:sp>
      <p:sp>
        <p:nvSpPr>
          <p:cNvPr id="18" name="TextBox 17"/>
          <p:cNvSpPr txBox="1"/>
          <p:nvPr/>
        </p:nvSpPr>
        <p:spPr>
          <a:xfrm>
            <a:off x="8814816" y="2322576"/>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S5–S9</a:t>
            </a:r>
          </a:p>
        </p:txBody>
      </p:sp>
      <p:sp>
        <p:nvSpPr>
          <p:cNvPr id="19" name="TextBox 18"/>
          <p:cNvSpPr txBox="1"/>
          <p:nvPr/>
        </p:nvSpPr>
        <p:spPr>
          <a:xfrm>
            <a:off x="9774936" y="2322576"/>
            <a:ext cx="1609344" cy="147605"/>
          </a:xfrm>
          <a:prstGeom prst="rect">
            <a:avLst/>
          </a:prstGeom>
          <a:noFill/>
        </p:spPr>
        <p:txBody>
          <a:bodyPr wrap="square" lIns="0" tIns="0" rIns="0" bIns="0" anchor="t">
            <a:spAutoFit/>
          </a:bodyPr>
          <a:lstStyle/>
          <a:p>
            <a:pPr algn="l">
              <a:lnSpc>
                <a:spcPct val="110000"/>
              </a:lnSpc>
              <a:spcBef>
                <a:spcPts val="0"/>
              </a:spcBef>
              <a:spcAft>
                <a:spcPts val="0"/>
              </a:spcAft>
            </a:pPr>
            <a:r>
              <a:rPr lang="es-CL" sz="950" b="0" i="0" dirty="0">
                <a:solidFill>
                  <a:srgbClr val="39464F"/>
                </a:solidFill>
                <a:latin typeface="Century Gothic"/>
              </a:rPr>
              <a:t>Angelo Henriquez</a:t>
            </a:r>
            <a:endParaRPr sz="950" b="0" i="0" dirty="0">
              <a:solidFill>
                <a:srgbClr val="39464F"/>
              </a:solidFill>
              <a:latin typeface="Century Gothic"/>
            </a:endParaRPr>
          </a:p>
        </p:txBody>
      </p:sp>
      <p:sp>
        <p:nvSpPr>
          <p:cNvPr id="20" name="Rectangle 19"/>
          <p:cNvSpPr/>
          <p:nvPr/>
        </p:nvSpPr>
        <p:spPr>
          <a:xfrm>
            <a:off x="722376" y="2825496"/>
            <a:ext cx="10753344" cy="603504"/>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TextBox 20"/>
          <p:cNvSpPr txBox="1"/>
          <p:nvPr/>
        </p:nvSpPr>
        <p:spPr>
          <a:xfrm>
            <a:off x="813816" y="2926080"/>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Definición de variables</a:t>
            </a:r>
          </a:p>
        </p:txBody>
      </p:sp>
      <p:sp>
        <p:nvSpPr>
          <p:cNvPr id="22" name="TextBox 21"/>
          <p:cNvSpPr txBox="1"/>
          <p:nvPr/>
        </p:nvSpPr>
        <p:spPr>
          <a:xfrm>
            <a:off x="2962656" y="2926080"/>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Variable objetivo y construcción de las variables predictoras del modelo.</a:t>
            </a:r>
          </a:p>
        </p:txBody>
      </p:sp>
      <p:sp>
        <p:nvSpPr>
          <p:cNvPr id="23" name="TextBox 22"/>
          <p:cNvSpPr txBox="1"/>
          <p:nvPr/>
        </p:nvSpPr>
        <p:spPr>
          <a:xfrm>
            <a:off x="7077456" y="2926080"/>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Python, maestros</a:t>
            </a:r>
          </a:p>
        </p:txBody>
      </p:sp>
      <p:sp>
        <p:nvSpPr>
          <p:cNvPr id="24" name="TextBox 23"/>
          <p:cNvSpPr txBox="1"/>
          <p:nvPr/>
        </p:nvSpPr>
        <p:spPr>
          <a:xfrm>
            <a:off x="8814816" y="2926080"/>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S8–S10</a:t>
            </a:r>
          </a:p>
        </p:txBody>
      </p:sp>
      <p:sp>
        <p:nvSpPr>
          <p:cNvPr id="25" name="TextBox 24"/>
          <p:cNvSpPr txBox="1"/>
          <p:nvPr/>
        </p:nvSpPr>
        <p:spPr>
          <a:xfrm>
            <a:off x="9774936" y="2926080"/>
            <a:ext cx="1609344" cy="308418"/>
          </a:xfrm>
          <a:prstGeom prst="rect">
            <a:avLst/>
          </a:prstGeom>
          <a:noFill/>
        </p:spPr>
        <p:txBody>
          <a:bodyPr wrap="square" lIns="0" tIns="0" rIns="0" bIns="0" anchor="t">
            <a:spAutoFit/>
          </a:bodyPr>
          <a:lstStyle/>
          <a:p>
            <a:pPr>
              <a:lnSpc>
                <a:spcPct val="110000"/>
              </a:lnSpc>
            </a:pPr>
            <a:r>
              <a:rPr lang="es-MX" sz="950" dirty="0">
                <a:solidFill>
                  <a:srgbClr val="39464F"/>
                </a:solidFill>
              </a:rPr>
              <a:t>Todos Los integrantes del Equipo</a:t>
            </a:r>
            <a:endParaRPr sz="950" b="0" i="0" dirty="0">
              <a:solidFill>
                <a:srgbClr val="39464F"/>
              </a:solidFill>
              <a:latin typeface="Century Gothic"/>
            </a:endParaRPr>
          </a:p>
        </p:txBody>
      </p:sp>
      <p:sp>
        <p:nvSpPr>
          <p:cNvPr id="26" name="TextBox 25"/>
          <p:cNvSpPr txBox="1"/>
          <p:nvPr/>
        </p:nvSpPr>
        <p:spPr>
          <a:xfrm>
            <a:off x="813816" y="3529584"/>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Entrenamiento de modelos</a:t>
            </a:r>
          </a:p>
        </p:txBody>
      </p:sp>
      <p:sp>
        <p:nvSpPr>
          <p:cNvPr id="27" name="TextBox 26"/>
          <p:cNvSpPr txBox="1"/>
          <p:nvPr/>
        </p:nvSpPr>
        <p:spPr>
          <a:xfrm>
            <a:off x="2962656" y="3529584"/>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Comparación de algoritmos con selección diferenciada por segmento.</a:t>
            </a:r>
          </a:p>
        </p:txBody>
      </p:sp>
      <p:sp>
        <p:nvSpPr>
          <p:cNvPr id="28" name="TextBox 27"/>
          <p:cNvSpPr txBox="1"/>
          <p:nvPr/>
        </p:nvSpPr>
        <p:spPr>
          <a:xfrm>
            <a:off x="7077456" y="3529584"/>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scikit-learn</a:t>
            </a:r>
          </a:p>
        </p:txBody>
      </p:sp>
      <p:sp>
        <p:nvSpPr>
          <p:cNvPr id="29" name="TextBox 28"/>
          <p:cNvSpPr txBox="1"/>
          <p:nvPr/>
        </p:nvSpPr>
        <p:spPr>
          <a:xfrm>
            <a:off x="8814816" y="3529584"/>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S10–S13</a:t>
            </a:r>
          </a:p>
        </p:txBody>
      </p:sp>
      <p:sp>
        <p:nvSpPr>
          <p:cNvPr id="30" name="TextBox 29"/>
          <p:cNvSpPr txBox="1"/>
          <p:nvPr/>
        </p:nvSpPr>
        <p:spPr>
          <a:xfrm>
            <a:off x="9774936" y="3529584"/>
            <a:ext cx="1609344" cy="147605"/>
          </a:xfrm>
          <a:prstGeom prst="rect">
            <a:avLst/>
          </a:prstGeom>
          <a:noFill/>
        </p:spPr>
        <p:txBody>
          <a:bodyPr wrap="square" lIns="0" tIns="0" rIns="0" bIns="0" anchor="t">
            <a:spAutoFit/>
          </a:bodyPr>
          <a:lstStyle/>
          <a:p>
            <a:pPr>
              <a:lnSpc>
                <a:spcPct val="110000"/>
              </a:lnSpc>
            </a:pPr>
            <a:r>
              <a:rPr lang="es-CL" sz="950" dirty="0">
                <a:solidFill>
                  <a:srgbClr val="39464F"/>
                </a:solidFill>
              </a:rPr>
              <a:t>Tania Aburto</a:t>
            </a:r>
            <a:endParaRPr sz="950" b="0" i="0" dirty="0">
              <a:solidFill>
                <a:srgbClr val="39464F"/>
              </a:solidFill>
              <a:latin typeface="Century Gothic"/>
            </a:endParaRPr>
          </a:p>
        </p:txBody>
      </p:sp>
      <p:sp>
        <p:nvSpPr>
          <p:cNvPr id="31" name="Rectangle 30"/>
          <p:cNvSpPr/>
          <p:nvPr/>
        </p:nvSpPr>
        <p:spPr>
          <a:xfrm>
            <a:off x="722376" y="4032504"/>
            <a:ext cx="10753344" cy="603504"/>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2" name="TextBox 31"/>
          <p:cNvSpPr txBox="1"/>
          <p:nvPr/>
        </p:nvSpPr>
        <p:spPr>
          <a:xfrm>
            <a:off x="813816" y="4133088"/>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Validación (backtesting)</a:t>
            </a:r>
          </a:p>
        </p:txBody>
      </p:sp>
      <p:sp>
        <p:nvSpPr>
          <p:cNvPr id="33" name="TextBox 32"/>
          <p:cNvSpPr txBox="1"/>
          <p:nvPr/>
        </p:nvSpPr>
        <p:spPr>
          <a:xfrm>
            <a:off x="2962656" y="4133088"/>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Pruebas sobre períodos cerrados, WMAPE y criterios de aceptación.</a:t>
            </a:r>
          </a:p>
        </p:txBody>
      </p:sp>
      <p:sp>
        <p:nvSpPr>
          <p:cNvPr id="34" name="TextBox 33"/>
          <p:cNvSpPr txBox="1"/>
          <p:nvPr/>
        </p:nvSpPr>
        <p:spPr>
          <a:xfrm>
            <a:off x="7077456" y="4133088"/>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Python, Excel</a:t>
            </a:r>
          </a:p>
        </p:txBody>
      </p:sp>
      <p:sp>
        <p:nvSpPr>
          <p:cNvPr id="35" name="TextBox 34"/>
          <p:cNvSpPr txBox="1"/>
          <p:nvPr/>
        </p:nvSpPr>
        <p:spPr>
          <a:xfrm>
            <a:off x="8814816" y="4133088"/>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S12–S14</a:t>
            </a:r>
          </a:p>
        </p:txBody>
      </p:sp>
      <p:sp>
        <p:nvSpPr>
          <p:cNvPr id="36" name="TextBox 35"/>
          <p:cNvSpPr txBox="1"/>
          <p:nvPr/>
        </p:nvSpPr>
        <p:spPr>
          <a:xfrm>
            <a:off x="9774936" y="4133088"/>
            <a:ext cx="1609344" cy="147605"/>
          </a:xfrm>
          <a:prstGeom prst="rect">
            <a:avLst/>
          </a:prstGeom>
          <a:noFill/>
        </p:spPr>
        <p:txBody>
          <a:bodyPr wrap="square" lIns="0" tIns="0" rIns="0" bIns="0" anchor="t">
            <a:spAutoFit/>
          </a:bodyPr>
          <a:lstStyle/>
          <a:p>
            <a:pPr>
              <a:lnSpc>
                <a:spcPct val="110000"/>
              </a:lnSpc>
            </a:pPr>
            <a:r>
              <a:rPr lang="es-CL" sz="950" dirty="0">
                <a:solidFill>
                  <a:srgbClr val="39464F"/>
                </a:solidFill>
              </a:rPr>
              <a:t>Tania Aburto</a:t>
            </a:r>
            <a:endParaRPr sz="950" b="0" i="0" dirty="0">
              <a:solidFill>
                <a:srgbClr val="39464F"/>
              </a:solidFill>
              <a:latin typeface="Century Gothic"/>
            </a:endParaRPr>
          </a:p>
        </p:txBody>
      </p:sp>
      <p:sp>
        <p:nvSpPr>
          <p:cNvPr id="37" name="TextBox 36"/>
          <p:cNvSpPr txBox="1"/>
          <p:nvPr/>
        </p:nvSpPr>
        <p:spPr>
          <a:xfrm>
            <a:off x="813816" y="4736592"/>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Aplicación Streamlit</a:t>
            </a:r>
          </a:p>
        </p:txBody>
      </p:sp>
      <p:sp>
        <p:nvSpPr>
          <p:cNvPr id="38" name="TextBox 37"/>
          <p:cNvSpPr txBox="1"/>
          <p:nvPr/>
        </p:nvSpPr>
        <p:spPr>
          <a:xfrm>
            <a:off x="2962656" y="4736592"/>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Módulos de carga, consulta, monitoreo, simulación y gestión de modelos.</a:t>
            </a:r>
          </a:p>
        </p:txBody>
      </p:sp>
      <p:sp>
        <p:nvSpPr>
          <p:cNvPr id="39" name="TextBox 38"/>
          <p:cNvSpPr txBox="1"/>
          <p:nvPr/>
        </p:nvSpPr>
        <p:spPr>
          <a:xfrm>
            <a:off x="7077456" y="4736592"/>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Streamlit, GitHub</a:t>
            </a:r>
          </a:p>
        </p:txBody>
      </p:sp>
      <p:sp>
        <p:nvSpPr>
          <p:cNvPr id="40" name="TextBox 39"/>
          <p:cNvSpPr txBox="1"/>
          <p:nvPr/>
        </p:nvSpPr>
        <p:spPr>
          <a:xfrm>
            <a:off x="8814816" y="4736592"/>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S11–S15</a:t>
            </a:r>
          </a:p>
        </p:txBody>
      </p:sp>
      <p:sp>
        <p:nvSpPr>
          <p:cNvPr id="41" name="TextBox 40"/>
          <p:cNvSpPr txBox="1"/>
          <p:nvPr/>
        </p:nvSpPr>
        <p:spPr>
          <a:xfrm>
            <a:off x="9774936" y="4736592"/>
            <a:ext cx="1609344" cy="147605"/>
          </a:xfrm>
          <a:prstGeom prst="rect">
            <a:avLst/>
          </a:prstGeom>
          <a:noFill/>
        </p:spPr>
        <p:txBody>
          <a:bodyPr wrap="square" lIns="0" tIns="0" rIns="0" bIns="0" anchor="t">
            <a:spAutoFit/>
          </a:bodyPr>
          <a:lstStyle/>
          <a:p>
            <a:pPr>
              <a:lnSpc>
                <a:spcPct val="110000"/>
              </a:lnSpc>
            </a:pPr>
            <a:r>
              <a:rPr sz="950" b="0" i="0" dirty="0">
                <a:solidFill>
                  <a:srgbClr val="39464F"/>
                </a:solidFill>
                <a:latin typeface="Century Gothic"/>
              </a:rPr>
              <a:t>[</a:t>
            </a:r>
            <a:r>
              <a:rPr lang="es-CL" sz="950" dirty="0">
                <a:solidFill>
                  <a:srgbClr val="39464F"/>
                </a:solidFill>
              </a:rPr>
              <a:t>Jorge Cavieres</a:t>
            </a:r>
            <a:r>
              <a:rPr sz="950" b="0" i="0" dirty="0">
                <a:solidFill>
                  <a:srgbClr val="39464F"/>
                </a:solidFill>
                <a:latin typeface="Century Gothic"/>
              </a:rPr>
              <a:t>]</a:t>
            </a:r>
          </a:p>
        </p:txBody>
      </p:sp>
      <p:sp>
        <p:nvSpPr>
          <p:cNvPr id="42" name="Rectangle 41"/>
          <p:cNvSpPr/>
          <p:nvPr/>
        </p:nvSpPr>
        <p:spPr>
          <a:xfrm>
            <a:off x="722376" y="5239512"/>
            <a:ext cx="10753344" cy="603504"/>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3" name="TextBox 42"/>
          <p:cNvSpPr txBox="1"/>
          <p:nvPr/>
        </p:nvSpPr>
        <p:spPr>
          <a:xfrm>
            <a:off x="813816" y="5340096"/>
            <a:ext cx="1965960" cy="502920"/>
          </a:xfrm>
          <a:prstGeom prst="rect">
            <a:avLst/>
          </a:prstGeom>
          <a:noFill/>
        </p:spPr>
        <p:txBody>
          <a:bodyPr wrap="square" lIns="0" tIns="0" rIns="0" bIns="0" anchor="t">
            <a:spAutoFit/>
          </a:bodyPr>
          <a:lstStyle/>
          <a:p>
            <a:pPr algn="l">
              <a:lnSpc>
                <a:spcPct val="110000"/>
              </a:lnSpc>
              <a:spcBef>
                <a:spcPts val="0"/>
              </a:spcBef>
              <a:spcAft>
                <a:spcPts val="0"/>
              </a:spcAft>
            </a:pPr>
            <a:r>
              <a:rPr sz="950" b="1" i="0">
                <a:solidFill>
                  <a:srgbClr val="001A41"/>
                </a:solidFill>
                <a:latin typeface="Century Gothic"/>
              </a:rPr>
              <a:t>Documentación y presentación</a:t>
            </a:r>
          </a:p>
        </p:txBody>
      </p:sp>
      <p:sp>
        <p:nvSpPr>
          <p:cNvPr id="44" name="TextBox 43"/>
          <p:cNvSpPr txBox="1"/>
          <p:nvPr/>
        </p:nvSpPr>
        <p:spPr>
          <a:xfrm>
            <a:off x="2962656" y="5340096"/>
            <a:ext cx="393192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Informe de avance, informe final, repositorio y defensa ante la comisión.</a:t>
            </a:r>
          </a:p>
        </p:txBody>
      </p:sp>
      <p:sp>
        <p:nvSpPr>
          <p:cNvPr id="45" name="TextBox 44"/>
          <p:cNvSpPr txBox="1"/>
          <p:nvPr/>
        </p:nvSpPr>
        <p:spPr>
          <a:xfrm>
            <a:off x="7077456" y="5340096"/>
            <a:ext cx="155448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Word, GitHub</a:t>
            </a:r>
          </a:p>
        </p:txBody>
      </p:sp>
      <p:sp>
        <p:nvSpPr>
          <p:cNvPr id="46" name="TextBox 45"/>
          <p:cNvSpPr txBox="1"/>
          <p:nvPr/>
        </p:nvSpPr>
        <p:spPr>
          <a:xfrm>
            <a:off x="8814816" y="5340096"/>
            <a:ext cx="777240" cy="502920"/>
          </a:xfrm>
          <a:prstGeom prst="rect">
            <a:avLst/>
          </a:prstGeom>
          <a:noFill/>
        </p:spPr>
        <p:txBody>
          <a:bodyPr wrap="square" lIns="0" tIns="0" rIns="0" bIns="0" anchor="t">
            <a:spAutoFit/>
          </a:bodyPr>
          <a:lstStyle/>
          <a:p>
            <a:pPr algn="l">
              <a:lnSpc>
                <a:spcPct val="110000"/>
              </a:lnSpc>
              <a:spcBef>
                <a:spcPts val="0"/>
              </a:spcBef>
              <a:spcAft>
                <a:spcPts val="0"/>
              </a:spcAft>
            </a:pPr>
            <a:r>
              <a:rPr sz="900" b="0" i="0">
                <a:solidFill>
                  <a:srgbClr val="39464F"/>
                </a:solidFill>
                <a:latin typeface="Century Gothic"/>
              </a:rPr>
              <a:t>S1–S18</a:t>
            </a:r>
          </a:p>
        </p:txBody>
      </p:sp>
      <p:sp>
        <p:nvSpPr>
          <p:cNvPr id="47" name="TextBox 46"/>
          <p:cNvSpPr txBox="1"/>
          <p:nvPr/>
        </p:nvSpPr>
        <p:spPr>
          <a:xfrm>
            <a:off x="9774936" y="5340096"/>
            <a:ext cx="1609344" cy="308418"/>
          </a:xfrm>
          <a:prstGeom prst="rect">
            <a:avLst/>
          </a:prstGeom>
          <a:noFill/>
        </p:spPr>
        <p:txBody>
          <a:bodyPr wrap="square" lIns="0" tIns="0" rIns="0" bIns="0" anchor="t">
            <a:spAutoFit/>
          </a:bodyPr>
          <a:lstStyle/>
          <a:p>
            <a:pPr>
              <a:lnSpc>
                <a:spcPct val="110000"/>
              </a:lnSpc>
            </a:pPr>
            <a:r>
              <a:rPr lang="es-MX" sz="950" dirty="0">
                <a:solidFill>
                  <a:srgbClr val="39464F"/>
                </a:solidFill>
              </a:rPr>
              <a:t>Todos Los integrantes del Equipo</a:t>
            </a:r>
            <a:endParaRPr sz="950" b="0" i="0" dirty="0">
              <a:solidFill>
                <a:srgbClr val="39464F"/>
              </a:solidFill>
              <a:latin typeface="Century Gothic"/>
            </a:endParaRPr>
          </a:p>
        </p:txBody>
      </p:sp>
      <p:sp>
        <p:nvSpPr>
          <p:cNvPr id="48" name="Snip Single Corner Rectangle 47"/>
          <p:cNvSpPr/>
          <p:nvPr/>
        </p:nvSpPr>
        <p:spPr>
          <a:xfrm>
            <a:off x="722376" y="6016752"/>
            <a:ext cx="10753344" cy="585216"/>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9" name="TextBox 48"/>
          <p:cNvSpPr txBox="1"/>
          <p:nvPr/>
        </p:nvSpPr>
        <p:spPr>
          <a:xfrm>
            <a:off x="1033272" y="6144768"/>
            <a:ext cx="10113264" cy="384048"/>
          </a:xfrm>
          <a:prstGeom prst="rect">
            <a:avLst/>
          </a:prstGeom>
          <a:noFill/>
        </p:spPr>
        <p:txBody>
          <a:bodyPr wrap="square" lIns="0" tIns="0" rIns="0" bIns="0" anchor="t">
            <a:spAutoFit/>
          </a:bodyPr>
          <a:lstStyle/>
          <a:p>
            <a:pPr algn="l">
              <a:lnSpc>
                <a:spcPct val="115000"/>
              </a:lnSpc>
              <a:spcAft>
                <a:spcPts val="0"/>
              </a:spcAft>
            </a:pPr>
            <a:r>
              <a:rPr sz="900" b="1">
                <a:solidFill>
                  <a:srgbClr val="19BDE6"/>
                </a:solidFill>
                <a:latin typeface="Century Gothic"/>
              </a:rPr>
              <a:t>Facilitadores:  </a:t>
            </a:r>
            <a:r>
              <a:rPr sz="900" b="0">
                <a:solidFill>
                  <a:srgbClr val="9FB3C8"/>
                </a:solidFill>
                <a:latin typeface="Century Gothic"/>
              </a:rPr>
              <a:t>acceso directo a los datos y a la contraparte; herramientas ya disponibles.     </a:t>
            </a:r>
            <a:r>
              <a:rPr sz="900" b="1">
                <a:solidFill>
                  <a:srgbClr val="19BDE6"/>
                </a:solidFill>
                <a:latin typeface="Century Gothic"/>
              </a:rPr>
              <a:t>Obstaculizadores:  </a:t>
            </a:r>
            <a:r>
              <a:rPr sz="900" b="0">
                <a:solidFill>
                  <a:srgbClr val="9FB3C8"/>
                </a:solidFill>
                <a:latin typeface="Century Gothic"/>
              </a:rPr>
              <a:t>firma del NDA y calidad de las descargas; se mitigan gestionando el acuerdo en la semana 1 y validando los datos de forma temprana.</a:t>
            </a:r>
          </a:p>
        </p:txBody>
      </p:sp>
      <p:sp>
        <p:nvSpPr>
          <p:cNvPr id="50" name="TextBox 49"/>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Carta Gantt</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Rectangle 3"/>
          <p:cNvSpPr/>
          <p:nvPr/>
        </p:nvSpPr>
        <p:spPr>
          <a:xfrm>
            <a:off x="3246120" y="1444752"/>
            <a:ext cx="1782063" cy="274320"/>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3246120" y="1490472"/>
            <a:ext cx="1782063" cy="201168"/>
          </a:xfrm>
          <a:prstGeom prst="rect">
            <a:avLst/>
          </a:prstGeom>
          <a:noFill/>
        </p:spPr>
        <p:txBody>
          <a:bodyPr wrap="square" lIns="0" tIns="0" rIns="0" bIns="0" anchor="t">
            <a:spAutoFit/>
          </a:bodyPr>
          <a:lstStyle/>
          <a:p>
            <a:pPr algn="ctr">
              <a:spcBef>
                <a:spcPts val="0"/>
              </a:spcBef>
              <a:spcAft>
                <a:spcPts val="0"/>
              </a:spcAft>
            </a:pPr>
            <a:r>
              <a:rPr sz="900" b="1" i="0">
                <a:solidFill>
                  <a:srgbClr val="001A41"/>
                </a:solidFill>
                <a:latin typeface="Century Gothic"/>
              </a:rPr>
              <a:t>FASE 1</a:t>
            </a:r>
          </a:p>
        </p:txBody>
      </p:sp>
      <p:sp>
        <p:nvSpPr>
          <p:cNvPr id="6" name="Rectangle 5"/>
          <p:cNvSpPr/>
          <p:nvPr/>
        </p:nvSpPr>
        <p:spPr>
          <a:xfrm>
            <a:off x="5064760" y="1444752"/>
            <a:ext cx="4964684" cy="27432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7" name="TextBox 6"/>
          <p:cNvSpPr txBox="1"/>
          <p:nvPr/>
        </p:nvSpPr>
        <p:spPr>
          <a:xfrm>
            <a:off x="5064760" y="1490472"/>
            <a:ext cx="4964684" cy="201168"/>
          </a:xfrm>
          <a:prstGeom prst="rect">
            <a:avLst/>
          </a:prstGeom>
          <a:noFill/>
        </p:spPr>
        <p:txBody>
          <a:bodyPr wrap="square" lIns="0" tIns="0" rIns="0" bIns="0" anchor="t">
            <a:spAutoFit/>
          </a:bodyPr>
          <a:lstStyle/>
          <a:p>
            <a:pPr algn="ctr">
              <a:spcBef>
                <a:spcPts val="0"/>
              </a:spcBef>
              <a:spcAft>
                <a:spcPts val="0"/>
              </a:spcAft>
            </a:pPr>
            <a:r>
              <a:rPr sz="900" b="1" i="0">
                <a:solidFill>
                  <a:srgbClr val="FFFFFF"/>
                </a:solidFill>
                <a:latin typeface="Century Gothic"/>
              </a:rPr>
              <a:t>FASE 2</a:t>
            </a:r>
          </a:p>
        </p:txBody>
      </p:sp>
      <p:sp>
        <p:nvSpPr>
          <p:cNvPr id="8" name="Rectangle 7"/>
          <p:cNvSpPr/>
          <p:nvPr/>
        </p:nvSpPr>
        <p:spPr>
          <a:xfrm>
            <a:off x="10066020" y="1444752"/>
            <a:ext cx="1327403" cy="274320"/>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TextBox 8"/>
          <p:cNvSpPr txBox="1"/>
          <p:nvPr/>
        </p:nvSpPr>
        <p:spPr>
          <a:xfrm>
            <a:off x="10066020" y="1490472"/>
            <a:ext cx="1327403" cy="201168"/>
          </a:xfrm>
          <a:prstGeom prst="rect">
            <a:avLst/>
          </a:prstGeom>
          <a:noFill/>
        </p:spPr>
        <p:txBody>
          <a:bodyPr wrap="square" lIns="0" tIns="0" rIns="0" bIns="0" anchor="t">
            <a:spAutoFit/>
          </a:bodyPr>
          <a:lstStyle/>
          <a:p>
            <a:pPr algn="ctr">
              <a:spcBef>
                <a:spcPts val="0"/>
              </a:spcBef>
              <a:spcAft>
                <a:spcPts val="0"/>
              </a:spcAft>
            </a:pPr>
            <a:r>
              <a:rPr sz="900" b="1" i="0">
                <a:solidFill>
                  <a:srgbClr val="FFFFFF"/>
                </a:solidFill>
                <a:latin typeface="Century Gothic"/>
              </a:rPr>
              <a:t>FASE 3</a:t>
            </a:r>
          </a:p>
        </p:txBody>
      </p:sp>
      <p:sp>
        <p:nvSpPr>
          <p:cNvPr id="10" name="TextBox 9"/>
          <p:cNvSpPr txBox="1"/>
          <p:nvPr/>
        </p:nvSpPr>
        <p:spPr>
          <a:xfrm>
            <a:off x="324612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a:t>
            </a:r>
          </a:p>
        </p:txBody>
      </p:sp>
      <p:sp>
        <p:nvSpPr>
          <p:cNvPr id="11" name="TextBox 10"/>
          <p:cNvSpPr txBox="1"/>
          <p:nvPr/>
        </p:nvSpPr>
        <p:spPr>
          <a:xfrm>
            <a:off x="370077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2</a:t>
            </a:r>
          </a:p>
        </p:txBody>
      </p:sp>
      <p:sp>
        <p:nvSpPr>
          <p:cNvPr id="12" name="TextBox 11"/>
          <p:cNvSpPr txBox="1"/>
          <p:nvPr/>
        </p:nvSpPr>
        <p:spPr>
          <a:xfrm>
            <a:off x="415544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3</a:t>
            </a:r>
          </a:p>
        </p:txBody>
      </p:sp>
      <p:sp>
        <p:nvSpPr>
          <p:cNvPr id="13" name="TextBox 12"/>
          <p:cNvSpPr txBox="1"/>
          <p:nvPr/>
        </p:nvSpPr>
        <p:spPr>
          <a:xfrm>
            <a:off x="461009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4</a:t>
            </a:r>
          </a:p>
        </p:txBody>
      </p:sp>
      <p:sp>
        <p:nvSpPr>
          <p:cNvPr id="14" name="TextBox 13"/>
          <p:cNvSpPr txBox="1"/>
          <p:nvPr/>
        </p:nvSpPr>
        <p:spPr>
          <a:xfrm>
            <a:off x="506476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5</a:t>
            </a:r>
          </a:p>
        </p:txBody>
      </p:sp>
      <p:sp>
        <p:nvSpPr>
          <p:cNvPr id="15" name="TextBox 14"/>
          <p:cNvSpPr txBox="1"/>
          <p:nvPr/>
        </p:nvSpPr>
        <p:spPr>
          <a:xfrm>
            <a:off x="551941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6</a:t>
            </a:r>
          </a:p>
        </p:txBody>
      </p:sp>
      <p:sp>
        <p:nvSpPr>
          <p:cNvPr id="16" name="TextBox 15"/>
          <p:cNvSpPr txBox="1"/>
          <p:nvPr/>
        </p:nvSpPr>
        <p:spPr>
          <a:xfrm>
            <a:off x="597408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7</a:t>
            </a:r>
          </a:p>
        </p:txBody>
      </p:sp>
      <p:sp>
        <p:nvSpPr>
          <p:cNvPr id="17" name="TextBox 16"/>
          <p:cNvSpPr txBox="1"/>
          <p:nvPr/>
        </p:nvSpPr>
        <p:spPr>
          <a:xfrm>
            <a:off x="642873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8</a:t>
            </a:r>
          </a:p>
        </p:txBody>
      </p:sp>
      <p:sp>
        <p:nvSpPr>
          <p:cNvPr id="18" name="TextBox 17"/>
          <p:cNvSpPr txBox="1"/>
          <p:nvPr/>
        </p:nvSpPr>
        <p:spPr>
          <a:xfrm>
            <a:off x="688339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9</a:t>
            </a:r>
          </a:p>
        </p:txBody>
      </p:sp>
      <p:sp>
        <p:nvSpPr>
          <p:cNvPr id="19" name="TextBox 18"/>
          <p:cNvSpPr txBox="1"/>
          <p:nvPr/>
        </p:nvSpPr>
        <p:spPr>
          <a:xfrm>
            <a:off x="733805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10</a:t>
            </a:r>
          </a:p>
        </p:txBody>
      </p:sp>
      <p:sp>
        <p:nvSpPr>
          <p:cNvPr id="20" name="TextBox 19"/>
          <p:cNvSpPr txBox="1"/>
          <p:nvPr/>
        </p:nvSpPr>
        <p:spPr>
          <a:xfrm>
            <a:off x="779272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11</a:t>
            </a:r>
          </a:p>
        </p:txBody>
      </p:sp>
      <p:sp>
        <p:nvSpPr>
          <p:cNvPr id="21" name="TextBox 20"/>
          <p:cNvSpPr txBox="1"/>
          <p:nvPr/>
        </p:nvSpPr>
        <p:spPr>
          <a:xfrm>
            <a:off x="824737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12</a:t>
            </a:r>
          </a:p>
        </p:txBody>
      </p:sp>
      <p:sp>
        <p:nvSpPr>
          <p:cNvPr id="22" name="TextBox 21"/>
          <p:cNvSpPr txBox="1"/>
          <p:nvPr/>
        </p:nvSpPr>
        <p:spPr>
          <a:xfrm>
            <a:off x="870204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13</a:t>
            </a:r>
          </a:p>
        </p:txBody>
      </p:sp>
      <p:sp>
        <p:nvSpPr>
          <p:cNvPr id="23" name="TextBox 22"/>
          <p:cNvSpPr txBox="1"/>
          <p:nvPr/>
        </p:nvSpPr>
        <p:spPr>
          <a:xfrm>
            <a:off x="915670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14</a:t>
            </a:r>
          </a:p>
        </p:txBody>
      </p:sp>
      <p:sp>
        <p:nvSpPr>
          <p:cNvPr id="24" name="TextBox 23"/>
          <p:cNvSpPr txBox="1"/>
          <p:nvPr/>
        </p:nvSpPr>
        <p:spPr>
          <a:xfrm>
            <a:off x="961135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15</a:t>
            </a:r>
          </a:p>
        </p:txBody>
      </p:sp>
      <p:sp>
        <p:nvSpPr>
          <p:cNvPr id="25" name="TextBox 24"/>
          <p:cNvSpPr txBox="1"/>
          <p:nvPr/>
        </p:nvSpPr>
        <p:spPr>
          <a:xfrm>
            <a:off x="1006602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16</a:t>
            </a:r>
          </a:p>
        </p:txBody>
      </p:sp>
      <p:sp>
        <p:nvSpPr>
          <p:cNvPr id="26" name="TextBox 25"/>
          <p:cNvSpPr txBox="1"/>
          <p:nvPr/>
        </p:nvSpPr>
        <p:spPr>
          <a:xfrm>
            <a:off x="10520680"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17</a:t>
            </a:r>
          </a:p>
        </p:txBody>
      </p:sp>
      <p:sp>
        <p:nvSpPr>
          <p:cNvPr id="27" name="TextBox 26"/>
          <p:cNvSpPr txBox="1"/>
          <p:nvPr/>
        </p:nvSpPr>
        <p:spPr>
          <a:xfrm>
            <a:off x="10975339" y="1783080"/>
            <a:ext cx="454659" cy="201168"/>
          </a:xfrm>
          <a:prstGeom prst="rect">
            <a:avLst/>
          </a:prstGeom>
          <a:noFill/>
        </p:spPr>
        <p:txBody>
          <a:bodyPr wrap="square" lIns="0" tIns="0" rIns="0" bIns="0" anchor="t">
            <a:spAutoFit/>
          </a:bodyPr>
          <a:lstStyle/>
          <a:p>
            <a:pPr algn="ctr">
              <a:spcBef>
                <a:spcPts val="0"/>
              </a:spcBef>
              <a:spcAft>
                <a:spcPts val="0"/>
              </a:spcAft>
            </a:pPr>
            <a:r>
              <a:rPr sz="800" b="0" i="0">
                <a:solidFill>
                  <a:srgbClr val="858A8C"/>
                </a:solidFill>
                <a:latin typeface="Century Gothic"/>
              </a:rPr>
              <a:t>18</a:t>
            </a:r>
          </a:p>
        </p:txBody>
      </p:sp>
      <p:sp>
        <p:nvSpPr>
          <p:cNvPr id="28" name="Rectangle 27"/>
          <p:cNvSpPr/>
          <p:nvPr/>
        </p:nvSpPr>
        <p:spPr>
          <a:xfrm>
            <a:off x="722376" y="2029968"/>
            <a:ext cx="10753344" cy="4572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9" name="TextBox 28"/>
          <p:cNvSpPr txBox="1"/>
          <p:nvPr/>
        </p:nvSpPr>
        <p:spPr>
          <a:xfrm>
            <a:off x="813816" y="2139696"/>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Análisis del negocio y NDA</a:t>
            </a:r>
          </a:p>
        </p:txBody>
      </p:sp>
      <p:sp>
        <p:nvSpPr>
          <p:cNvPr id="30" name="Rectangle 29"/>
          <p:cNvSpPr/>
          <p:nvPr/>
        </p:nvSpPr>
        <p:spPr>
          <a:xfrm>
            <a:off x="3273551" y="2148840"/>
            <a:ext cx="1763775" cy="228600"/>
          </a:xfrm>
          <a:prstGeom prst="rect">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1" name="TextBox 30"/>
          <p:cNvSpPr txBox="1"/>
          <p:nvPr/>
        </p:nvSpPr>
        <p:spPr>
          <a:xfrm>
            <a:off x="813816" y="2642616"/>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Pipeline de carga de datos</a:t>
            </a:r>
          </a:p>
        </p:txBody>
      </p:sp>
      <p:sp>
        <p:nvSpPr>
          <p:cNvPr id="32" name="Rectangle 31"/>
          <p:cNvSpPr/>
          <p:nvPr/>
        </p:nvSpPr>
        <p:spPr>
          <a:xfrm>
            <a:off x="5092192" y="2651760"/>
            <a:ext cx="2218435" cy="22860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3" name="Rectangle 32"/>
          <p:cNvSpPr/>
          <p:nvPr/>
        </p:nvSpPr>
        <p:spPr>
          <a:xfrm>
            <a:off x="722376" y="3035808"/>
            <a:ext cx="10753344" cy="4572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4" name="TextBox 33"/>
          <p:cNvSpPr txBox="1"/>
          <p:nvPr/>
        </p:nvSpPr>
        <p:spPr>
          <a:xfrm>
            <a:off x="813816" y="3145536"/>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Definición de variables</a:t>
            </a:r>
          </a:p>
        </p:txBody>
      </p:sp>
      <p:sp>
        <p:nvSpPr>
          <p:cNvPr id="35" name="Rectangle 34"/>
          <p:cNvSpPr/>
          <p:nvPr/>
        </p:nvSpPr>
        <p:spPr>
          <a:xfrm>
            <a:off x="6456172" y="3154679"/>
            <a:ext cx="1309115" cy="22860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6" name="TextBox 35"/>
          <p:cNvSpPr txBox="1"/>
          <p:nvPr/>
        </p:nvSpPr>
        <p:spPr>
          <a:xfrm>
            <a:off x="813816" y="3648456"/>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Entrenamiento de modelos</a:t>
            </a:r>
          </a:p>
        </p:txBody>
      </p:sp>
      <p:sp>
        <p:nvSpPr>
          <p:cNvPr id="37" name="Rectangle 36"/>
          <p:cNvSpPr/>
          <p:nvPr/>
        </p:nvSpPr>
        <p:spPr>
          <a:xfrm>
            <a:off x="7365491" y="3657599"/>
            <a:ext cx="1763775" cy="22860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8" name="Rectangle 37"/>
          <p:cNvSpPr/>
          <p:nvPr/>
        </p:nvSpPr>
        <p:spPr>
          <a:xfrm>
            <a:off x="722376" y="4041648"/>
            <a:ext cx="10753344" cy="4572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39" name="TextBox 38"/>
          <p:cNvSpPr txBox="1"/>
          <p:nvPr/>
        </p:nvSpPr>
        <p:spPr>
          <a:xfrm>
            <a:off x="813816" y="4151375"/>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Validación (backtesting)</a:t>
            </a:r>
          </a:p>
        </p:txBody>
      </p:sp>
      <p:sp>
        <p:nvSpPr>
          <p:cNvPr id="40" name="Rectangle 39"/>
          <p:cNvSpPr/>
          <p:nvPr/>
        </p:nvSpPr>
        <p:spPr>
          <a:xfrm>
            <a:off x="8274811" y="4160520"/>
            <a:ext cx="1309115" cy="22860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1" name="TextBox 40"/>
          <p:cNvSpPr txBox="1"/>
          <p:nvPr/>
        </p:nvSpPr>
        <p:spPr>
          <a:xfrm>
            <a:off x="813816" y="4654295"/>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Aplicación Streamlit</a:t>
            </a:r>
          </a:p>
        </p:txBody>
      </p:sp>
      <p:sp>
        <p:nvSpPr>
          <p:cNvPr id="42" name="Rectangle 41"/>
          <p:cNvSpPr/>
          <p:nvPr/>
        </p:nvSpPr>
        <p:spPr>
          <a:xfrm>
            <a:off x="7820151" y="4663440"/>
            <a:ext cx="2218435" cy="228600"/>
          </a:xfrm>
          <a:prstGeom prst="rect">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3" name="Rectangle 42"/>
          <p:cNvSpPr/>
          <p:nvPr/>
        </p:nvSpPr>
        <p:spPr>
          <a:xfrm>
            <a:off x="722376" y="5047488"/>
            <a:ext cx="10753344" cy="4572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4" name="TextBox 43"/>
          <p:cNvSpPr txBox="1"/>
          <p:nvPr/>
        </p:nvSpPr>
        <p:spPr>
          <a:xfrm>
            <a:off x="813816" y="5157215"/>
            <a:ext cx="246888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001A41"/>
                </a:solidFill>
                <a:latin typeface="Century Gothic"/>
              </a:rPr>
              <a:t>Documentación y presentación</a:t>
            </a:r>
          </a:p>
        </p:txBody>
      </p:sp>
      <p:sp>
        <p:nvSpPr>
          <p:cNvPr id="45" name="Rectangle 44"/>
          <p:cNvSpPr/>
          <p:nvPr/>
        </p:nvSpPr>
        <p:spPr>
          <a:xfrm>
            <a:off x="3273551" y="5166359"/>
            <a:ext cx="8129015" cy="228600"/>
          </a:xfrm>
          <a:prstGeom prst="rect">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6" name="Rectangle 45"/>
          <p:cNvSpPr/>
          <p:nvPr/>
        </p:nvSpPr>
        <p:spPr>
          <a:xfrm>
            <a:off x="3246120" y="5806439"/>
            <a:ext cx="8147304" cy="10972"/>
          </a:xfrm>
          <a:prstGeom prst="rect">
            <a:avLst/>
          </a:prstGeom>
          <a:solidFill>
            <a:srgbClr val="E8ED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7" name="TextBox 46"/>
          <p:cNvSpPr txBox="1"/>
          <p:nvPr/>
        </p:nvSpPr>
        <p:spPr>
          <a:xfrm>
            <a:off x="813816" y="5714999"/>
            <a:ext cx="2468880" cy="274320"/>
          </a:xfrm>
          <a:prstGeom prst="rect">
            <a:avLst/>
          </a:prstGeom>
          <a:noFill/>
        </p:spPr>
        <p:txBody>
          <a:bodyPr wrap="square" lIns="0" tIns="0" rIns="0" bIns="0" anchor="t">
            <a:spAutoFit/>
          </a:bodyPr>
          <a:lstStyle/>
          <a:p>
            <a:pPr algn="l">
              <a:spcBef>
                <a:spcPts val="0"/>
              </a:spcBef>
              <a:spcAft>
                <a:spcPts val="0"/>
              </a:spcAft>
            </a:pPr>
            <a:r>
              <a:rPr sz="1000" b="1" i="0">
                <a:solidFill>
                  <a:srgbClr val="001A41"/>
                </a:solidFill>
                <a:latin typeface="Century Gothic"/>
              </a:rPr>
              <a:t>Hitos de evaluación</a:t>
            </a:r>
          </a:p>
        </p:txBody>
      </p:sp>
      <p:sp>
        <p:nvSpPr>
          <p:cNvPr id="48" name="Oval 47"/>
          <p:cNvSpPr/>
          <p:nvPr/>
        </p:nvSpPr>
        <p:spPr>
          <a:xfrm>
            <a:off x="4764278" y="5742431"/>
            <a:ext cx="146304" cy="146304"/>
          </a:xfrm>
          <a:prstGeom prst="ellipse">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49" name="TextBox 48"/>
          <p:cNvSpPr txBox="1"/>
          <p:nvPr/>
        </p:nvSpPr>
        <p:spPr>
          <a:xfrm>
            <a:off x="4151630" y="5971031"/>
            <a:ext cx="1371600" cy="457200"/>
          </a:xfrm>
          <a:prstGeom prst="rect">
            <a:avLst/>
          </a:prstGeom>
          <a:noFill/>
        </p:spPr>
        <p:txBody>
          <a:bodyPr wrap="square" lIns="0" tIns="0" rIns="0" bIns="0" anchor="t">
            <a:spAutoFit/>
          </a:bodyPr>
          <a:lstStyle/>
          <a:p>
            <a:pPr algn="ctr">
              <a:lnSpc>
                <a:spcPct val="100000"/>
              </a:lnSpc>
              <a:spcBef>
                <a:spcPts val="0"/>
              </a:spcBef>
              <a:spcAft>
                <a:spcPts val="0"/>
              </a:spcAft>
            </a:pPr>
            <a:r>
              <a:rPr sz="800" b="1" i="0">
                <a:solidFill>
                  <a:srgbClr val="001A41"/>
                </a:solidFill>
                <a:latin typeface="Century Gothic"/>
              </a:rPr>
              <a:t>Presentación</a:t>
            </a:r>
          </a:p>
          <a:p>
            <a:pPr algn="ctr">
              <a:lnSpc>
                <a:spcPct val="100000"/>
              </a:lnSpc>
              <a:spcBef>
                <a:spcPts val="0"/>
              </a:spcBef>
              <a:spcAft>
                <a:spcPts val="0"/>
              </a:spcAft>
            </a:pPr>
            <a:r>
              <a:rPr sz="800" b="1" i="0">
                <a:solidFill>
                  <a:srgbClr val="001A41"/>
                </a:solidFill>
                <a:latin typeface="Century Gothic"/>
              </a:rPr>
              <a:t>Fase 1</a:t>
            </a:r>
          </a:p>
        </p:txBody>
      </p:sp>
      <p:sp>
        <p:nvSpPr>
          <p:cNvPr id="50" name="Oval 49"/>
          <p:cNvSpPr/>
          <p:nvPr/>
        </p:nvSpPr>
        <p:spPr>
          <a:xfrm>
            <a:off x="7492237" y="5742431"/>
            <a:ext cx="146304" cy="146304"/>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1" name="TextBox 50"/>
          <p:cNvSpPr txBox="1"/>
          <p:nvPr/>
        </p:nvSpPr>
        <p:spPr>
          <a:xfrm>
            <a:off x="6879589" y="5971031"/>
            <a:ext cx="1371600" cy="457200"/>
          </a:xfrm>
          <a:prstGeom prst="rect">
            <a:avLst/>
          </a:prstGeom>
          <a:noFill/>
        </p:spPr>
        <p:txBody>
          <a:bodyPr wrap="square" lIns="0" tIns="0" rIns="0" bIns="0" anchor="t">
            <a:spAutoFit/>
          </a:bodyPr>
          <a:lstStyle/>
          <a:p>
            <a:pPr algn="ctr">
              <a:lnSpc>
                <a:spcPct val="100000"/>
              </a:lnSpc>
              <a:spcBef>
                <a:spcPts val="0"/>
              </a:spcBef>
              <a:spcAft>
                <a:spcPts val="0"/>
              </a:spcAft>
            </a:pPr>
            <a:r>
              <a:rPr sz="800" b="1" i="0">
                <a:solidFill>
                  <a:srgbClr val="001A41"/>
                </a:solidFill>
                <a:latin typeface="Century Gothic"/>
              </a:rPr>
              <a:t>Informe de</a:t>
            </a:r>
          </a:p>
          <a:p>
            <a:pPr algn="ctr">
              <a:lnSpc>
                <a:spcPct val="100000"/>
              </a:lnSpc>
              <a:spcBef>
                <a:spcPts val="0"/>
              </a:spcBef>
              <a:spcAft>
                <a:spcPts val="0"/>
              </a:spcAft>
            </a:pPr>
            <a:r>
              <a:rPr sz="800" b="1" i="0">
                <a:solidFill>
                  <a:srgbClr val="001A41"/>
                </a:solidFill>
                <a:latin typeface="Century Gothic"/>
              </a:rPr>
              <a:t>avance</a:t>
            </a:r>
          </a:p>
        </p:txBody>
      </p:sp>
      <p:sp>
        <p:nvSpPr>
          <p:cNvPr id="52" name="Oval 51"/>
          <p:cNvSpPr/>
          <p:nvPr/>
        </p:nvSpPr>
        <p:spPr>
          <a:xfrm>
            <a:off x="9765537" y="5742431"/>
            <a:ext cx="146304" cy="146304"/>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3" name="TextBox 52"/>
          <p:cNvSpPr txBox="1"/>
          <p:nvPr/>
        </p:nvSpPr>
        <p:spPr>
          <a:xfrm>
            <a:off x="9152889" y="5971031"/>
            <a:ext cx="1371600" cy="457200"/>
          </a:xfrm>
          <a:prstGeom prst="rect">
            <a:avLst/>
          </a:prstGeom>
          <a:noFill/>
        </p:spPr>
        <p:txBody>
          <a:bodyPr wrap="square" lIns="0" tIns="0" rIns="0" bIns="0" anchor="t">
            <a:spAutoFit/>
          </a:bodyPr>
          <a:lstStyle/>
          <a:p>
            <a:pPr algn="ctr">
              <a:lnSpc>
                <a:spcPct val="100000"/>
              </a:lnSpc>
              <a:spcBef>
                <a:spcPts val="0"/>
              </a:spcBef>
              <a:spcAft>
                <a:spcPts val="0"/>
              </a:spcAft>
            </a:pPr>
            <a:r>
              <a:rPr sz="800" b="1" i="0">
                <a:solidFill>
                  <a:srgbClr val="001A41"/>
                </a:solidFill>
                <a:latin typeface="Century Gothic"/>
              </a:rPr>
              <a:t>Informe</a:t>
            </a:r>
          </a:p>
          <a:p>
            <a:pPr algn="ctr">
              <a:lnSpc>
                <a:spcPct val="100000"/>
              </a:lnSpc>
              <a:spcBef>
                <a:spcPts val="0"/>
              </a:spcBef>
              <a:spcAft>
                <a:spcPts val="0"/>
              </a:spcAft>
            </a:pPr>
            <a:r>
              <a:rPr sz="800" b="1" i="0">
                <a:solidFill>
                  <a:srgbClr val="001A41"/>
                </a:solidFill>
                <a:latin typeface="Century Gothic"/>
              </a:rPr>
              <a:t>final</a:t>
            </a:r>
          </a:p>
        </p:txBody>
      </p:sp>
      <p:sp>
        <p:nvSpPr>
          <p:cNvPr id="54" name="Oval 53"/>
          <p:cNvSpPr/>
          <p:nvPr/>
        </p:nvSpPr>
        <p:spPr>
          <a:xfrm>
            <a:off x="10674858" y="5742431"/>
            <a:ext cx="146304" cy="146304"/>
          </a:xfrm>
          <a:prstGeom prst="ellipse">
            <a:avLst/>
          </a:prstGeom>
          <a:solidFill>
            <a:srgbClr val="858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5" name="TextBox 54"/>
          <p:cNvSpPr txBox="1"/>
          <p:nvPr/>
        </p:nvSpPr>
        <p:spPr>
          <a:xfrm>
            <a:off x="10062210" y="5971031"/>
            <a:ext cx="1371600" cy="457200"/>
          </a:xfrm>
          <a:prstGeom prst="rect">
            <a:avLst/>
          </a:prstGeom>
          <a:noFill/>
        </p:spPr>
        <p:txBody>
          <a:bodyPr wrap="square" lIns="0" tIns="0" rIns="0" bIns="0" anchor="t">
            <a:spAutoFit/>
          </a:bodyPr>
          <a:lstStyle/>
          <a:p>
            <a:pPr algn="ctr">
              <a:lnSpc>
                <a:spcPct val="100000"/>
              </a:lnSpc>
              <a:spcBef>
                <a:spcPts val="0"/>
              </a:spcBef>
              <a:spcAft>
                <a:spcPts val="0"/>
              </a:spcAft>
            </a:pPr>
            <a:r>
              <a:rPr sz="800" b="1" i="0">
                <a:solidFill>
                  <a:srgbClr val="858A8C"/>
                </a:solidFill>
                <a:latin typeface="Century Gothic"/>
              </a:rPr>
              <a:t>Defensa</a:t>
            </a:r>
          </a:p>
          <a:p>
            <a:pPr algn="ctr">
              <a:lnSpc>
                <a:spcPct val="100000"/>
              </a:lnSpc>
              <a:spcBef>
                <a:spcPts val="0"/>
              </a:spcBef>
              <a:spcAft>
                <a:spcPts val="0"/>
              </a:spcAft>
            </a:pPr>
            <a:r>
              <a:rPr sz="800" b="1" i="0">
                <a:solidFill>
                  <a:srgbClr val="858A8C"/>
                </a:solidFill>
                <a:latin typeface="Century Gothic"/>
              </a:rPr>
              <a:t>final</a:t>
            </a:r>
          </a:p>
        </p:txBody>
      </p:sp>
      <p:sp>
        <p:nvSpPr>
          <p:cNvPr id="56" name="TextBox 55"/>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Evidencias comprometidas</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335024"/>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Snip Single Corner Rectangle 4"/>
          <p:cNvSpPr/>
          <p:nvPr/>
        </p:nvSpPr>
        <p:spPr>
          <a:xfrm>
            <a:off x="923544" y="1572768"/>
            <a:ext cx="804672" cy="274320"/>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Avance</a:t>
            </a:r>
          </a:p>
        </p:txBody>
      </p:sp>
      <p:sp>
        <p:nvSpPr>
          <p:cNvPr id="6" name="TextBox 5"/>
          <p:cNvSpPr txBox="1"/>
          <p:nvPr/>
        </p:nvSpPr>
        <p:spPr>
          <a:xfrm>
            <a:off x="1911095" y="1499616"/>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Repositorio GitHub del proyecto</a:t>
            </a:r>
          </a:p>
        </p:txBody>
      </p:sp>
      <p:sp>
        <p:nvSpPr>
          <p:cNvPr id="7" name="TextBox 6"/>
          <p:cNvSpPr txBox="1"/>
          <p:nvPr/>
        </p:nvSpPr>
        <p:spPr>
          <a:xfrm>
            <a:off x="5751576" y="1517904"/>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Código del pipeline, notebooks, código de la aplicación y documentación versionada.</a:t>
            </a:r>
          </a:p>
        </p:txBody>
      </p:sp>
      <p:sp>
        <p:nvSpPr>
          <p:cNvPr id="8" name="Snip Single Corner Rectangle 7"/>
          <p:cNvSpPr/>
          <p:nvPr/>
        </p:nvSpPr>
        <p:spPr>
          <a:xfrm>
            <a:off x="722376" y="2176272"/>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Snip Single Corner Rectangle 8"/>
          <p:cNvSpPr/>
          <p:nvPr/>
        </p:nvSpPr>
        <p:spPr>
          <a:xfrm>
            <a:off x="923544" y="2414015"/>
            <a:ext cx="804672" cy="274320"/>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Avance</a:t>
            </a:r>
          </a:p>
        </p:txBody>
      </p:sp>
      <p:sp>
        <p:nvSpPr>
          <p:cNvPr id="10" name="TextBox 9"/>
          <p:cNvSpPr txBox="1"/>
          <p:nvPr/>
        </p:nvSpPr>
        <p:spPr>
          <a:xfrm>
            <a:off x="1911095" y="2340864"/>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Pipeline de carga documentado</a:t>
            </a:r>
          </a:p>
        </p:txBody>
      </p:sp>
      <p:sp>
        <p:nvSpPr>
          <p:cNvPr id="11" name="TextBox 10"/>
          <p:cNvSpPr txBox="1"/>
          <p:nvPr/>
        </p:nvSpPr>
        <p:spPr>
          <a:xfrm>
            <a:off x="5751576" y="2359152"/>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Extracción, reglas de validación, modelo de datos y diccionario de datos.</a:t>
            </a:r>
          </a:p>
        </p:txBody>
      </p:sp>
      <p:sp>
        <p:nvSpPr>
          <p:cNvPr id="12" name="Snip Single Corner Rectangle 11"/>
          <p:cNvSpPr/>
          <p:nvPr/>
        </p:nvSpPr>
        <p:spPr>
          <a:xfrm>
            <a:off x="722376" y="3017520"/>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3" name="Snip Single Corner Rectangle 12"/>
          <p:cNvSpPr/>
          <p:nvPr/>
        </p:nvSpPr>
        <p:spPr>
          <a:xfrm>
            <a:off x="923544" y="3255263"/>
            <a:ext cx="804672" cy="274320"/>
          </a:xfrm>
          <a:prstGeom prst="snip1Rect">
            <a:avLst>
              <a:gd name="adj" fmla="val 22000"/>
            </a:avLst>
          </a:prstGeom>
          <a:solidFill>
            <a:srgbClr val="19BDE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001A41"/>
                </a:solidFill>
                <a:latin typeface="Century Gothic"/>
              </a:rPr>
              <a:t>Avance</a:t>
            </a:r>
          </a:p>
        </p:txBody>
      </p:sp>
      <p:sp>
        <p:nvSpPr>
          <p:cNvPr id="14" name="TextBox 13"/>
          <p:cNvSpPr txBox="1"/>
          <p:nvPr/>
        </p:nvSpPr>
        <p:spPr>
          <a:xfrm>
            <a:off x="1911095" y="3182112"/>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Documento de definición de variables</a:t>
            </a:r>
          </a:p>
        </p:txBody>
      </p:sp>
      <p:sp>
        <p:nvSpPr>
          <p:cNvPr id="15" name="TextBox 14"/>
          <p:cNvSpPr txBox="1"/>
          <p:nvPr/>
        </p:nvSpPr>
        <p:spPr>
          <a:xfrm>
            <a:off x="5751576" y="3200400"/>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Variable objetivo, variables predictoras y su forma de cálculo.</a:t>
            </a:r>
          </a:p>
        </p:txBody>
      </p:sp>
      <p:sp>
        <p:nvSpPr>
          <p:cNvPr id="16" name="Snip Single Corner Rectangle 15"/>
          <p:cNvSpPr/>
          <p:nvPr/>
        </p:nvSpPr>
        <p:spPr>
          <a:xfrm>
            <a:off x="722376" y="3858768"/>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7" name="Snip Single Corner Rectangle 16"/>
          <p:cNvSpPr/>
          <p:nvPr/>
        </p:nvSpPr>
        <p:spPr>
          <a:xfrm>
            <a:off x="923544" y="4096511"/>
            <a:ext cx="804672" cy="274320"/>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Final</a:t>
            </a:r>
          </a:p>
        </p:txBody>
      </p:sp>
      <p:sp>
        <p:nvSpPr>
          <p:cNvPr id="18" name="TextBox 17"/>
          <p:cNvSpPr txBox="1"/>
          <p:nvPr/>
        </p:nvSpPr>
        <p:spPr>
          <a:xfrm>
            <a:off x="1911095" y="4023359"/>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Aplicación Streamlit funcionando</a:t>
            </a:r>
          </a:p>
        </p:txBody>
      </p:sp>
      <p:sp>
        <p:nvSpPr>
          <p:cNvPr id="19" name="TextBox 18"/>
          <p:cNvSpPr txBox="1"/>
          <p:nvPr/>
        </p:nvSpPr>
        <p:spPr>
          <a:xfrm>
            <a:off x="5751576" y="4041648"/>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Desplegada, con los modelos cargados y operable por el usuario de negocio.</a:t>
            </a:r>
          </a:p>
        </p:txBody>
      </p:sp>
      <p:sp>
        <p:nvSpPr>
          <p:cNvPr id="20" name="Snip Single Corner Rectangle 19"/>
          <p:cNvSpPr/>
          <p:nvPr/>
        </p:nvSpPr>
        <p:spPr>
          <a:xfrm>
            <a:off x="722376" y="4700016"/>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1" name="Snip Single Corner Rectangle 20"/>
          <p:cNvSpPr/>
          <p:nvPr/>
        </p:nvSpPr>
        <p:spPr>
          <a:xfrm>
            <a:off x="923544" y="4937759"/>
            <a:ext cx="804672" cy="274320"/>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Final</a:t>
            </a:r>
          </a:p>
        </p:txBody>
      </p:sp>
      <p:sp>
        <p:nvSpPr>
          <p:cNvPr id="22" name="TextBox 21"/>
          <p:cNvSpPr txBox="1"/>
          <p:nvPr/>
        </p:nvSpPr>
        <p:spPr>
          <a:xfrm>
            <a:off x="1911095" y="4864607"/>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Informe de validación de modelos</a:t>
            </a:r>
          </a:p>
        </p:txBody>
      </p:sp>
      <p:sp>
        <p:nvSpPr>
          <p:cNvPr id="23" name="TextBox 22"/>
          <p:cNvSpPr txBox="1"/>
          <p:nvPr/>
        </p:nvSpPr>
        <p:spPr>
          <a:xfrm>
            <a:off x="5751576" y="4882896"/>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Backtesting, WMAPE por segmento y criterios de aceptación aplicados.</a:t>
            </a:r>
          </a:p>
        </p:txBody>
      </p:sp>
      <p:sp>
        <p:nvSpPr>
          <p:cNvPr id="24" name="Snip Single Corner Rectangle 23"/>
          <p:cNvSpPr/>
          <p:nvPr/>
        </p:nvSpPr>
        <p:spPr>
          <a:xfrm>
            <a:off x="722376" y="5541264"/>
            <a:ext cx="10753344" cy="749808"/>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5" name="Snip Single Corner Rectangle 24"/>
          <p:cNvSpPr/>
          <p:nvPr/>
        </p:nvSpPr>
        <p:spPr>
          <a:xfrm>
            <a:off x="923544" y="5779007"/>
            <a:ext cx="804672" cy="274320"/>
          </a:xfrm>
          <a:prstGeom prst="snip1Rect">
            <a:avLst>
              <a:gd name="adj" fmla="val 22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sz="850" b="1" i="0">
                <a:solidFill>
                  <a:srgbClr val="FFFFFF"/>
                </a:solidFill>
                <a:latin typeface="Century Gothic"/>
              </a:rPr>
              <a:t>Final</a:t>
            </a:r>
          </a:p>
        </p:txBody>
      </p:sp>
      <p:sp>
        <p:nvSpPr>
          <p:cNvPr id="26" name="TextBox 25"/>
          <p:cNvSpPr txBox="1"/>
          <p:nvPr/>
        </p:nvSpPr>
        <p:spPr>
          <a:xfrm>
            <a:off x="1911095" y="5705855"/>
            <a:ext cx="3657600" cy="548640"/>
          </a:xfrm>
          <a:prstGeom prst="rect">
            <a:avLst/>
          </a:prstGeom>
          <a:noFill/>
        </p:spPr>
        <p:txBody>
          <a:bodyPr wrap="square" lIns="0" tIns="0" rIns="0" bIns="0" anchor="t">
            <a:spAutoFit/>
          </a:bodyPr>
          <a:lstStyle/>
          <a:p>
            <a:pPr algn="l">
              <a:lnSpc>
                <a:spcPct val="105000"/>
              </a:lnSpc>
              <a:spcBef>
                <a:spcPts val="0"/>
              </a:spcBef>
              <a:spcAft>
                <a:spcPts val="0"/>
              </a:spcAft>
            </a:pPr>
            <a:r>
              <a:rPr sz="1150" b="1" i="0">
                <a:solidFill>
                  <a:srgbClr val="001A41"/>
                </a:solidFill>
                <a:latin typeface="Century Gothic"/>
              </a:rPr>
              <a:t>Informe final y demostración</a:t>
            </a:r>
          </a:p>
        </p:txBody>
      </p:sp>
      <p:sp>
        <p:nvSpPr>
          <p:cNvPr id="27" name="TextBox 26"/>
          <p:cNvSpPr txBox="1"/>
          <p:nvPr/>
        </p:nvSpPr>
        <p:spPr>
          <a:xfrm>
            <a:off x="5751576" y="5724144"/>
            <a:ext cx="548640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Documento técnico y demostración en vivo con datos enmascarados.</a:t>
            </a:r>
          </a:p>
        </p:txBody>
      </p:sp>
      <p:sp>
        <p:nvSpPr>
          <p:cNvPr id="28" name="TextBox 27"/>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Factibilidad y riesgos</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61872"/>
            <a:ext cx="3511296" cy="18288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996696" y="1481328"/>
            <a:ext cx="2962656" cy="292608"/>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Tiempo</a:t>
            </a:r>
          </a:p>
        </p:txBody>
      </p:sp>
      <p:sp>
        <p:nvSpPr>
          <p:cNvPr id="6" name="TextBox 5"/>
          <p:cNvSpPr txBox="1"/>
          <p:nvPr/>
        </p:nvSpPr>
        <p:spPr>
          <a:xfrm>
            <a:off x="996696" y="1883664"/>
            <a:ext cx="2962656" cy="1097280"/>
          </a:xfrm>
          <a:prstGeom prst="rect">
            <a:avLst/>
          </a:prstGeom>
          <a:noFill/>
        </p:spPr>
        <p:txBody>
          <a:bodyPr wrap="square" lIns="0" tIns="0" rIns="0" bIns="0" anchor="t">
            <a:spAutoFit/>
          </a:bodyPr>
          <a:lstStyle/>
          <a:p>
            <a:pPr algn="l">
              <a:lnSpc>
                <a:spcPct val="120000"/>
              </a:lnSpc>
              <a:spcBef>
                <a:spcPts val="0"/>
              </a:spcBef>
              <a:spcAft>
                <a:spcPts val="0"/>
              </a:spcAft>
            </a:pPr>
            <a:r>
              <a:rPr sz="950" b="0" i="0">
                <a:solidFill>
                  <a:srgbClr val="39464F"/>
                </a:solidFill>
                <a:latin typeface="Century Gothic"/>
              </a:rPr>
              <a:t>18 semanas y 90 horas. El alcance se acotó a repuestos de la operación chilena con horizonte mensual, no al catálogo completo del grupo.</a:t>
            </a:r>
          </a:p>
        </p:txBody>
      </p:sp>
      <p:sp>
        <p:nvSpPr>
          <p:cNvPr id="7" name="Snip Single Corner Rectangle 6"/>
          <p:cNvSpPr/>
          <p:nvPr/>
        </p:nvSpPr>
        <p:spPr>
          <a:xfrm>
            <a:off x="4398264" y="1261872"/>
            <a:ext cx="3511296" cy="18288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8" name="TextBox 7"/>
          <p:cNvSpPr txBox="1"/>
          <p:nvPr/>
        </p:nvSpPr>
        <p:spPr>
          <a:xfrm>
            <a:off x="4672583" y="1481328"/>
            <a:ext cx="2962656" cy="292608"/>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Materiales</a:t>
            </a:r>
          </a:p>
        </p:txBody>
      </p:sp>
      <p:sp>
        <p:nvSpPr>
          <p:cNvPr id="9" name="TextBox 8"/>
          <p:cNvSpPr txBox="1"/>
          <p:nvPr/>
        </p:nvSpPr>
        <p:spPr>
          <a:xfrm>
            <a:off x="4672583" y="1883664"/>
            <a:ext cx="2962656" cy="1097280"/>
          </a:xfrm>
          <a:prstGeom prst="rect">
            <a:avLst/>
          </a:prstGeom>
          <a:noFill/>
        </p:spPr>
        <p:txBody>
          <a:bodyPr wrap="square" lIns="0" tIns="0" rIns="0" bIns="0" anchor="t">
            <a:spAutoFit/>
          </a:bodyPr>
          <a:lstStyle/>
          <a:p>
            <a:pPr algn="l">
              <a:lnSpc>
                <a:spcPct val="120000"/>
              </a:lnSpc>
              <a:spcBef>
                <a:spcPts val="0"/>
              </a:spcBef>
              <a:spcAft>
                <a:spcPts val="0"/>
              </a:spcAft>
            </a:pPr>
            <a:r>
              <a:rPr sz="950" b="0" i="0">
                <a:solidFill>
                  <a:srgbClr val="39464F"/>
                </a:solidFill>
                <a:latin typeface="Century Gothic"/>
              </a:rPr>
              <a:t>No requiere inversión: Python, Streamlit y librerías de código abierto, licencias ya existentes y equipos propios.</a:t>
            </a:r>
          </a:p>
        </p:txBody>
      </p:sp>
      <p:sp>
        <p:nvSpPr>
          <p:cNvPr id="10" name="Snip Single Corner Rectangle 9"/>
          <p:cNvSpPr/>
          <p:nvPr/>
        </p:nvSpPr>
        <p:spPr>
          <a:xfrm>
            <a:off x="8065008" y="1261872"/>
            <a:ext cx="3511296" cy="1828800"/>
          </a:xfrm>
          <a:prstGeom prst="snip1Rect">
            <a:avLst>
              <a:gd name="adj" fmla="val 9000"/>
            </a:avLst>
          </a:prstGeom>
          <a:solidFill>
            <a:srgbClr val="FFFFFF"/>
          </a:solidFill>
          <a:ln w="15875">
            <a:solidFill>
              <a:srgbClr val="19BDE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TextBox 10"/>
          <p:cNvSpPr txBox="1"/>
          <p:nvPr/>
        </p:nvSpPr>
        <p:spPr>
          <a:xfrm>
            <a:off x="8339328" y="1481328"/>
            <a:ext cx="2962656" cy="292608"/>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Acceso</a:t>
            </a:r>
          </a:p>
        </p:txBody>
      </p:sp>
      <p:sp>
        <p:nvSpPr>
          <p:cNvPr id="12" name="TextBox 11"/>
          <p:cNvSpPr txBox="1"/>
          <p:nvPr/>
        </p:nvSpPr>
        <p:spPr>
          <a:xfrm>
            <a:off x="8339328" y="1883664"/>
            <a:ext cx="2962656" cy="1097280"/>
          </a:xfrm>
          <a:prstGeom prst="rect">
            <a:avLst/>
          </a:prstGeom>
          <a:noFill/>
        </p:spPr>
        <p:txBody>
          <a:bodyPr wrap="square" lIns="0" tIns="0" rIns="0" bIns="0" anchor="t">
            <a:spAutoFit/>
          </a:bodyPr>
          <a:lstStyle/>
          <a:p>
            <a:pPr algn="l">
              <a:lnSpc>
                <a:spcPct val="120000"/>
              </a:lnSpc>
              <a:spcBef>
                <a:spcPts val="0"/>
              </a:spcBef>
              <a:spcAft>
                <a:spcPts val="0"/>
              </a:spcAft>
            </a:pPr>
            <a:r>
              <a:rPr sz="950" b="0" i="0">
                <a:solidFill>
                  <a:srgbClr val="39464F"/>
                </a:solidFill>
                <a:latin typeface="Century Gothic"/>
              </a:rPr>
              <a:t>Un integrante trabaja en el área, lo que asegura acceso a la información, a la contraparte y a la validación con el negocio.</a:t>
            </a:r>
          </a:p>
        </p:txBody>
      </p:sp>
      <p:sp>
        <p:nvSpPr>
          <p:cNvPr id="13" name="TextBox 12"/>
          <p:cNvSpPr txBox="1"/>
          <p:nvPr/>
        </p:nvSpPr>
        <p:spPr>
          <a:xfrm>
            <a:off x="722376" y="3346704"/>
            <a:ext cx="10753344" cy="274320"/>
          </a:xfrm>
          <a:prstGeom prst="rect">
            <a:avLst/>
          </a:prstGeom>
          <a:noFill/>
        </p:spPr>
        <p:txBody>
          <a:bodyPr wrap="square" lIns="0" tIns="0" rIns="0" bIns="0" anchor="t">
            <a:spAutoFit/>
          </a:bodyPr>
          <a:lstStyle/>
          <a:p>
            <a:pPr algn="l">
              <a:spcBef>
                <a:spcPts val="0"/>
              </a:spcBef>
              <a:spcAft>
                <a:spcPts val="0"/>
              </a:spcAft>
            </a:pPr>
            <a:r>
              <a:rPr sz="1300" b="1" i="0">
                <a:solidFill>
                  <a:srgbClr val="001A41"/>
                </a:solidFill>
                <a:latin typeface="Century Gothic"/>
              </a:rPr>
              <a:t>Riesgos identificados y cómo los abordamos</a:t>
            </a:r>
          </a:p>
        </p:txBody>
      </p:sp>
      <p:sp>
        <p:nvSpPr>
          <p:cNvPr id="14" name="Snip Single Corner Rectangle 13"/>
          <p:cNvSpPr/>
          <p:nvPr/>
        </p:nvSpPr>
        <p:spPr>
          <a:xfrm>
            <a:off x="722376" y="3730752"/>
            <a:ext cx="522122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5" name="Oval 14"/>
          <p:cNvSpPr/>
          <p:nvPr/>
        </p:nvSpPr>
        <p:spPr>
          <a:xfrm>
            <a:off x="978408" y="4005072"/>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6" name="TextBox 15"/>
          <p:cNvSpPr txBox="1"/>
          <p:nvPr/>
        </p:nvSpPr>
        <p:spPr>
          <a:xfrm>
            <a:off x="1216152" y="3931920"/>
            <a:ext cx="4572000"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Demora en la firma del NDA</a:t>
            </a:r>
          </a:p>
        </p:txBody>
      </p:sp>
      <p:sp>
        <p:nvSpPr>
          <p:cNvPr id="17" name="TextBox 16"/>
          <p:cNvSpPr txBox="1"/>
          <p:nvPr/>
        </p:nvSpPr>
        <p:spPr>
          <a:xfrm>
            <a:off x="978408" y="4297680"/>
            <a:ext cx="475488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Se gestiona en la semana 1. Mientras tanto se avanza con datos sintéticos que replican la estructura de las descargas.</a:t>
            </a:r>
          </a:p>
        </p:txBody>
      </p:sp>
      <p:sp>
        <p:nvSpPr>
          <p:cNvPr id="18" name="Snip Single Corner Rectangle 17"/>
          <p:cNvSpPr/>
          <p:nvPr/>
        </p:nvSpPr>
        <p:spPr>
          <a:xfrm>
            <a:off x="722376" y="4992624"/>
            <a:ext cx="522122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9" name="Oval 18"/>
          <p:cNvSpPr/>
          <p:nvPr/>
        </p:nvSpPr>
        <p:spPr>
          <a:xfrm>
            <a:off x="978408" y="5266944"/>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0" name="TextBox 19"/>
          <p:cNvSpPr txBox="1"/>
          <p:nvPr/>
        </p:nvSpPr>
        <p:spPr>
          <a:xfrm>
            <a:off x="1216152" y="5193792"/>
            <a:ext cx="4572000"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Calidad de las descargas de SAP</a:t>
            </a:r>
          </a:p>
        </p:txBody>
      </p:sp>
      <p:sp>
        <p:nvSpPr>
          <p:cNvPr id="21" name="TextBox 20"/>
          <p:cNvSpPr txBox="1"/>
          <p:nvPr/>
        </p:nvSpPr>
        <p:spPr>
          <a:xfrm>
            <a:off x="978408" y="5559552"/>
            <a:ext cx="475488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Perfilado temprano y reglas de validación automatizadas dentro del pipeline, antes de entrenar.</a:t>
            </a:r>
          </a:p>
        </p:txBody>
      </p:sp>
      <p:sp>
        <p:nvSpPr>
          <p:cNvPr id="22" name="Snip Single Corner Rectangle 21"/>
          <p:cNvSpPr/>
          <p:nvPr/>
        </p:nvSpPr>
        <p:spPr>
          <a:xfrm>
            <a:off x="6254496" y="3730752"/>
            <a:ext cx="522122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3" name="Oval 22"/>
          <p:cNvSpPr/>
          <p:nvPr/>
        </p:nvSpPr>
        <p:spPr>
          <a:xfrm>
            <a:off x="6510528" y="4005072"/>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4" name="TextBox 23"/>
          <p:cNvSpPr txBox="1"/>
          <p:nvPr/>
        </p:nvSpPr>
        <p:spPr>
          <a:xfrm>
            <a:off x="6748272" y="3931920"/>
            <a:ext cx="4572000"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Códigos nuevos sin historial</a:t>
            </a:r>
          </a:p>
        </p:txBody>
      </p:sp>
      <p:sp>
        <p:nvSpPr>
          <p:cNvPr id="25" name="TextBox 24"/>
          <p:cNvSpPr txBox="1"/>
          <p:nvPr/>
        </p:nvSpPr>
        <p:spPr>
          <a:xfrm>
            <a:off x="6510528" y="4297680"/>
            <a:ext cx="475488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Se incorporan Apertura Parque y la cadena de reemplazo en lugar de depender de la venta propia del material.</a:t>
            </a:r>
          </a:p>
        </p:txBody>
      </p:sp>
      <p:sp>
        <p:nvSpPr>
          <p:cNvPr id="26" name="Snip Single Corner Rectangle 25"/>
          <p:cNvSpPr/>
          <p:nvPr/>
        </p:nvSpPr>
        <p:spPr>
          <a:xfrm>
            <a:off x="6254496" y="4992624"/>
            <a:ext cx="5221224" cy="1133856"/>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7" name="Oval 26"/>
          <p:cNvSpPr/>
          <p:nvPr/>
        </p:nvSpPr>
        <p:spPr>
          <a:xfrm>
            <a:off x="6510528" y="5266944"/>
            <a:ext cx="109728" cy="109728"/>
          </a:xfrm>
          <a:prstGeom prst="ellipse">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28" name="TextBox 27"/>
          <p:cNvSpPr txBox="1"/>
          <p:nvPr/>
        </p:nvSpPr>
        <p:spPr>
          <a:xfrm>
            <a:off x="6748272" y="5193792"/>
            <a:ext cx="4572000" cy="292608"/>
          </a:xfrm>
          <a:prstGeom prst="rect">
            <a:avLst/>
          </a:prstGeom>
          <a:noFill/>
        </p:spPr>
        <p:txBody>
          <a:bodyPr wrap="square" lIns="0" tIns="0" rIns="0" bIns="0" anchor="t">
            <a:spAutoFit/>
          </a:bodyPr>
          <a:lstStyle/>
          <a:p>
            <a:pPr algn="l">
              <a:spcBef>
                <a:spcPts val="0"/>
              </a:spcBef>
              <a:spcAft>
                <a:spcPts val="0"/>
              </a:spcAft>
            </a:pPr>
            <a:r>
              <a:rPr sz="1100" b="1" i="0">
                <a:solidFill>
                  <a:srgbClr val="001A41"/>
                </a:solidFill>
                <a:latin typeface="Century Gothic"/>
              </a:rPr>
              <a:t>Disponibilidad de la contraparte</a:t>
            </a:r>
          </a:p>
        </p:txBody>
      </p:sp>
      <p:sp>
        <p:nvSpPr>
          <p:cNvPr id="29" name="TextBox 28"/>
          <p:cNvSpPr txBox="1"/>
          <p:nvPr/>
        </p:nvSpPr>
        <p:spPr>
          <a:xfrm>
            <a:off x="6510528" y="5559552"/>
            <a:ext cx="4754880" cy="512064"/>
          </a:xfrm>
          <a:prstGeom prst="rect">
            <a:avLst/>
          </a:prstGeom>
          <a:noFill/>
        </p:spPr>
        <p:txBody>
          <a:bodyPr wrap="square" lIns="0" tIns="0" rIns="0" bIns="0" anchor="t">
            <a:spAutoFit/>
          </a:bodyPr>
          <a:lstStyle/>
          <a:p>
            <a:pPr algn="l">
              <a:lnSpc>
                <a:spcPct val="115000"/>
              </a:lnSpc>
              <a:spcBef>
                <a:spcPts val="0"/>
              </a:spcBef>
              <a:spcAft>
                <a:spcPts val="0"/>
              </a:spcAft>
            </a:pPr>
            <a:r>
              <a:rPr sz="950" b="0" i="0">
                <a:solidFill>
                  <a:srgbClr val="39464F"/>
                </a:solidFill>
                <a:latin typeface="Century Gothic"/>
              </a:rPr>
              <a:t>Reuniones por sprint con acta y criterios de decisión definidos por anticipado.</a:t>
            </a:r>
          </a:p>
        </p:txBody>
      </p:sp>
      <p:sp>
        <p:nvSpPr>
          <p:cNvPr id="30" name="TextBox 29"/>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spcBef>
                <a:spcPts val="0"/>
              </a:spcBef>
              <a:spcAft>
                <a:spcPts val="0"/>
              </a:spcAft>
            </a:pPr>
            <a:r>
              <a:rPr sz="2200" b="1" i="0">
                <a:solidFill>
                  <a:srgbClr val="001A41"/>
                </a:solidFill>
                <a:latin typeface="Century Gothic"/>
              </a:rPr>
              <a:t>Abstract · Resumen</a:t>
            </a:r>
          </a:p>
        </p:txBody>
      </p:sp>
      <p:sp>
        <p:nvSpPr>
          <p:cNvPr id="3" name="TextBox 2"/>
          <p:cNvSpPr txBox="1"/>
          <p:nvPr/>
        </p:nvSpPr>
        <p:spPr>
          <a:xfrm>
            <a:off x="722376" y="246888"/>
            <a:ext cx="1828800" cy="164592"/>
          </a:xfrm>
          <a:prstGeom prst="rect">
            <a:avLst/>
          </a:prstGeom>
          <a:noFill/>
        </p:spPr>
        <p:txBody>
          <a:bodyPr wrap="square" lIns="0" tIns="0" rIns="0" bIns="0" anchor="t">
            <a:spAutoFit/>
          </a:bodyPr>
          <a:lstStyle/>
          <a:p>
            <a:pPr algn="l">
              <a:spcBef>
                <a:spcPts val="0"/>
              </a:spcBef>
              <a:spcAft>
                <a:spcPts val="0"/>
              </a:spcAft>
            </a:pPr>
            <a:r>
              <a:rPr sz="800" b="0" i="0">
                <a:solidFill>
                  <a:srgbClr val="39464F"/>
                </a:solidFill>
                <a:latin typeface="Century Gothic"/>
              </a:rPr>
              <a:t>Inchcape</a:t>
            </a:r>
          </a:p>
        </p:txBody>
      </p:sp>
      <p:sp>
        <p:nvSpPr>
          <p:cNvPr id="4" name="Snip Single Corner Rectangle 3"/>
          <p:cNvSpPr/>
          <p:nvPr/>
        </p:nvSpPr>
        <p:spPr>
          <a:xfrm>
            <a:off x="722376" y="1207008"/>
            <a:ext cx="5294376" cy="342900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TextBox 4"/>
          <p:cNvSpPr txBox="1"/>
          <p:nvPr/>
        </p:nvSpPr>
        <p:spPr>
          <a:xfrm>
            <a:off x="1051560" y="1444752"/>
            <a:ext cx="4599432" cy="3063240"/>
          </a:xfrm>
          <a:prstGeom prst="rect">
            <a:avLst/>
          </a:prstGeom>
          <a:noFill/>
        </p:spPr>
        <p:txBody>
          <a:bodyPr wrap="square" lIns="0" tIns="0" rIns="0" bIns="0" anchor="t">
            <a:spAutoFit/>
          </a:bodyPr>
          <a:lstStyle/>
          <a:p>
            <a:pPr algn="l">
              <a:spcBef>
                <a:spcPts val="0"/>
              </a:spcBef>
              <a:spcAft>
                <a:spcPts val="800"/>
              </a:spcAft>
            </a:pPr>
            <a:r>
              <a:rPr sz="900" b="1" i="0">
                <a:solidFill>
                  <a:srgbClr val="19BDE6"/>
                </a:solidFill>
                <a:latin typeface="Century Gothic"/>
              </a:rPr>
              <a:t>ESPAÑOL</a:t>
            </a:r>
          </a:p>
          <a:p>
            <a:pPr algn="l">
              <a:lnSpc>
                <a:spcPct val="125000"/>
              </a:lnSpc>
              <a:spcBef>
                <a:spcPts val="0"/>
              </a:spcBef>
              <a:spcAft>
                <a:spcPts val="800"/>
              </a:spcAft>
            </a:pPr>
            <a:r>
              <a:rPr sz="950" b="0" i="0">
                <a:solidFill>
                  <a:srgbClr val="152C47"/>
                </a:solidFill>
                <a:latin typeface="Century Gothic"/>
              </a:rPr>
              <a:t>El presente Proyecto APT aborda una situación real de la operación de postventa de Inchcape Chile, cuyo fill rate cerró el primer semestre de 2026 en 88% frente a una meta comprometida de 90%. El análisis del negocio muestra que la restricción está en la precisión de la proyección de demanda: de 225.264 códigos con forecast vigente, solo un 2,8% recibe revisión de un planificador.</a:t>
            </a:r>
          </a:p>
          <a:p>
            <a:pPr algn="l">
              <a:lnSpc>
                <a:spcPct val="125000"/>
              </a:lnSpc>
              <a:spcBef>
                <a:spcPts val="0"/>
              </a:spcBef>
              <a:spcAft>
                <a:spcPts val="0"/>
              </a:spcAft>
            </a:pPr>
            <a:r>
              <a:rPr sz="950" b="0" i="0">
                <a:solidFill>
                  <a:srgbClr val="152C47"/>
                </a:solidFill>
                <a:latin typeface="Century Gothic"/>
              </a:rPr>
              <a:t>El proyecto propone construir un pipeline de carga desde SAP, entrenar modelos de machine learning bajo CRISP-DM y desplegarlos en una aplicación Streamlit, para que los usuarios de negocio consulten y operen la proyección de forma autónoma.</a:t>
            </a:r>
          </a:p>
        </p:txBody>
      </p:sp>
      <p:sp>
        <p:nvSpPr>
          <p:cNvPr id="6" name="Snip Single Corner Rectangle 5"/>
          <p:cNvSpPr/>
          <p:nvPr/>
        </p:nvSpPr>
        <p:spPr>
          <a:xfrm>
            <a:off x="6181344" y="1207008"/>
            <a:ext cx="5294376" cy="3429000"/>
          </a:xfrm>
          <a:prstGeom prst="snip1Rect">
            <a:avLst>
              <a:gd name="adj" fmla="val 9000"/>
            </a:avLst>
          </a:prstGeom>
          <a:solidFill>
            <a:srgbClr val="001A4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7" name="TextBox 6"/>
          <p:cNvSpPr txBox="1"/>
          <p:nvPr/>
        </p:nvSpPr>
        <p:spPr>
          <a:xfrm>
            <a:off x="6510528" y="1444752"/>
            <a:ext cx="4599432" cy="3063240"/>
          </a:xfrm>
          <a:prstGeom prst="rect">
            <a:avLst/>
          </a:prstGeom>
          <a:noFill/>
        </p:spPr>
        <p:txBody>
          <a:bodyPr wrap="square" lIns="0" tIns="0" rIns="0" bIns="0" anchor="t">
            <a:spAutoFit/>
          </a:bodyPr>
          <a:lstStyle/>
          <a:p>
            <a:pPr algn="l">
              <a:spcBef>
                <a:spcPts val="0"/>
              </a:spcBef>
              <a:spcAft>
                <a:spcPts val="800"/>
              </a:spcAft>
            </a:pPr>
            <a:r>
              <a:rPr sz="900" b="1" i="0">
                <a:solidFill>
                  <a:srgbClr val="19BDE6"/>
                </a:solidFill>
                <a:latin typeface="Century Gothic"/>
              </a:rPr>
              <a:t>ENGLISH</a:t>
            </a:r>
          </a:p>
          <a:p>
            <a:pPr algn="l">
              <a:lnSpc>
                <a:spcPct val="125000"/>
              </a:lnSpc>
              <a:spcBef>
                <a:spcPts val="0"/>
              </a:spcBef>
              <a:spcAft>
                <a:spcPts val="800"/>
              </a:spcAft>
            </a:pPr>
            <a:r>
              <a:rPr sz="950" b="0" i="0">
                <a:solidFill>
                  <a:srgbClr val="FFFFFF"/>
                </a:solidFill>
                <a:latin typeface="Century Gothic"/>
              </a:rPr>
              <a:t>This APT Project addresses a real situation in the aftersales operation of Inchcape Chile, whose fill rate closed the first half of 2026 at 88% against a committed target of 90%. The business analysis shows that the constraint lies in demand forecasting accuracy: out of 225,264 part numbers with an active forecast, only 2.8% are reviewed by a planner.</a:t>
            </a:r>
          </a:p>
          <a:p>
            <a:pPr algn="l">
              <a:lnSpc>
                <a:spcPct val="125000"/>
              </a:lnSpc>
              <a:spcBef>
                <a:spcPts val="0"/>
              </a:spcBef>
              <a:spcAft>
                <a:spcPts val="0"/>
              </a:spcAft>
            </a:pPr>
            <a:r>
              <a:rPr sz="950" b="0" i="0">
                <a:solidFill>
                  <a:srgbClr val="9FB3C8"/>
                </a:solidFill>
                <a:latin typeface="Century Gothic"/>
              </a:rPr>
              <a:t>The project proposes to build a data loading pipeline from SAP, train machine learning models following the CRISP-DM methodology and deploy them in a Streamlit application, so that business users can query and operate the forecast autonomously.</a:t>
            </a:r>
          </a:p>
        </p:txBody>
      </p:sp>
      <p:sp>
        <p:nvSpPr>
          <p:cNvPr id="8" name="Snip Single Corner Rectangle 7"/>
          <p:cNvSpPr/>
          <p:nvPr/>
        </p:nvSpPr>
        <p:spPr>
          <a:xfrm>
            <a:off x="722376" y="4956048"/>
            <a:ext cx="5294376" cy="82296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9" name="TextBox 8"/>
          <p:cNvSpPr txBox="1"/>
          <p:nvPr/>
        </p:nvSpPr>
        <p:spPr>
          <a:xfrm>
            <a:off x="1051560" y="5120640"/>
            <a:ext cx="4599432" cy="566928"/>
          </a:xfrm>
          <a:prstGeom prst="rect">
            <a:avLst/>
          </a:prstGeom>
          <a:noFill/>
        </p:spPr>
        <p:txBody>
          <a:bodyPr wrap="square" lIns="0" tIns="0" rIns="0" bIns="0" anchor="t">
            <a:spAutoFit/>
          </a:bodyPr>
          <a:lstStyle/>
          <a:p>
            <a:pPr algn="l">
              <a:spcBef>
                <a:spcPts val="0"/>
              </a:spcBef>
              <a:spcAft>
                <a:spcPts val="200"/>
              </a:spcAft>
            </a:pPr>
            <a:r>
              <a:rPr sz="850" b="1" i="0">
                <a:solidFill>
                  <a:srgbClr val="19BDE6"/>
                </a:solidFill>
                <a:latin typeface="Century Gothic"/>
              </a:rPr>
              <a:t>PALABRAS CLAVE</a:t>
            </a:r>
          </a:p>
          <a:p>
            <a:pPr algn="l">
              <a:lnSpc>
                <a:spcPct val="110000"/>
              </a:lnSpc>
              <a:spcBef>
                <a:spcPts val="0"/>
              </a:spcBef>
              <a:spcAft>
                <a:spcPts val="0"/>
              </a:spcAft>
            </a:pPr>
            <a:r>
              <a:rPr sz="900" b="0" i="1">
                <a:solidFill>
                  <a:srgbClr val="39464F"/>
                </a:solidFill>
                <a:latin typeface="Century Gothic"/>
              </a:rPr>
              <a:t>Fill rate · proyección de demanda · machine learning · CRISP-DM · Streamlit · pipeline de datos · postventa automotriz</a:t>
            </a:r>
          </a:p>
        </p:txBody>
      </p:sp>
      <p:sp>
        <p:nvSpPr>
          <p:cNvPr id="10" name="Snip Single Corner Rectangle 9"/>
          <p:cNvSpPr/>
          <p:nvPr/>
        </p:nvSpPr>
        <p:spPr>
          <a:xfrm>
            <a:off x="6181344" y="4956048"/>
            <a:ext cx="5294376" cy="822960"/>
          </a:xfrm>
          <a:prstGeom prst="snip1Rect">
            <a:avLst>
              <a:gd name="adj" fmla="val 9000"/>
            </a:avLst>
          </a:prstGeom>
          <a:solidFill>
            <a:srgbClr val="FFFFFF"/>
          </a:solidFill>
          <a:ln w="12700">
            <a:solidFill>
              <a:srgbClr val="E8EDF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11" name="TextBox 10"/>
          <p:cNvSpPr txBox="1"/>
          <p:nvPr/>
        </p:nvSpPr>
        <p:spPr>
          <a:xfrm>
            <a:off x="6510528" y="5120640"/>
            <a:ext cx="4599432" cy="566928"/>
          </a:xfrm>
          <a:prstGeom prst="rect">
            <a:avLst/>
          </a:prstGeom>
          <a:noFill/>
        </p:spPr>
        <p:txBody>
          <a:bodyPr wrap="square" lIns="0" tIns="0" rIns="0" bIns="0" anchor="t">
            <a:spAutoFit/>
          </a:bodyPr>
          <a:lstStyle/>
          <a:p>
            <a:pPr algn="l">
              <a:spcBef>
                <a:spcPts val="0"/>
              </a:spcBef>
              <a:spcAft>
                <a:spcPts val="200"/>
              </a:spcAft>
            </a:pPr>
            <a:r>
              <a:rPr sz="850" b="1" i="0">
                <a:solidFill>
                  <a:srgbClr val="19BDE6"/>
                </a:solidFill>
                <a:latin typeface="Century Gothic"/>
              </a:rPr>
              <a:t>KEYWORDS</a:t>
            </a:r>
          </a:p>
          <a:p>
            <a:pPr algn="l">
              <a:lnSpc>
                <a:spcPct val="110000"/>
              </a:lnSpc>
              <a:spcBef>
                <a:spcPts val="0"/>
              </a:spcBef>
              <a:spcAft>
                <a:spcPts val="0"/>
              </a:spcAft>
            </a:pPr>
            <a:r>
              <a:rPr sz="900" b="0" i="1">
                <a:solidFill>
                  <a:srgbClr val="39464F"/>
                </a:solidFill>
                <a:latin typeface="Century Gothic"/>
              </a:rPr>
              <a:t>Fill rate · demand forecasting · machine learning · CRISP-DM · Streamlit · data pipeline · automotive aftersales</a:t>
            </a:r>
          </a:p>
        </p:txBody>
      </p:sp>
      <p:sp>
        <p:nvSpPr>
          <p:cNvPr id="12" name="TextBox 11"/>
          <p:cNvSpPr txBox="1"/>
          <p:nvPr/>
        </p:nvSpPr>
        <p:spPr>
          <a:xfrm>
            <a:off x="10378440" y="246888"/>
            <a:ext cx="1097280" cy="164592"/>
          </a:xfrm>
          <a:prstGeom prst="rect">
            <a:avLst/>
          </a:prstGeom>
          <a:noFill/>
        </p:spPr>
        <p:txBody>
          <a:bodyPr wrap="square" lIns="0" tIns="0" rIns="0" bIns="0" anchor="t">
            <a:spAutoFit/>
          </a:bodyPr>
          <a:lstStyle/>
          <a:p>
            <a:pPr algn="r">
              <a:spcBef>
                <a:spcPts val="0"/>
              </a:spcBef>
              <a:spcAft>
                <a:spcPts val="0"/>
              </a:spcAft>
            </a:pPr>
            <a:r>
              <a:rPr sz="800" b="0" i="0">
                <a:solidFill>
                  <a:srgbClr val="39464F"/>
                </a:solidFill>
                <a:latin typeface="Century Gothic"/>
              </a:rPr>
              <a:t>32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2376" y="1554480"/>
            <a:ext cx="7863840" cy="292608"/>
          </a:xfrm>
          <a:prstGeom prst="rect">
            <a:avLst/>
          </a:prstGeom>
          <a:noFill/>
        </p:spPr>
        <p:txBody>
          <a:bodyPr wrap="square" lIns="0" tIns="0" rIns="0" bIns="0" anchor="t">
            <a:spAutoFit/>
          </a:bodyPr>
          <a:lstStyle/>
          <a:p>
            <a:pPr algn="l">
              <a:spcBef>
                <a:spcPts val="0"/>
              </a:spcBef>
              <a:spcAft>
                <a:spcPts val="0"/>
              </a:spcAft>
            </a:pPr>
            <a:r>
              <a:rPr sz="1100" b="1" i="0">
                <a:solidFill>
                  <a:srgbClr val="19BDE6"/>
                </a:solidFill>
                <a:latin typeface="Century Gothic"/>
              </a:rPr>
              <a:t>CAPSTONE 2026-2 · FASE 1</a:t>
            </a:r>
          </a:p>
        </p:txBody>
      </p:sp>
      <p:sp>
        <p:nvSpPr>
          <p:cNvPr id="3" name="TextBox 2"/>
          <p:cNvSpPr txBox="1"/>
          <p:nvPr/>
        </p:nvSpPr>
        <p:spPr>
          <a:xfrm>
            <a:off x="722376" y="1965960"/>
            <a:ext cx="8412480" cy="2377440"/>
          </a:xfrm>
          <a:prstGeom prst="rect">
            <a:avLst/>
          </a:prstGeom>
          <a:noFill/>
        </p:spPr>
        <p:txBody>
          <a:bodyPr wrap="square" lIns="0" tIns="0" rIns="0" bIns="0" anchor="t">
            <a:spAutoFit/>
          </a:bodyPr>
          <a:lstStyle/>
          <a:p>
            <a:pPr algn="l">
              <a:lnSpc>
                <a:spcPct val="102000"/>
              </a:lnSpc>
              <a:spcBef>
                <a:spcPts val="0"/>
              </a:spcBef>
              <a:spcAft>
                <a:spcPts val="0"/>
              </a:spcAft>
            </a:pPr>
            <a:r>
              <a:rPr sz="3100" b="1" i="0">
                <a:solidFill>
                  <a:srgbClr val="19BDE6"/>
                </a:solidFill>
                <a:latin typeface="Century Gothic"/>
              </a:rPr>
              <a:t>GRACIAS</a:t>
            </a:r>
          </a:p>
        </p:txBody>
      </p:sp>
      <p:sp>
        <p:nvSpPr>
          <p:cNvPr id="4" name="TextBox 3"/>
          <p:cNvSpPr txBox="1"/>
          <p:nvPr/>
        </p:nvSpPr>
        <p:spPr>
          <a:xfrm>
            <a:off x="722376" y="4526280"/>
            <a:ext cx="7498079" cy="207301"/>
          </a:xfrm>
          <a:prstGeom prst="rect">
            <a:avLst/>
          </a:prstGeom>
          <a:noFill/>
        </p:spPr>
        <p:txBody>
          <a:bodyPr wrap="square" lIns="0" tIns="0" rIns="0" bIns="0" anchor="t">
            <a:spAutoFit/>
          </a:bodyPr>
          <a:lstStyle/>
          <a:p>
            <a:pPr algn="l">
              <a:lnSpc>
                <a:spcPct val="125000"/>
              </a:lnSpc>
              <a:spcBef>
                <a:spcPts val="0"/>
              </a:spcBef>
              <a:spcAft>
                <a:spcPts val="0"/>
              </a:spcAft>
            </a:pPr>
            <a:r>
              <a:rPr sz="1200" b="0" i="0" dirty="0" err="1">
                <a:solidFill>
                  <a:srgbClr val="FFFFFF"/>
                </a:solidFill>
                <a:latin typeface="Century Gothic"/>
              </a:rPr>
              <a:t>Quedamos</a:t>
            </a:r>
            <a:r>
              <a:rPr sz="1200" b="0" i="0" dirty="0">
                <a:solidFill>
                  <a:srgbClr val="FFFFFF"/>
                </a:solidFill>
                <a:latin typeface="Century Gothic"/>
              </a:rPr>
              <a:t> </a:t>
            </a:r>
            <a:r>
              <a:rPr sz="1200" b="0" i="0" dirty="0" err="1">
                <a:solidFill>
                  <a:srgbClr val="FFFFFF"/>
                </a:solidFill>
                <a:latin typeface="Century Gothic"/>
              </a:rPr>
              <a:t>atentos</a:t>
            </a:r>
            <a:r>
              <a:rPr sz="1200" b="0" i="0" dirty="0">
                <a:solidFill>
                  <a:srgbClr val="FFFFFF"/>
                </a:solidFill>
                <a:latin typeface="Century Gothic"/>
              </a:rPr>
              <a:t> a las </a:t>
            </a:r>
            <a:r>
              <a:rPr sz="1200" b="0" i="0" dirty="0" err="1">
                <a:solidFill>
                  <a:srgbClr val="FFFFFF"/>
                </a:solidFill>
                <a:latin typeface="Century Gothic"/>
              </a:rPr>
              <a:t>consultas</a:t>
            </a:r>
            <a:r>
              <a:rPr lang="es-CL" sz="1200" b="0" i="0" dirty="0">
                <a:solidFill>
                  <a:srgbClr val="FFFFFF"/>
                </a:solidFill>
                <a:latin typeface="Century Gothic"/>
              </a:rPr>
              <a:t>.</a:t>
            </a:r>
            <a:endParaRPr sz="1200" b="0" i="0" dirty="0">
              <a:solidFill>
                <a:srgbClr val="FFFFFF"/>
              </a:solidFill>
              <a:latin typeface="Century Gothic"/>
            </a:endParaRPr>
          </a:p>
        </p:txBody>
      </p:sp>
      <p:sp>
        <p:nvSpPr>
          <p:cNvPr id="9" name="TextBox 4">
            <a:extLst>
              <a:ext uri="{FF2B5EF4-FFF2-40B4-BE49-F238E27FC236}">
                <a16:creationId xmlns:a16="http://schemas.microsoft.com/office/drawing/2014/main" id="{04221DF1-885B-1975-7095-687D091E4B32}"/>
              </a:ext>
            </a:extLst>
          </p:cNvPr>
          <p:cNvSpPr txBox="1"/>
          <p:nvPr/>
        </p:nvSpPr>
        <p:spPr>
          <a:xfrm>
            <a:off x="722376" y="5486400"/>
            <a:ext cx="4160520" cy="664284"/>
          </a:xfrm>
          <a:prstGeom prst="rect">
            <a:avLst/>
          </a:prstGeom>
          <a:noFill/>
        </p:spPr>
        <p:txBody>
          <a:bodyPr wrap="square" lIns="0" tIns="0" rIns="0" bIns="0" anchor="t">
            <a:spAutoFit/>
          </a:bodyPr>
          <a:lstStyle/>
          <a:p>
            <a:pPr algn="l">
              <a:spcBef>
                <a:spcPts val="0"/>
              </a:spcBef>
              <a:spcAft>
                <a:spcPts val="300"/>
              </a:spcAft>
            </a:pPr>
            <a:r>
              <a:rPr sz="900" b="1" i="0" dirty="0">
                <a:solidFill>
                  <a:srgbClr val="19BDE6"/>
                </a:solidFill>
                <a:latin typeface="Century Gothic"/>
              </a:rPr>
              <a:t>CONTACTO</a:t>
            </a:r>
          </a:p>
          <a:p>
            <a:pPr>
              <a:spcAft>
                <a:spcPts val="200"/>
              </a:spcAft>
            </a:pPr>
            <a:r>
              <a:rPr lang="pt-BR" sz="1100" dirty="0">
                <a:solidFill>
                  <a:srgbClr val="FFFFFF"/>
                </a:solidFill>
              </a:rPr>
              <a:t>Angelo Henriquez ·  Tania Aburto · Jorge Cavieres</a:t>
            </a:r>
          </a:p>
          <a:p>
            <a:pPr algn="l">
              <a:spcBef>
                <a:spcPts val="0"/>
              </a:spcBef>
              <a:spcAft>
                <a:spcPts val="0"/>
              </a:spcAft>
            </a:pPr>
            <a:r>
              <a:rPr sz="950" b="0" i="0" dirty="0">
                <a:solidFill>
                  <a:srgbClr val="9FB3C8"/>
                </a:solidFill>
                <a:latin typeface="Century Gothic"/>
              </a:rPr>
              <a:t>Ingeniería </a:t>
            </a:r>
            <a:r>
              <a:rPr sz="950" b="0" i="0" dirty="0" err="1">
                <a:solidFill>
                  <a:srgbClr val="9FB3C8"/>
                </a:solidFill>
                <a:latin typeface="Century Gothic"/>
              </a:rPr>
              <a:t>en</a:t>
            </a:r>
            <a:r>
              <a:rPr sz="950" b="0" i="0" dirty="0">
                <a:solidFill>
                  <a:srgbClr val="9FB3C8"/>
                </a:solidFill>
                <a:latin typeface="Century Gothic"/>
              </a:rPr>
              <a:t> </a:t>
            </a:r>
            <a:r>
              <a:rPr sz="950" b="0" i="0" dirty="0" err="1">
                <a:solidFill>
                  <a:srgbClr val="9FB3C8"/>
                </a:solidFill>
                <a:latin typeface="Century Gothic"/>
              </a:rPr>
              <a:t>Informática</a:t>
            </a:r>
            <a:r>
              <a:rPr sz="950" b="0" i="0" dirty="0">
                <a:solidFill>
                  <a:srgbClr val="9FB3C8"/>
                </a:solidFill>
                <a:latin typeface="Century Gothic"/>
              </a:rPr>
              <a:t> · Duoc UC · </a:t>
            </a:r>
            <a:r>
              <a:rPr sz="950" b="0" i="0" dirty="0" err="1">
                <a:solidFill>
                  <a:srgbClr val="9FB3C8"/>
                </a:solidFill>
                <a:latin typeface="Century Gothic"/>
              </a:rPr>
              <a:t>Contraparte</a:t>
            </a:r>
            <a:r>
              <a:rPr sz="950" b="0" i="0" dirty="0">
                <a:solidFill>
                  <a:srgbClr val="9FB3C8"/>
                </a:solidFill>
                <a:latin typeface="Century Gothic"/>
              </a:rPr>
              <a:t>: </a:t>
            </a:r>
            <a:r>
              <a:rPr sz="950" b="0" i="0" dirty="0" err="1">
                <a:solidFill>
                  <a:srgbClr val="9FB3C8"/>
                </a:solidFill>
                <a:latin typeface="Century Gothic"/>
              </a:rPr>
              <a:t>Planificación</a:t>
            </a:r>
            <a:r>
              <a:rPr sz="950" b="0" i="0" dirty="0">
                <a:solidFill>
                  <a:srgbClr val="9FB3C8"/>
                </a:solidFill>
                <a:latin typeface="Century Gothic"/>
              </a:rPr>
              <a:t> y </a:t>
            </a:r>
            <a:r>
              <a:rPr sz="950" b="0" i="0" dirty="0" err="1">
                <a:solidFill>
                  <a:srgbClr val="9FB3C8"/>
                </a:solidFill>
                <a:latin typeface="Century Gothic"/>
              </a:rPr>
              <a:t>Compras</a:t>
            </a:r>
            <a:r>
              <a:rPr sz="950" b="0" i="0" dirty="0">
                <a:solidFill>
                  <a:srgbClr val="9FB3C8"/>
                </a:solidFill>
                <a:latin typeface="Century Gothic"/>
              </a:rPr>
              <a:t> Chile, Inchcape</a:t>
            </a:r>
          </a:p>
        </p:txBody>
      </p:sp>
    </p:spTree>
  </p:cSld>
  <p:clrMapOvr>
    <a:masterClrMapping/>
  </p:clrMapOvr>
</p:sld>
</file>

<file path=ppt/theme/theme1.xml><?xml version="1.0" encoding="utf-8"?>
<a:theme xmlns:a="http://schemas.openxmlformats.org/drawingml/2006/main" name="Office Theme">
  <a:themeElements>
    <a:clrScheme name="Custom 15">
      <a:dk1>
        <a:srgbClr val="152C47"/>
      </a:dk1>
      <a:lt1>
        <a:srgbClr val="FFFFFF"/>
      </a:lt1>
      <a:dk2>
        <a:srgbClr val="39464F"/>
      </a:dk2>
      <a:lt2>
        <a:srgbClr val="F2E61A"/>
      </a:lt2>
      <a:accent1>
        <a:srgbClr val="001A41"/>
      </a:accent1>
      <a:accent2>
        <a:srgbClr val="19BDE6"/>
      </a:accent2>
      <a:accent3>
        <a:srgbClr val="858A8C"/>
      </a:accent3>
      <a:accent4>
        <a:srgbClr val="F1E519"/>
      </a:accent4>
      <a:accent5>
        <a:srgbClr val="A461AB"/>
      </a:accent5>
      <a:accent6>
        <a:srgbClr val="BACF00"/>
      </a:accent6>
      <a:hlink>
        <a:srgbClr val="19BDE6"/>
      </a:hlink>
      <a:folHlink>
        <a:srgbClr val="39454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9508" cap="flat">
          <a:noFill/>
          <a:prstDash val="solid"/>
          <a:miter/>
        </a:ln>
      </a:spPr>
      <a:bodyPr wrap="square" lIns="180000" tIns="144000" rIns="180000" bIns="144000" rtlCol="0" anchor="t">
        <a:noAutofit/>
      </a:bodyPr>
      <a:lstStyle>
        <a:defPPr algn="l">
          <a:spcAft>
            <a:spcPts val="1000"/>
          </a:spcAft>
          <a:defRPr sz="1600" dirty="0" err="1" smtClean="0"/>
        </a:defPPr>
      </a:lstStyle>
    </a:spDef>
    <a:lnDef>
      <a:spPr>
        <a:ln w="25400">
          <a:headEnd type="none" w="sm" len="sm"/>
          <a:tailEnd type="oval" w="sm" len="sm"/>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44000" rIns="180000" bIns="144000" rtlCol="0">
        <a:spAutoFit/>
      </a:bodyPr>
      <a:lstStyle>
        <a:defPPr algn="l">
          <a:spcAft>
            <a:spcPts val="10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e4db753-7f84-4790-8765-8cb3f2835c63">
      <UserInfo>
        <DisplayName>Krishma Arora   IPLC</DisplayName>
        <AccountId>52</AccountId>
        <AccountType/>
      </UserInfo>
      <UserInfo>
        <DisplayName>Rob Gurner   IPLC</DisplayName>
        <AccountId>535</AccountId>
        <AccountType/>
      </UserInfo>
      <UserInfo>
        <DisplayName>Sarah Charlesworth   IPLC</DisplayName>
        <AccountId>268</AccountId>
        <AccountType/>
      </UserInfo>
      <UserInfo>
        <DisplayName>Louise Manzano   IPLC</DisplayName>
        <AccountId>42</AccountId>
        <AccountType/>
      </UserInfo>
      <UserInfo>
        <DisplayName>Helen Cunningham   IPLC</DisplayName>
        <AccountId>65</AccountId>
        <AccountType/>
      </UserInfo>
      <UserInfo>
        <DisplayName>Mark McCarthy   IPLC</DisplayName>
        <AccountId>13</AccountId>
        <AccountType/>
      </UserInfo>
    </SharedWithUsers>
    <lcf76f155ced4ddcb4097134ff3c332f xmlns="fe07e1ed-d10d-459f-b65d-5112d0e4faaf">
      <Terms xmlns="http://schemas.microsoft.com/office/infopath/2007/PartnerControls"/>
    </lcf76f155ced4ddcb4097134ff3c332f>
    <TaxCatchAll xmlns="1e4db753-7f84-4790-8765-8cb3f2835c6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72816DF0B718D4293B68D9F2783A8A6" ma:contentTypeVersion="15" ma:contentTypeDescription="Create a new document." ma:contentTypeScope="" ma:versionID="35ca629cd1a7b2e3cabf0bafbeb21046">
  <xsd:schema xmlns:xsd="http://www.w3.org/2001/XMLSchema" xmlns:xs="http://www.w3.org/2001/XMLSchema" xmlns:p="http://schemas.microsoft.com/office/2006/metadata/properties" xmlns:ns2="fe07e1ed-d10d-459f-b65d-5112d0e4faaf" xmlns:ns3="1e4db753-7f84-4790-8765-8cb3f2835c63" targetNamespace="http://schemas.microsoft.com/office/2006/metadata/properties" ma:root="true" ma:fieldsID="02c03ffaef91467100827a9a8844bcce" ns2:_="" ns3:_="">
    <xsd:import namespace="fe07e1ed-d10d-459f-b65d-5112d0e4faaf"/>
    <xsd:import namespace="1e4db753-7f84-4790-8765-8cb3f2835c6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07e1ed-d10d-459f-b65d-5112d0e4fa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c590332b-fabd-4d8b-ad3c-646d4e96e34f"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e4db753-7f84-4790-8765-8cb3f2835c6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078e5a0-0625-449c-87a6-b303b39ed112}" ma:internalName="TaxCatchAll" ma:showField="CatchAllData" ma:web="1e4db753-7f84-4790-8765-8cb3f2835c6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BDAAEF-1C66-4A0F-A652-4F61C0A44912}">
  <ds:schemaRefs>
    <ds:schemaRef ds:uri="http://purl.org/dc/terms/"/>
    <ds:schemaRef ds:uri="54b48a61-31cd-4ce8-87b4-db0422da95ad"/>
    <ds:schemaRef ds:uri="http://schemas.microsoft.com/office/2006/documentManagement/types"/>
    <ds:schemaRef ds:uri="http://purl.org/dc/elements/1.1/"/>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 ds:uri="b161d10c-7322-4a11-841e-aff89d7374a6"/>
    <ds:schemaRef ds:uri="1e4db753-7f84-4790-8765-8cb3f2835c63"/>
    <ds:schemaRef ds:uri="fe07e1ed-d10d-459f-b65d-5112d0e4faaf"/>
  </ds:schemaRefs>
</ds:datastoreItem>
</file>

<file path=customXml/itemProps2.xml><?xml version="1.0" encoding="utf-8"?>
<ds:datastoreItem xmlns:ds="http://schemas.openxmlformats.org/officeDocument/2006/customXml" ds:itemID="{4439B1BB-EF98-4CAB-BE72-A6C21D8A62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07e1ed-d10d-459f-b65d-5112d0e4faaf"/>
    <ds:schemaRef ds:uri="1e4db753-7f84-4790-8765-8cb3f2835c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EC6D78-50C1-4508-90C1-EE0AEE0752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27748</TotalTime>
  <Words>5432</Words>
  <Application>Microsoft Office PowerPoint</Application>
  <PresentationFormat>Panorámica</PresentationFormat>
  <Paragraphs>713</Paragraphs>
  <Slides>31</Slides>
  <Notes>27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31</vt:i4>
      </vt:variant>
    </vt:vector>
  </HeadingPairs>
  <TitlesOfParts>
    <vt:vector size="35" baseType="lpstr">
      <vt:lpstr>Arial</vt:lpstr>
      <vt:lpstr>Century Gothic</vt:lpstr>
      <vt:lpstr>Wingdings</vt:lpstr>
      <vt:lpstr>Office Theme</vt:lpstr>
      <vt:lpstr>Presentación de PowerPoint</vt:lpstr>
      <vt:lpstr>Contenido</vt:lpstr>
      <vt:lpstr>Presentación de PowerPoint</vt:lpstr>
      <vt:lpstr>Postventa OEM Mainstream</vt:lpstr>
      <vt:lpstr>La brecha de fill rate</vt:lpstr>
      <vt:lpstr>Medición del fill rate</vt:lpstr>
      <vt:lpstr>Medición del error de proyección</vt:lpstr>
      <vt:lpstr>Del problema a la solución</vt:lpstr>
      <vt:lpstr>Objetivos del negocio</vt:lpstr>
      <vt:lpstr>Presentación de PowerPoint</vt:lpstr>
      <vt:lpstr>Cliente y usuarios</vt:lpstr>
      <vt:lpstr>Descripción del Proyecto APT</vt:lpstr>
      <vt:lpstr>Objetivos del Proyecto APT</vt:lpstr>
      <vt:lpstr>Presentación de PowerPoint</vt:lpstr>
      <vt:lpstr>Insumos de datos</vt:lpstr>
      <vt:lpstr>Arquitectura de la solución</vt:lpstr>
      <vt:lpstr>Pipeline de carga de datos</vt:lpstr>
      <vt:lpstr>Metodología: CRISP-DM</vt:lpstr>
      <vt:lpstr>Ciclo de vida del modelo en producción</vt:lpstr>
      <vt:lpstr>Variables del modelo</vt:lpstr>
      <vt:lpstr>Aplicación en Streamlit</vt:lpstr>
      <vt:lpstr>Vista principal de la aplicación</vt:lpstr>
      <vt:lpstr>Uso mensual del negocio</vt:lpstr>
      <vt:lpstr>Presentación de PowerPoint</vt:lpstr>
      <vt:lpstr>Confidencialidad de los datos</vt:lpstr>
      <vt:lpstr>Plan de trabajo</vt:lpstr>
      <vt:lpstr>Carta Gantt</vt:lpstr>
      <vt:lpstr>Evidencias comprometidas</vt:lpstr>
      <vt:lpstr>Factibilidad y riesgos</vt:lpstr>
      <vt:lpstr>Abstract · 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Sophie Field</dc:creator>
  <cp:lastModifiedBy>ANGELO ALEXANDER HENRIQUEZ PONCE</cp:lastModifiedBy>
  <cp:revision>1128</cp:revision>
  <dcterms:created xsi:type="dcterms:W3CDTF">2021-04-28T08:25:13Z</dcterms:created>
  <dcterms:modified xsi:type="dcterms:W3CDTF">2026-08-28T21:17:27Z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d127fec-be1e-40ee-b325-1150ed8ebb89_Enabled">
    <vt:lpwstr>true</vt:lpwstr>
  </property>
  <property fmtid="{D5CDD505-2E9C-101B-9397-08002B2CF9AE}" pid="3" name="MSIP_Label_2d127fec-be1e-40ee-b325-1150ed8ebb89_SetDate">
    <vt:lpwstr>2023-11-17T09:09:29Z</vt:lpwstr>
  </property>
  <property fmtid="{D5CDD505-2E9C-101B-9397-08002B2CF9AE}" pid="4" name="MSIP_Label_2d127fec-be1e-40ee-b325-1150ed8ebb89_Method">
    <vt:lpwstr>Standard</vt:lpwstr>
  </property>
  <property fmtid="{D5CDD505-2E9C-101B-9397-08002B2CF9AE}" pid="5" name="MSIP_Label_2d127fec-be1e-40ee-b325-1150ed8ebb89_Name">
    <vt:lpwstr>POC Internal</vt:lpwstr>
  </property>
  <property fmtid="{D5CDD505-2E9C-101B-9397-08002B2CF9AE}" pid="6" name="MSIP_Label_2d127fec-be1e-40ee-b325-1150ed8ebb89_SiteId">
    <vt:lpwstr>038d1eb6-c4ba-4396-9150-1ad91c9469c6</vt:lpwstr>
  </property>
  <property fmtid="{D5CDD505-2E9C-101B-9397-08002B2CF9AE}" pid="7" name="MSIP_Label_2d127fec-be1e-40ee-b325-1150ed8ebb89_ActionId">
    <vt:lpwstr>04b03933-06dd-43e5-9db8-43b93640acd9</vt:lpwstr>
  </property>
  <property fmtid="{D5CDD505-2E9C-101B-9397-08002B2CF9AE}" pid="8" name="MSIP_Label_2d127fec-be1e-40ee-b325-1150ed8ebb89_ContentBits">
    <vt:lpwstr>0</vt:lpwstr>
  </property>
  <property fmtid="{D5CDD505-2E9C-101B-9397-08002B2CF9AE}" pid="9" name="ContentTypeId">
    <vt:lpwstr>0x0101005705459063B80F4EA552D418A0556FA3</vt:lpwstr>
  </property>
  <property fmtid="{D5CDD505-2E9C-101B-9397-08002B2CF9AE}" pid="10" name="MediaServiceImageTags">
    <vt:lpwstr/>
  </property>
</Properties>
</file>